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ommentAuthors.xml" ContentType="application/vnd.openxmlformats-officedocument.presentationml.commentAuthors+xml"/>
  <Override PartName="/ppt/comments/comment2.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ppt/comments/comment12.xml" ContentType="application/vnd.openxmlformats-officedocument.presentationml.comments+xml"/>
  <Override PartName="/ppt/comments/comment13.xml" ContentType="application/vnd.openxmlformats-officedocument.presentationml.comments+xml"/>
  <Override PartName="/ppt/comments/comment14.xml" ContentType="application/vnd.openxmlformats-officedocument.presentationml.comments+xml"/>
  <Override PartName="/ppt/comments/comment15.xml" ContentType="application/vnd.openxmlformats-officedocument.presentationml.comments+xml"/>
  <Override PartName="/ppt/comments/comment16.xml" ContentType="application/vnd.openxmlformats-officedocument.presentationml.comments+xml"/>
  <Override PartName="/ppt/comments/comment17.xml" ContentType="application/vnd.openxmlformats-officedocument.presentationml.comments+xml"/>
  <Override PartName="/ppt/comments/comment18.xml" ContentType="application/vnd.openxmlformats-officedocument.presentationml.comment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p="http://schemas.openxmlformats.org/presentationml/2006/main">
  <p:cmAuthor id="0" name="Nhóm thuyết trình" initials="GT" lastIdx="16" clrIdx="0"/>
</p:cmAuthorLst>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CmtAuth" Type="http://schemas.openxmlformats.org/officeDocument/2006/relationships/commentAuthors" Target="commentAuthor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34155"/>
                </a:solidFill>
                <a:latin typeface="Calibri"/>
              </a:defRPr>
            </a:pPr>
            <a:r>
              <a:rPr sz="1100" b="0" i="0" u="none" strike="noStrike">
                <a:solidFill>
                  <a:srgbClr val="334155"/>
                </a:solidFill>
                <a:latin typeface="Calibri"/>
              </a:rPr>
              <a:t>Đổi ngưỡng chỉ chuyển gánh nặng giữa vá thừa và bỏ sót</a:t>
            </a:r>
          </a:p>
        </c:rich>
      </c:tx>
      <c:layout/>
      <c:overlay val="0"/>
    </c:title>
    <c:autoTitleDeleted val="0"/>
    <c:plotArea>
      <c:layout/>
      <c:barChart>
        <c:barDir val="col"/>
        <c:grouping val="clustered"/>
        <c:varyColors val="0"/>
        <c:ser>
          <c:idx val="0"/>
          <c:order val="0"/>
          <c:tx>
            <c:strRef>
              <c:f>Sheet1!$B$1</c:f>
              <c:strCache>
                <c:ptCount val="1"/>
                <c:pt idx="0">
                  <c:v>Phải vá (% số lỗ hổng)</c:v>
                </c:pt>
              </c:strCache>
            </c:strRef>
          </c:tx>
          <c:spPr>
            <a:solidFill>
              <a:srgbClr val="94A3B8"/>
            </a:solidFill>
            <a:effectLst/>
          </c:spPr>
          <c:invertIfNegative val="0"/>
          <c:dLbls>
            <c:numFmt formatCode="0.00"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CVSS từ 7,0</c:v>
                  </c:pt>
                  <c:pt idx="1">
                    <c:v>CVSS từ 8,0 (CSA)</c:v>
                  </c:pt>
                  <c:pt idx="2">
                    <c:v>CVSS từ 9,0</c:v>
                  </c:pt>
                </c:lvl>
              </c:multiLvlStrCache>
            </c:multiLvlStrRef>
          </c:cat>
          <c:val>
            <c:numRef>
              <c:f>Sheet1!$B$2:$B$4</c:f>
              <c:numCache>
                <c:formatCode>General</c:formatCode>
                <c:ptCount val="3"/>
                <c:pt idx="0">
                  <c:v>54.33</c:v>
                </c:pt>
                <c:pt idx="1">
                  <c:v>27.75</c:v>
                </c:pt>
                <c:pt idx="2">
                  <c:v>14.43</c:v>
                </c:pt>
              </c:numCache>
            </c:numRef>
          </c:val>
        </c:ser>
        <c:ser>
          <c:idx val="1"/>
          <c:order val="1"/>
          <c:tx>
            <c:strRef>
              <c:f>Sheet1!$C$1</c:f>
              <c:strCache>
                <c:ptCount val="1"/>
                <c:pt idx="0">
                  <c:v>Bỏ sót (% lỗ hổng KEV)</c:v>
                </c:pt>
              </c:strCache>
            </c:strRef>
          </c:tx>
          <c:spPr>
            <a:solidFill>
              <a:srgbClr val="C02034"/>
            </a:solidFill>
            <a:effectLst/>
          </c:spPr>
          <c:invertIfNegative val="0"/>
          <c:dLbls>
            <c:numFmt formatCode="0.00"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CVSS từ 7,0</c:v>
                  </c:pt>
                  <c:pt idx="1">
                    <c:v>CVSS từ 8,0 (CSA)</c:v>
                  </c:pt>
                  <c:pt idx="2">
                    <c:v>CVSS từ 9,0</c:v>
                  </c:pt>
                </c:lvl>
              </c:multiLvlStrCache>
            </c:multiLvlStrRef>
          </c:cat>
          <c:val>
            <c:numRef>
              <c:f>Sheet1!$C$2:$C$4</c:f>
              <c:numCache>
                <c:formatCode>General</c:formatCode>
                <c:ptCount val="3"/>
                <c:pt idx="0">
                  <c:v>11.4</c:v>
                </c:pt>
                <c:pt idx="1">
                  <c:v>44.14</c:v>
                </c:pt>
                <c:pt idx="2">
                  <c:v>65.99</c:v>
                </c:pt>
              </c:numCache>
            </c:numRef>
          </c:val>
        </c:ser>
        <c:dLbls>
          <c:numFmt formatCode="0.00"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80"/>
        </c:scaling>
        <c:delete val="0"/>
        <c:axPos val="l"/>
        <c:majorGridlines>
          <c:spPr>
            <a:ln w="6350"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34155"/>
                </a:solidFill>
                <a:latin typeface="Calibri"/>
              </a:defRPr>
            </a:pPr>
            <a:r>
              <a:rPr sz="1100" b="0" i="0" u="none" strike="noStrike">
                <a:solidFill>
                  <a:srgbClr val="334155"/>
                </a:solidFill>
                <a:latin typeface="Calibri"/>
              </a:rPr>
              <a:t>Tỷ lệ vào KEV trong 12 tháng theo mức S, ngày 30/06/2025 (%)</a:t>
            </a:r>
          </a:p>
        </c:rich>
      </c:tx>
      <c:layout/>
      <c:overlay val="0"/>
    </c:title>
    <c:autoTitleDeleted val="0"/>
    <c:plotArea>
      <c:layout/>
      <c:barChart>
        <c:barDir val="col"/>
        <c:grouping val="clustered"/>
        <c:varyColors val="0"/>
        <c:ser>
          <c:idx val="0"/>
          <c:order val="0"/>
          <c:tx>
            <c:strRef>
              <c:f>Sheet1!$B$1</c:f>
              <c:strCache>
                <c:ptCount val="1"/>
                <c:pt idx="0">
                  <c:v>Tỷ lệ vào KEV trong 12 tháng (%)</c:v>
                </c:pt>
              </c:strCache>
            </c:strRef>
          </c:tx>
          <c:spPr>
            <a:solidFill>
              <a:srgbClr val="C02034"/>
            </a:solidFill>
            <a:effectLst/>
          </c:spPr>
          <c:invertIfNegative val="0"/>
          <c:dLbls>
            <c:numFmt formatCode="General"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0 đến 9</c:v>
                  </c:pt>
                  <c:pt idx="1">
                    <c:v>10 đến 29</c:v>
                  </c:pt>
                  <c:pt idx="2">
                    <c:v>30 đến 49</c:v>
                  </c:pt>
                  <c:pt idx="3">
                    <c:v>50 đến 69</c:v>
                  </c:pt>
                  <c:pt idx="4">
                    <c:v>70 đến 100</c:v>
                  </c:pt>
                </c:lvl>
              </c:multiLvlStrCache>
            </c:multiLvlStrRef>
          </c:cat>
          <c:val>
            <c:numRef>
              <c:f>Sheet1!$B$2:$B$6</c:f>
              <c:numCache>
                <c:formatCode>General</c:formatCode>
                <c:ptCount val="5"/>
                <c:pt idx="0">
                  <c:v>0.011</c:v>
                </c:pt>
                <c:pt idx="1">
                  <c:v>0.025</c:v>
                </c:pt>
                <c:pt idx="2">
                  <c:v>0.097</c:v>
                </c:pt>
                <c:pt idx="3">
                  <c:v>0.3</c:v>
                </c:pt>
                <c:pt idx="4">
                  <c:v>1.21</c:v>
                </c:pt>
              </c:numCache>
            </c:numRef>
          </c:val>
        </c:ser>
        <c:dLbls>
          <c:numFmt formatCode="General"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4748B"/>
                    </a:solidFill>
                    <a:latin typeface="Arial"/>
                  </a:defRPr>
                </a:pPr>
                <a:r>
                  <a:rPr sz="1000" b="0" i="0" u="none" strike="noStrike">
                    <a:solidFill>
                      <a:srgbClr val="64748B"/>
                    </a:solidFill>
                    <a:latin typeface="Arial"/>
                  </a:rPr>
                  <a:t>Mức điểm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34155"/>
                </a:solidFill>
                <a:latin typeface="Calibri"/>
              </a:defRPr>
            </a:pPr>
            <a:r>
              <a:rPr sz="1100" b="0" i="0" u="none" strike="noStrike">
                <a:solidFill>
                  <a:srgbClr val="334155"/>
                </a:solidFill>
                <a:latin typeface="Calibri"/>
              </a:rPr>
              <a:t>Hiệu suất so với chọn ngẫu nhiên (lần), 11 ngày cuối quý</a:t>
            </a:r>
          </a:p>
        </c:rich>
      </c:tx>
      <c:layout/>
      <c:overlay val="0"/>
    </c:title>
    <c:autoTitleDeleted val="0"/>
    <c:plotArea>
      <c:layout/>
      <c:lineChart>
        <c:varyColors val="0"/>
        <c:ser>
          <c:idx val="0"/>
          <c:order val="0"/>
          <c:tx>
            <c:strRef>
              <c:f>Sheet1!$B$1</c:f>
              <c:strCache>
                <c:ptCount val="1"/>
                <c:pt idx="0">
                  <c:v>S từ 70</c:v>
                </c:pt>
              </c:strCache>
            </c:strRef>
          </c:tx>
          <c:spPr>
            <a:solidFill>
              <a:srgbClr val="C02034"/>
            </a:solidFill>
            <a:ln w="31750" cap="flat">
              <a:solidFill>
                <a:srgbClr val="C02034"/>
              </a:solidFill>
              <a:prstDash val="solid"/>
              <a:round/>
            </a:ln>
            <a:effectLst/>
          </c:spPr>
          <c:invertIfNegative val="0"/>
          <c:dLbls>
            <c:numFmt formatCode="#,##0" sourceLinked="0"/>
            <c:txPr>
              <a:bodyPr/>
              <a:lstStyle/>
              <a:p>
                <a:pPr>
                  <a:defRPr b="0" i="0" strike="noStrike" sz="900" u="none">
                    <a:solidFill>
                      <a:srgbClr val="0F172A"/>
                    </a:solidFill>
                    <a:latin typeface="Calibri"/>
                  </a:defRPr>
                </a:pPr>
              </a:p>
            </c:txPr>
            <c:showLegendKey val="0"/>
            <c:showVal val="0"/>
            <c:showCatName val="0"/>
            <c:showSerName val="0"/>
            <c:showPercent val="0"/>
            <c:showBubbleSize val="0"/>
            <c:showLeaderLines val="0"/>
          </c:dLbls>
          <c:marker>
            <c:symbol val="circle"/>
            <c:size val="6"/>
            <c:spPr>
              <a:solidFill>
                <a:srgbClr val="C02034"/>
              </a:solidFill>
              <a:ln w="9525" cap="flat">
                <a:solidFill>
                  <a:srgbClr val="C02034"/>
                </a:solidFill>
                <a:prstDash val="solid"/>
                <a:round/>
              </a:ln>
              <a:effectLst/>
            </c:spPr>
          </c:marker>
          <c:cat>
            <c:multiLvlStrRef>
              <c:f>Sheet1!$A$2:$A$12</c:f>
              <c:multiLvlStrCache>
                <c:ptCount val="11"/>
                <c:lvl>
                  <c:pt idx="0">
                    <c:v>03/23</c:v>
                  </c:pt>
                  <c:pt idx="1">
                    <c:v>06/23</c:v>
                  </c:pt>
                  <c:pt idx="2">
                    <c:v>09/23</c:v>
                  </c:pt>
                  <c:pt idx="3">
                    <c:v>12/23</c:v>
                  </c:pt>
                  <c:pt idx="4">
                    <c:v>03/24</c:v>
                  </c:pt>
                  <c:pt idx="5">
                    <c:v>06/24</c:v>
                  </c:pt>
                  <c:pt idx="6">
                    <c:v>09/24</c:v>
                  </c:pt>
                  <c:pt idx="7">
                    <c:v>12/24</c:v>
                  </c:pt>
                  <c:pt idx="8">
                    <c:v>03/25</c:v>
                  </c:pt>
                  <c:pt idx="9">
                    <c:v>06/25</c:v>
                  </c:pt>
                  <c:pt idx="10">
                    <c:v>09/25</c:v>
                  </c:pt>
                </c:lvl>
              </c:multiLvlStrCache>
            </c:multiLvlStrRef>
          </c:cat>
          <c:val>
            <c:numRef>
              <c:f>Sheet1!$B$2:$B$12</c:f>
              <c:numCache>
                <c:formatCode>General</c:formatCode>
                <c:ptCount val="11"/>
                <c:pt idx="0">
                  <c:v>21.4</c:v>
                </c:pt>
                <c:pt idx="1">
                  <c:v>34.2</c:v>
                </c:pt>
                <c:pt idx="2">
                  <c:v>24.6</c:v>
                </c:pt>
                <c:pt idx="3">
                  <c:v>22.6</c:v>
                </c:pt>
                <c:pt idx="4">
                  <c:v>21.6</c:v>
                </c:pt>
                <c:pt idx="5">
                  <c:v>15.9</c:v>
                </c:pt>
                <c:pt idx="6">
                  <c:v>20.4</c:v>
                </c:pt>
                <c:pt idx="7">
                  <c:v>25.5</c:v>
                </c:pt>
                <c:pt idx="8">
                  <c:v>31.5</c:v>
                </c:pt>
                <c:pt idx="9">
                  <c:v>27.9</c:v>
                </c:pt>
                <c:pt idx="10">
                  <c:v>29.1</c:v>
                </c:pt>
              </c:numCache>
            </c:numRef>
          </c:val>
          <c:smooth val="0"/>
        </c:ser>
        <c:ser>
          <c:idx val="1"/>
          <c:order val="1"/>
          <c:tx>
            <c:strRef>
              <c:f>Sheet1!$C$1</c:f>
              <c:strCache>
                <c:ptCount val="1"/>
                <c:pt idx="0">
                  <c:v>Quy tắc CSA</c:v>
                </c:pt>
              </c:strCache>
            </c:strRef>
          </c:tx>
          <c:spPr>
            <a:solidFill>
              <a:srgbClr val="94A3B8"/>
            </a:solidFill>
            <a:ln w="31750" cap="flat">
              <a:solidFill>
                <a:srgbClr val="94A3B8"/>
              </a:solidFill>
              <a:prstDash val="solid"/>
              <a:round/>
            </a:ln>
            <a:effectLst/>
          </c:spPr>
          <c:invertIfNegative val="0"/>
          <c:dLbls>
            <c:numFmt formatCode="#,##0" sourceLinked="0"/>
            <c:txPr>
              <a:bodyPr/>
              <a:lstStyle/>
              <a:p>
                <a:pPr>
                  <a:defRPr b="0" i="0" strike="noStrike" sz="900" u="none">
                    <a:solidFill>
                      <a:srgbClr val="0F172A"/>
                    </a:solidFill>
                    <a:latin typeface="Calibri"/>
                  </a:defRPr>
                </a:pPr>
              </a:p>
            </c:txPr>
            <c:showLegendKey val="0"/>
            <c:showVal val="0"/>
            <c:showCatName val="0"/>
            <c:showSerName val="0"/>
            <c:showPercent val="0"/>
            <c:showBubbleSize val="0"/>
            <c:showLeaderLines val="0"/>
          </c:dLbls>
          <c:marker>
            <c:symbol val="circle"/>
            <c:size val="6"/>
            <c:spPr>
              <a:solidFill>
                <a:srgbClr val="94A3B8"/>
              </a:solidFill>
              <a:ln w="9525" cap="flat">
                <a:solidFill>
                  <a:srgbClr val="94A3B8"/>
                </a:solidFill>
                <a:prstDash val="solid"/>
                <a:round/>
              </a:ln>
              <a:effectLst/>
            </c:spPr>
          </c:marker>
          <c:cat>
            <c:multiLvlStrRef>
              <c:f>Sheet1!$A$2:$A$12</c:f>
              <c:multiLvlStrCache>
                <c:ptCount val="11"/>
                <c:lvl>
                  <c:pt idx="0">
                    <c:v>03/23</c:v>
                  </c:pt>
                  <c:pt idx="1">
                    <c:v>06/23</c:v>
                  </c:pt>
                  <c:pt idx="2">
                    <c:v>09/23</c:v>
                  </c:pt>
                  <c:pt idx="3">
                    <c:v>12/23</c:v>
                  </c:pt>
                  <c:pt idx="4">
                    <c:v>03/24</c:v>
                  </c:pt>
                  <c:pt idx="5">
                    <c:v>06/24</c:v>
                  </c:pt>
                  <c:pt idx="6">
                    <c:v>09/24</c:v>
                  </c:pt>
                  <c:pt idx="7">
                    <c:v>12/24</c:v>
                  </c:pt>
                  <c:pt idx="8">
                    <c:v>03/25</c:v>
                  </c:pt>
                  <c:pt idx="9">
                    <c:v>06/25</c:v>
                  </c:pt>
                  <c:pt idx="10">
                    <c:v>09/25</c:v>
                  </c:pt>
                </c:lvl>
              </c:multiLvlStrCache>
            </c:multiLvlStrRef>
          </c:cat>
          <c:val>
            <c:numRef>
              <c:f>Sheet1!$C$2:$C$12</c:f>
              <c:numCache>
                <c:formatCode>General</c:formatCode>
                <c:ptCount val="11"/>
                <c:pt idx="0">
                  <c:v>1.7</c:v>
                </c:pt>
                <c:pt idx="1">
                  <c:v>2</c:v>
                </c:pt>
                <c:pt idx="2">
                  <c:v>2</c:v>
                </c:pt>
                <c:pt idx="3">
                  <c:v>2.1</c:v>
                </c:pt>
                <c:pt idx="4">
                  <c:v>2</c:v>
                </c:pt>
                <c:pt idx="5">
                  <c:v>2.1</c:v>
                </c:pt>
                <c:pt idx="6">
                  <c:v>2</c:v>
                </c:pt>
                <c:pt idx="7">
                  <c:v>2.1</c:v>
                </c:pt>
                <c:pt idx="8">
                  <c:v>2.3</c:v>
                </c:pt>
                <c:pt idx="9">
                  <c:v>2.1</c:v>
                </c:pt>
                <c:pt idx="10">
                  <c:v>2.2</c:v>
                </c:pt>
              </c:numCache>
            </c:numRef>
          </c:val>
          <c:smooth val="0"/>
        </c:ser>
        <c:dLbls>
          <c:numFmt formatCode="#,##0" sourceLinked="0"/>
          <c:txPr>
            <a:bodyPr/>
            <a:lstStyle/>
            <a:p>
              <a:pPr>
                <a:defRPr b="0" i="0" strike="noStrike" sz="900" u="none">
                  <a:solidFill>
                    <a:srgbClr val="0F172A"/>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34155"/>
                </a:solidFill>
                <a:latin typeface="Calibri"/>
              </a:defRPr>
            </a:pPr>
            <a:r>
              <a:rPr sz="1100" b="0" i="0" u="none" strike="noStrike">
                <a:solidFill>
                  <a:srgbClr val="334155"/>
                </a:solidFill>
                <a:latin typeface="Calibri"/>
              </a:rPr>
              <a:t>Số lỗ hổng sắp bị khai thác bắt được (trên 91), ngày 30/06/2025</a:t>
            </a:r>
          </a:p>
        </c:rich>
      </c:tx>
      <c:layout/>
      <c:overlay val="0"/>
    </c:title>
    <c:autoTitleDeleted val="0"/>
    <c:plotArea>
      <c:layout/>
      <c:barChart>
        <c:barDir val="col"/>
        <c:grouping val="clustered"/>
        <c:varyColors val="0"/>
        <c:ser>
          <c:idx val="0"/>
          <c:order val="0"/>
          <c:tx>
            <c:strRef>
              <c:f>Sheet1!$B$1</c:f>
              <c:strCache>
                <c:ptCount val="1"/>
                <c:pt idx="0">
                  <c:v>Theo CVSS</c:v>
                </c:pt>
              </c:strCache>
            </c:strRef>
          </c:tx>
          <c:spPr>
            <a:solidFill>
              <a:srgbClr val="94A3B8"/>
            </a:solidFill>
            <a:effectLst/>
          </c:spPr>
          <c:invertIfNegative val="0"/>
          <c:dLbls>
            <c:numFmt formatCode="General"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Vá 1%</c:v>
                  </c:pt>
                  <c:pt idx="1">
                    <c:v>Vá 5%</c:v>
                  </c:pt>
                  <c:pt idx="2">
                    <c:v>Bằng khối lượng CSA</c:v>
                  </c:pt>
                </c:lvl>
              </c:multiLvlStrCache>
            </c:multiLvlStrRef>
          </c:cat>
          <c:val>
            <c:numRef>
              <c:f>Sheet1!$B$2:$B$4</c:f>
              <c:numCache>
                <c:formatCode>General</c:formatCode>
                <c:ptCount val="3"/>
                <c:pt idx="0">
                  <c:v>4.8</c:v>
                </c:pt>
                <c:pt idx="1">
                  <c:v>11.3</c:v>
                </c:pt>
                <c:pt idx="2">
                  <c:v>54</c:v>
                </c:pt>
              </c:numCache>
            </c:numRef>
          </c:val>
        </c:ser>
        <c:ser>
          <c:idx val="1"/>
          <c:order val="1"/>
          <c:tx>
            <c:strRef>
              <c:f>Sheet1!$C$1</c:f>
              <c:strCache>
                <c:ptCount val="1"/>
                <c:pt idx="0">
                  <c:v>Theo EPSS</c:v>
                </c:pt>
              </c:strCache>
            </c:strRef>
          </c:tx>
          <c:spPr>
            <a:solidFill>
              <a:srgbClr val="334155"/>
            </a:solidFill>
            <a:effectLst/>
          </c:spPr>
          <c:invertIfNegative val="0"/>
          <c:dLbls>
            <c:numFmt formatCode="General"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Vá 1%</c:v>
                  </c:pt>
                  <c:pt idx="1">
                    <c:v>Vá 5%</c:v>
                  </c:pt>
                  <c:pt idx="2">
                    <c:v>Bằng khối lượng CSA</c:v>
                  </c:pt>
                </c:lvl>
              </c:multiLvlStrCache>
            </c:multiLvlStrRef>
          </c:cat>
          <c:val>
            <c:numRef>
              <c:f>Sheet1!$C$2:$C$4</c:f>
              <c:numCache>
                <c:formatCode>General</c:formatCode>
                <c:ptCount val="3"/>
                <c:pt idx="0">
                  <c:v>30</c:v>
                </c:pt>
                <c:pt idx="1">
                  <c:v>51</c:v>
                </c:pt>
                <c:pt idx="2">
                  <c:v>65</c:v>
                </c:pt>
              </c:numCache>
            </c:numRef>
          </c:val>
        </c:ser>
        <c:ser>
          <c:idx val="2"/>
          <c:order val="2"/>
          <c:tx>
            <c:strRef>
              <c:f>Sheet1!$D$1</c:f>
              <c:strCache>
                <c:ptCount val="1"/>
                <c:pt idx="0">
                  <c:v>Theo công thức S</c:v>
                </c:pt>
              </c:strCache>
            </c:strRef>
          </c:tx>
          <c:spPr>
            <a:solidFill>
              <a:srgbClr val="C02034"/>
            </a:solidFill>
            <a:effectLst/>
          </c:spPr>
          <c:invertIfNegative val="0"/>
          <c:dLbls>
            <c:numFmt formatCode="General"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Vá 1%</c:v>
                  </c:pt>
                  <c:pt idx="1">
                    <c:v>Vá 5%</c:v>
                  </c:pt>
                  <c:pt idx="2">
                    <c:v>Bằng khối lượng CSA</c:v>
                  </c:pt>
                </c:lvl>
              </c:multiLvlStrCache>
            </c:multiLvlStrRef>
          </c:cat>
          <c:val>
            <c:numRef>
              <c:f>Sheet1!$D$2:$D$4</c:f>
              <c:numCache>
                <c:formatCode>General</c:formatCode>
                <c:ptCount val="3"/>
                <c:pt idx="0">
                  <c:v>25</c:v>
                </c:pt>
                <c:pt idx="1">
                  <c:v>50</c:v>
                </c:pt>
                <c:pt idx="2">
                  <c:v>65</c:v>
                </c:pt>
              </c:numCache>
            </c:numRef>
          </c:val>
        </c:ser>
        <c:dLbls>
          <c:numFmt formatCode="General"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34155"/>
                </a:solidFill>
                <a:latin typeface="Calibri"/>
              </a:defRPr>
            </a:pPr>
            <a:r>
              <a:rPr sz="1100" b="0" i="0" u="none" strike="noStrike">
                <a:solidFill>
                  <a:srgbClr val="334155"/>
                </a:solidFill>
                <a:latin typeface="Calibri"/>
              </a:rPr>
              <a:t>Lỗ hổng CVSS từ 9,0 chưa có trong KEV ngày 30/06/2025, chia theo S</a:t>
            </a:r>
          </a:p>
        </c:rich>
      </c:tx>
      <c:layout/>
      <c:overlay val="0"/>
    </c:title>
    <c:autoTitleDeleted val="0"/>
    <c:plotArea>
      <c:layout/>
      <c:barChart>
        <c:barDir val="col"/>
        <c:grouping val="clustered"/>
        <c:varyColors val="0"/>
        <c:ser>
          <c:idx val="0"/>
          <c:order val="0"/>
          <c:tx>
            <c:strRef>
              <c:f>Sheet1!$B$1</c:f>
              <c:strCache>
                <c:ptCount val="1"/>
                <c:pt idx="0">
                  <c:v>Tỷ trọng khối lượng vá (%)</c:v>
                </c:pt>
              </c:strCache>
            </c:strRef>
          </c:tx>
          <c:spPr>
            <a:solidFill>
              <a:srgbClr val="94A3B8"/>
            </a:solidFill>
            <a:effectLst/>
          </c:spPr>
          <c:invertIfNegative val="0"/>
          <c:dLbls>
            <c:numFmt formatCode="0.00"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 dưới 30</c:v>
                  </c:pt>
                  <c:pt idx="1">
                    <c:v>S từ 30 đến 49</c:v>
                  </c:pt>
                  <c:pt idx="2">
                    <c:v>S từ 50 đến 69</c:v>
                  </c:pt>
                  <c:pt idx="3">
                    <c:v>S từ 70</c:v>
                  </c:pt>
                </c:lvl>
              </c:multiLvlStrCache>
            </c:multiLvlStrRef>
          </c:cat>
          <c:val>
            <c:numRef>
              <c:f>Sheet1!$B$2:$B$5</c:f>
              <c:numCache>
                <c:formatCode>General</c:formatCode>
                <c:ptCount val="4"/>
                <c:pt idx="0">
                  <c:v>73.4</c:v>
                </c:pt>
                <c:pt idx="1">
                  <c:v>15.25</c:v>
                </c:pt>
                <c:pt idx="2">
                  <c:v>5.15</c:v>
                </c:pt>
                <c:pt idx="3">
                  <c:v>6.2</c:v>
                </c:pt>
              </c:numCache>
            </c:numRef>
          </c:val>
        </c:ser>
        <c:ser>
          <c:idx val="1"/>
          <c:order val="1"/>
          <c:tx>
            <c:strRef>
              <c:f>Sheet1!$C$1</c:f>
              <c:strCache>
                <c:ptCount val="1"/>
                <c:pt idx="0">
                  <c:v>Tỷ trọng số bị khai thác (%)</c:v>
                </c:pt>
              </c:strCache>
            </c:strRef>
          </c:tx>
          <c:spPr>
            <a:solidFill>
              <a:srgbClr val="C02034"/>
            </a:solidFill>
            <a:effectLst/>
          </c:spPr>
          <c:invertIfNegative val="0"/>
          <c:dLbls>
            <c:numFmt formatCode="0.00"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 dưới 30</c:v>
                  </c:pt>
                  <c:pt idx="1">
                    <c:v>S từ 30 đến 49</c:v>
                  </c:pt>
                  <c:pt idx="2">
                    <c:v>S từ 50 đến 69</c:v>
                  </c:pt>
                  <c:pt idx="3">
                    <c:v>S từ 70</c:v>
                  </c:pt>
                </c:lvl>
              </c:multiLvlStrCache>
            </c:multiLvlStrRef>
          </c:cat>
          <c:val>
            <c:numRef>
              <c:f>Sheet1!$C$2:$C$5</c:f>
              <c:numCache>
                <c:formatCode>General</c:formatCode>
                <c:ptCount val="4"/>
                <c:pt idx="0">
                  <c:v>28</c:v>
                </c:pt>
                <c:pt idx="1">
                  <c:v>4</c:v>
                </c:pt>
                <c:pt idx="2">
                  <c:v>16</c:v>
                </c:pt>
                <c:pt idx="3">
                  <c:v>52</c:v>
                </c:pt>
              </c:numCache>
            </c:numRef>
          </c:val>
        </c:ser>
        <c:dLbls>
          <c:numFmt formatCode="0.00" sourceLinked="0"/>
          <c:txPr>
            <a:bodyPr/>
            <a:lstStyle/>
            <a:p>
              <a:pPr>
                <a:defRPr b="0" i="0" strike="noStrike" sz="900" u="none">
                  <a:solidFill>
                    <a:srgbClr val="0F17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80"/>
        </c:scaling>
        <c:delete val="0"/>
        <c:axPos val="l"/>
        <c:majorGridlines>
          <c:spPr>
            <a:ln w="6350"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omments/comment2.xml><?xml version="1.0" encoding="utf-8"?>
<p:cmLst xmlns:p="http://schemas.openxmlformats.org/presentationml/2006/main">
  <p:cm authorId="0" dt="2026-10-17T09:00:00.000" idx="1">
    <p:pos x="10" y="10"/>
    <p:text>Hiệu suất = % ca bị khai thác bắt được / % lỗ hổng phải vá; bằng 1 là ngang chọn ngẫu nhiên. Ví dụ 30/06/2025: S từ 70 vá 1,34%, bắt 37,36%, gấp khoảng 28 lần; quy tắc CSA vá 27,73%, bắt 59,34%, gấp khoảng 2,1 lần. Qua 11 ngày: S từ 70 gấp 15,9 đến 34,2 lần, CSA 1,7 đến 2,3 lần.</p:text>
  </p:cm>
</p:cmLst>
</file>

<file path=ppt/comments/comment4.xml><?xml version="1.0" encoding="utf-8"?>
<p:cmLst xmlns:p="http://schemas.openxmlformats.org/presentationml/2006/main">
  <p:cm authorId="0" dt="2026-10-17T09:00:00.000" idx="2">
    <p:pos x="10" y="10"/>
    <p:text>Vá thừa: phải vá nhưng chưa bị khai thác (65.845 / 66.722 = 98,69%). Bỏ sót: đã bị khai thác nhưng không thuộc nhóm phải vá (693 / 1.570 = 44,14%). 76,1 = 66.722 / 877 lỗ hổng phải vá cho mỗi ca bắt được. Cột xám tính trên 240.409 lỗ hổng, cột đỏ tính trên 1.570 lỗ hổng KEV.</p:text>
  </p:cm>
</p:cmLst>
</file>

<file path=ppt/comments/comment5.xml><?xml version="1.0" encoding="utf-8"?>
<p:cmLst xmlns:p="http://schemas.openxmlformats.org/presentationml/2006/main">
  <p:cm authorId="0" dt="2026-10-17T09:00:00.000" idx="3">
    <p:pos x="10" y="10"/>
    <p:text>AV:N: khai thác được qua mạng, dùng xấp xỉ điều kiện phơi ra Internet. PoC: mã khai thác minh chứng công khai (Exploit-DB). Bị khai thác trong nhóm vá = số lỗ hổng KEV / số lỗ hổng phải vá. Vá cho 1 ca = số lỗ hổng phải vá / số lỗ hổng KEV trong nhóm (Q0: 66.722 / 877 = 76,1).</p:text>
  </p:cm>
</p:cmLst>
</file>

<file path=ppt/comments/comment6.xml><?xml version="1.0" encoding="utf-8"?>
<p:cmLst xmlns:p="http://schemas.openxmlformats.org/presentationml/2006/main">
  <p:cm authorId="0" dt="2026-10-17T09:00:00.000" idx="4">
    <p:pos x="10" y="10"/>
    <p:text>Automatable: trinh sát, chế tạo mã khai thác, phát tán, khai thác đều tự động được. Technical Impact: Total là chiếm toàn quyền, Partial là một phần. KEV: danh mục lỗ hổng CISA xác nhận đã bị khai thác.</p:text>
  </p:cm>
</p:cmLst>
</file>

<file path=ppt/comments/comment7.xml><?xml version="1.0" encoding="utf-8"?>
<p:cmLst xmlns:p="http://schemas.openxmlformats.org/presentationml/2006/main">
  <p:cm authorId="0" dt="2026-10-17T09:00:00.000" idx="5">
    <p:pos x="10" y="10"/>
    <p:text>S = 10 × AC × CVSS × T. T = 1 khi KEV hoặc tự động hóa được trên tài sản phơi ra Internet; T = 0 nếu hai nhánh đó ở tài sản nội bộ; còn lại T = EPSS mũ 0,3. Ví dụ CVSS 7,5, EPSS 0,90: T khoảng 0,969, S khoảng 72,7.</p:text>
  </p:cm>
</p:cmLst>
</file>

<file path=ppt/comments/comment8.xml><?xml version="1.0" encoding="utf-8"?>
<p:cmLst xmlns:p="http://schemas.openxmlformats.org/presentationml/2006/main">
  <p:cm authorId="0" dt="2026-10-17T09:00:00.000" idx="6">
    <p:pos x="10" y="10"/>
    <p:text>Số mũ 0,3 nén thang EPSS mà giữ thứ tự: 0,001 thành 0,126; 0,01 thành 0,251; 0,1 thành 0,501; 0,9 thành 0,969. Thử số mũ từ 0,2 đến 1,0 cho kết quả gần như nhau.</p:text>
  </p:cm>
</p:cmLst>
</file>

<file path=ppt/comments/comment9.xml><?xml version="1.0" encoding="utf-8"?>
<p:cmLst xmlns:p="http://schemas.openxmlformats.org/presentationml/2006/main">
  <p:cm authorId="0" dt="2026-10-17T09:00:00.000" idx="7">
    <p:pos x="10" y="10"/>
    <p:text>A: 9,8 × 0,001 mũ 0,3 × 10 khoảng 12,3. C: KEV và phơi ra Internet, S = 6,5 × 10. D: tự động hóa và phơi ra Internet, S = 9,0 × 10 = 90. E, F: nội bộ nên T = 0. G: 7,8 × 0,30 mũ 0,3 × 10 khoảng 54,4.</p:text>
  </p:cm>
</p:cmLst>
</file>

<file path=ppt/comments/comment10.xml><?xml version="1.0" encoding="utf-8"?>
<p:cmLst xmlns:p="http://schemas.openxmlformats.org/presentationml/2006/main">
  <p:cm authorId="0" dt="2026-10-17T09:00:00.000" idx="8">
    <p:pos x="10" y="10"/>
    <p:text>Kiểm thử ngược: quyết định như đang ở ngày T trong quá khứ, chỉ dùng thông tin có tại T. Bootstrap: lấy mẫu lặp 1.000 lần để ước lượng dao động; khoảng tin cậy 95% nằm hoàn toàn trên 0 thì chênh lệch có ý nghĩa thống kê. H1: giả thuyết đặt trước khi xem kết quả.</p:text>
  </p:cm>
</p:cmLst>
</file>

<file path=ppt/comments/comment11.xml><?xml version="1.0" encoding="utf-8"?>
<p:cmLst xmlns:p="http://schemas.openxmlformats.org/presentationml/2006/main">
  <p:cm authorId="0" dt="2026-10-17T09:00:00.000" idx="9">
    <p:pos x="10" y="10"/>
    <p:text>Gấp trung bình = tỷ lệ vào KEV của mức / tỷ lệ trung bình 0,043% (91 / 209.623). Mức 70 đến 100: 34 / 2.803 = 1,21%, gấp khoảng 28 lần. Mức 0 đến 9: 11 / 100.819 = 0,011%, khoảng 0,3 lần.</p:text>
  </p:cm>
</p:cmLst>
</file>

<file path=ppt/comments/comment12.xml><?xml version="1.0" encoding="utf-8"?>
<p:cmLst xmlns:p="http://schemas.openxmlformats.org/presentationml/2006/main">
  <p:cm authorId="0" dt="2026-10-17T09:00:00.000" idx="10">
    <p:pos x="10" y="10"/>
    <p:text>Hiệu suất = % ca bắt được / % lỗ hổng phải vá. 30/06/2025: S từ 70 vá 1,34%, bắt 37,36%, gấp khoảng 28 lần; CSA vá 27,73%, bắt 59,34%, gấp khoảng 2,1 lần. CSA bắt nhiều ca hơn nhưng vá nhiều gấp khoảng 20 lần (1.076 so với 82 lỗ hổng cho mỗi ca). Nhóm S từ 70 chỉ bắt khoảng 37% số ca.</p:text>
  </p:cm>
</p:cmLst>
</file>

<file path=ppt/comments/comment13.xml><?xml version="1.0" encoding="utf-8"?>
<p:cmLst xmlns:p="http://schemas.openxmlformats.org/presentationml/2006/main">
  <p:cm authorId="0" dt="2026-10-17T09:00:00.000" idx="11">
    <p:pos x="10" y="10"/>
    <p:text>Cùng khối lượng vá: mỗi cách xếp vá đúng N lỗ hổng điểm cao nhất rồi đếm số ca bắt được. Số lẻ (4,8; 11,3) do lỗ hổng bằng điểm ở ranh giới, lấy giá trị kỳ vọng. H1 chưa đạt: khoảng tin cậy -2,0 đến +15,0 có chứa 0.</p:text>
  </p:cm>
</p:cmLst>
</file>

<file path=ppt/comments/comment14.xml><?xml version="1.0" encoding="utf-8"?>
<p:cmLst xmlns:p="http://schemas.openxmlformats.org/presentationml/2006/main">
  <p:cm authorId="0" dt="2026-10-17T09:00:00.000" idx="12">
    <p:pos x="10" y="10"/>
    <p:text>Báo trước: từ lúc S đạt 50 đến ngày vào KEV (trước khi CISA xác nhận, chưa chắc trước khi bị khai thác). Giữ liên tục: chỉ tính đoạn cuối S liên tục từ 50 đến ngày vào KEV. Ví dụ Jira: lần đầu 03/2023, trở lại 02/2024, vào KEV 11/2024, giữ liên tục khoảng 8 tháng.</p:text>
  </p:cm>
</p:cmLst>
</file>

<file path=ppt/comments/comment15.xml><?xml version="1.0" encoding="utf-8"?>
<p:cmLst xmlns:p="http://schemas.openxmlformats.org/presentationml/2006/main">
  <p:cm authorId="0" dt="2026-10-17T09:00:00.000" idx="13">
    <p:pos x="10" y="10"/>
    <p:text>S trước 30 ngày: điểm S 30 ngày trước khi vào KEV. Giữ liên tục: số tháng S liên tục từ 50 đến ngày vào KEV (số ngày / 30,44). Đổi mô hình: chạm 50 đúng tháng EPSS đổi mô hình (02/2022, 03/2023, 03/2025), do mô hình mới chấm lại. Tháng đầu: từ 50 ngay tháng đầu có điểm. Tăng dần: điểm tăng theo EPSS, 8 / 24 lỗ hổng.</p:text>
  </p:cm>
</p:cmLst>
</file>

<file path=ppt/comments/comment16.xml><?xml version="1.0" encoding="utf-8"?>
<p:cmLst xmlns:p="http://schemas.openxmlformats.org/presentationml/2006/main">
  <p:cm authorId="0" dt="2026-10-17T09:00:00.000" idx="14">
    <p:pos x="10" y="10"/>
    <p:text>Tỷ trọng khối lượng = số lỗ hổng nhóm / 30.308; tỷ trọng ca bị khai thác = số ca nhóm / 25. S từ 70: 1.879 lỗ hổng (6,20%), 13 ca (52%). 22 lần = 0,692% (13 / 1.879) so với 0,031% (7 / 22.245).</p:text>
  </p:cm>
</p:cmLst>
</file>

<file path=ppt/comments/comment17.xml><?xml version="1.0" encoding="utf-8"?>
<p:cmLst xmlns:p="http://schemas.openxmlformats.org/presentationml/2006/main">
  <p:cm authorId="0" dt="2026-10-17T09:00:00.000" idx="15">
    <p:pos x="10" y="10"/>
    <p:text>Tra hai bước: (1) KEV hoặc tự động hóa được, trên tài sản phơi ra Internet: vá 3 ngày bất kể điểm; (2) còn lại tra điểm S. Gấp X lần là so với tỷ lệ vào KEV trung bình 0,043%. Hạn 7, 14, 30, 60 ngày theo mức điểm là đề xuất, chưa kiểm chứng.</p:text>
  </p:cm>
</p:cmLst>
</file>

<file path=ppt/comments/comment18.xml><?xml version="1.0" encoding="utf-8"?>
<p:cmLst xmlns:p="http://schemas.openxmlformats.org/presentationml/2006/main">
  <p:cm authorId="0" dt="2026-10-17T09:00:00.000" idx="16">
    <p:pos x="10" y="10"/>
    <p:text>Zero-day: bị khai thác từ trước hoặc ngay khi công bố, chưa kịp có EPSS. Vulnrichment: dữ liệu CISA bổ sung cho CVE, có biến Automatable, phủ khoảng 45,8% số CVE (ước tính của Securin). Điểm CVSS của NVD thường được chấm sau ngày công bố.</p:text>
  </p:cm>
</p:cmLst>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(khoảng 30 giây).
Kính chào thầy và các bạn. Chúng em gồm Trần Minh Vương, Vũ Thành Huy và Nguyễn Hoà Khiêm, Trường Công nghệ Thông tin và Truyền thông, Đại học Bách khoa Hà Nội, xin trình bày đề tài: kiểm chứng ngưỡng CVSS 8,0 trong khuyến nghị của Cloud Security Alliance, viết tắt CSA, và đề xuất công thức ưu tiên vá lỗ hổng.
Mạch của bài rất gọn. CSA khuyến nghị vá trong 48 giờ mọi lỗ hổng có CVSS trên 8,0 trên hệ thống phơi ra Internet. Chúng em kiểm tra quy tắc này trên dữ liệu thật, thấy nó vá thừa và bỏ sót nhiều, sau đó đề xuất công thức điểm ưu tiên S và chứng minh S hiệu quả hơn quy tắc đó, cuối cùng đưa ra thang điểm để thay ngưỡng CVSS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toàn bài (khoảng 1 phút 30 giây).
Ba con số cần nhớ.
Thứ nhất, 98,69 phần trăm lỗ hổng mà quy tắc CVSS 8,0 bắt vá trong 48 giờ chưa từng bị khai thác, tức 65.845 trên 66.722 lỗ hổng.
Thứ hai, nhóm lỗ hổng có điểm S từ 70 hiệu quả gấp 16 đến 34 lần so với chọn ngẫu nhiên ở cả 11 ngày đánh giá, trong khi quy tắc CSA chỉ gấp 1,7 đến 2,3 lần.
Thứ ba, khi nguồn lực chỉ đủ vá 1 đến 5 phần trăm số lỗ hổng, công thức S bắt được số lỗ hổng sắp bị khai thác nhiều gấp 2,7 đến 8,9 lần cách xếp theo CVSS.
Bài trả lời hai câu hỏi: quy tắc CSA vá thừa và bỏ sót bao nhiêu, và công thức S có tốt hơn không. Từ đó chúng em đề xuất thang điểm thay cho ngưỡng cố định. Chúng em cũng nói rõ giới hạn: S gần như ngang EPSS dùng riêng, và chưa cảnh báo được lỗ hổng mới công bố.
Giải thích thêm (dùng khi được hỏi):
Hiệu suất "gấp X lần chọn ngẫu nhiên" nghĩa là gì: nếu bốc bừa 10% số lỗ hổng để vá thì trung bình chỉ trúng 10% số lỗ hổng sắp bị khai thác. Hiệu suất bằng phần trăm số ca bắt được chia cho phần trăm số lỗ hổng phải vá. Hiệu suất bằng 1 là không hơn bốc bừa, bằng 2 là tốt gấp đôi bốc bừa.
Ví dụ ngày 30/06/2025: nhóm S từ 70 vá 1,34% số lỗ hổng mà bắt được 34 / 91 = 37,36% số ca, hiệu suất 37,36 / 1,34 khoảng 28 lần. Quy tắc CSA vá 27,73% và bắt được 54 / 91 = 59,34%, hiệu suất 59,34 / 27,73 khoảng 2,1 lần. Lặp lại ở 11 ngày cuối quý, S từ 70 dao động 15,9 đến 34,2 lần, quy tắc CSA 1,7 đến 2,3 lần.
"2,7 đến 8,9 lần": khi chỉ vá 1% hoặc 5% số lỗ hổng, S bắt được số ca nhiều gấp 2,7 đến 8,9 lần so với xếp theo CVSS, ví dụ 25 so với 4,8 khi vá 1% ngày 30/06/2025.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Khuyến nghị của CSA (khoảng 1 phút 30 giây).
Bài báo của CSA ngày 02/04/2026 lập luận rằng mô hình ngôn ngữ lớn đã rút ngắn thời gian từ khi công bố lỗ hổng tới khi có mã khai thác. Các bằng chứng chính ở bên trái: GPT-4 khai thác 87 phần trăm lỗ hổng một ngày khi có mô tả CVE, chỉ 7 phần trăm khi không có; DARPA AIxCC tìm ra 86 phần trăm lỗ hổng tổng hợp; Incalmo chiếm tài sản quan trọng ở 37 trên 40 môi trường.
Từ đó CSA khuyến nghị: lỗ hổng có CVSS trên 8,0 trên hệ thống phơi ra Internet phải vá trong 48 giờ. Chúng em coi đây là một quy tắc phân loại và kiểm tra nhóm "vá khẩn cấp" chứa được bao nhiêu lỗ hổng thực sự bị khai thác.
Điểm đáng chú ý: CSA không giải thích vì sao chọn 8,0, trong khi chính bài báo khuyên khung ưu tiên phải coi trọng khả năng bị khai thác. CVSS lại đo mức nghiêm trọng, không đo khả năng bị khai thác.
Bài trả lời hai câu hỏi ở phía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1: ngưỡng CVSS 8,0 (khoảng 1 phút 30 giây).
Dữ liệu là 240.409 lỗ hổng có điểm CVSS 3.x trong NVD, mã CVE từ 1999 đến 2025, trong đó 1.570 lỗ hổng nằm trong danh mục KEV của CISA, tức đã được xác nhận bị khai thác. KEV là căn cứ thận trọng: lỗ hổng ngoài KEV chưa chắc không bị khai thác.
Với ngưỡng 8,0, có 66.722 lỗ hổng phải vá khẩn cấp nhưng chỉ 877 nằm trong KEV. Nghĩa là 98,69 phần trăm là vá thừa, phải vá 76,1 lỗ hổng mới gặp một lỗ hổng bị khai thác. Ngược lại, 693 trên 1.570 lỗ hổng KEV, tức 44,14 phần trăm, có CVSS dưới 8,0 nên bị bỏ qua.
Biểu đồ cho thấy đổi ngưỡng không giải quyết được: hạ xuống 7,0 thì bỏ sót còn 11,40 phần trăm nhưng phải vá hơn một nửa số lỗ hổng; nâng lên 9,0 thì bỏ sót tới 65,99 phần trăm. Ở cả ba ngưỡng, chỉ khoảng 1 đến 1,5 phần trăm nhóm phải vá bị khai thác.
Giải thích thêm (dùng khi được hỏi):
Vá thừa: lỗ hổng nằm trong nhóm phải vá khẩn cấp nhưng chưa từng bị khai thác. Bỏ sót: lỗ hổng đã bị khai thác nhưng không nằm trong nhóm phải vá.
98,69% = 65.845 / 66.722, tính trên nhóm phải vá. 44,14% = 693 / 1.570, tính trên các lỗ hổng KEV. Hai con số có mẫu số khác nhau nên không cộng với nhau.
76,1 = 66.722 / 877: phải vá 76,1 lỗ hổng mới gặp 1 lỗ hổng thực sự bị khai thác.
Trong biểu đồ, cột xám "Phải vá" là phần trăm trên 240.409 lỗ hổng, cột đỏ "Bỏ sót" là phần trăm trên 1.570 lỗ hổng KEV.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khuyến nghị công bằng hơn (khoảng 1 phút 30 giây).
Có thể phản biện rằng chúng em đọc khuyến nghị quá đơn giản. Vì vậy chúng em thử năm cách đọc. Q1 đọc "trên 8,0" theo nghĩa chặt. Q2 chỉ xét lỗ hổng khai thác được qua mạng, tức vector AV:N, để xấp xỉ điều kiện phơi ra Internet. Q3 thêm các lỗ hổng đã có mã khai thác minh chứng công khai, theo một lời khuyên khác của CSA. Q4 kết hợp Q2 và Q3.
Kết quả: đọc sát hơn làm giảm phần bỏ sót, từ 44,14 xuống 20,73 phần trăm. Như vậy con số 44 phần trăm là cận trên.
Nhưng cột đỏ gần như không đổi: ở mọi cách đọc, chỉ 1,31 đến 1,51 phần trăm nhóm phải vá bị khai thác, tức phải vá 66 đến 76 lỗ hổng mới gặp một ca. Vá thừa đúng với mọi cách đọc.
Vấn đề nằm ở thước đo: CVSS không chứa thông tin lỗ hổng có đang bị khai thác hay không. Đó là lý do cần một công thức đưa bằng chứng khai thác vào.
Giải thích thêm (dùng khi được hỏi):
AV:N là chỉ số Attack Vector bằng Network trong vector CVSS, nghĩa là khai thác được qua mạng. Chúng em dùng nó để xấp xỉ điều kiện "phơi ra Internet", vì dữ liệu công khai không cho biết hệ thống nào phơi ra Internet.
PoC (proof of concept) là mã khai thác minh chứng được công bố công khai; ở đây lấy từ Exploit-DB.
"Bị khai thác trong nhóm vá" là độ chính xác: số lỗ hổng KEV trong nhóm phải vá chia cho số lỗ hổng phải vá.
"Vá cho 1 ca" là số lỗ hổng phải vá chia số lỗ hổng KEV trong nhóm đó, ví dụ Q0: 66.722 / 877 = 76,1.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Bối cảnh chính sách mới (khoảng 1 phút 30 giây).
Hai tháng sau bài báo CSA, ngày 10/06/2026, CISA ban hành Chỉ thị BOD 26-04, thu hồi BOD 22-01 và BOD 19-02. Chỉ thị bỏ cách đặt hạn vá theo điểm CVSS, thay bằng bốn câu hỏi có hoặc không cho từng lỗ hổng trên từng tài sản: tài sản có phơi ra Internet không, lỗ hổng có trong KEV không, việc khai thác có tự động hóa được không, và khai thác xong chiếm toàn quyền hay một phần.
Tổ hợp các câu trả lời cho ra hạn vá: cao nhất 3 ngày kèm điều tra xem đã bị xâm nhập chưa, thấp nhất là vá ở lần nâng cấp hệ thống kế tiếp. Mọi lỗ hổng trong KEV đều có hạn 3 hoặc 14 ngày.
Hướng dẫn thực hiện ghi rõ các cơ quan không còn bị yêu cầu dùng CVSS để xếp ưu tiên. CISA cũng dẫn số liệu Verizon: chỉ 26 phần trăm lỗ hổng KEV được khắc phục hoàn toàn năm 2025, giảm từ 38 phần trăm.
Hàm ý: kết luận của nhóm cùng hướng với chính sách mới nhất của CISA. Công thức của nhóm sẽ lấy ba trong bốn biến này.
Giải thích thêm (dùng khi được hỏi):
Automatable (tự động hóa được): cả bốn bước trinh sát, chế tạo mã khai thác, phát tán và khai thác đều chạy được bằng công cụ, không cần người can thiệp cho từng mục tiêu.
Technical Impact (tác động kỹ thuật): Total là kẻ tấn công chiếm toàn quyền hệ thống, Partial là chỉ chiếm một phần.
KEV (Known Exploited Vulnerabilities) là danh mục lỗ hổng CISA xác nhận đã bị khai thác.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thức đề xuất (khoảng 1 phút 30 giây).
Từ hai vấn đề vừa thấy và từ hướng của BOD 26-04, nhóm đề xuất điểm ưu tiên S cho mỗi cặp lỗ hổng và tài sản.
Đọc công thức từ ngoài vào trong. AC là mức quan trọng của tài sản, do tổ chức tự xác định, ví dụ 1,0 cho hệ thống lõi, 0,2 cho máy thử nghiệm. CVSS giữ vai trò đo mức nghiêm trọng, thay cho biến tác động kỹ thuật của BOD. Nhân 10 để điểm nằm trong thang 0 đến 100.
Phần trong ngoặc vuông gọi là bộ lọc mối đe dọa T, nhận giá trị từ 0 đến 1, dùng ba biến của BOD 26-04 là KEV, tự động hóa EA, phơi ra Internet PE, cộng thêm EPSS để có xác suất liên tục cho những lỗ hổng chưa có bằng chứng khai thác.
Khác BOD 26-04 ở chỗ cho điểm liên tục để sắp thứ tự bên trong từng bậc; khác cây quyết định VMC của Shimizu và Hashimoto ở hai biến EA, PE và hệ số tài sản.
Giải thích thêm (dùng khi được hỏi):
Cách đọc nhanh: S = 10 × AC × CVSS × T, với T là bộ lọc mối đe dọa từ 0 đến 1.
T = 1 khi lỗ hổng đã có trong KEV hoặc tự động hóa được, và tài sản phơi ra Internet; khi đó S đạt mức cao nhất của lỗ hổng là AC × CVSS × 10. T = 0 khi lỗ hổng thuộc hai nhánh đó nhưng tài sản nằm trong mạng nội bộ. Các trường hợp còn lại T = EPSS mũ 0,3.
Ví dụ: CVSS 7,5, EPSS 0,90, AC = 1, chưa có trong KEV, không tự động hóa được: T = 0,90 mũ 0,3 khoảng 0,969, nên S = 7,5 × 0,969 × 10 khoảng 72,7, chính là lỗ hổng B ở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Cắt nghĩa công thức (khoảng 1 phút 30 giây).
Vì KEV, EA và PE chỉ nhận 0 hoặc 1, bộ lọc T tự rẽ thành năm trường hợp như bảng, không cần câu lệnh điều kiện, nên đưa thẳng vào bảng tính được.
Dòng 1: lỗ hổng đã bị khai thác và tài sản phơi ra Internet thì T bằng 1, điểm lên mức cao nhất của lỗ hổng đó. Dòng 3: chưa bị khai thác nhưng tự động hóa được và phơi ra Internet thì cũng lên mức cao nhất, vì không cần chờ bằng chứng khai thác mới hành động. Đây đúng là kịch bản bài báo CSA lo ngại khi LLM tự động hóa việc tạo mã khai thác.
Dòng 2 và 4: nếu nằm trong mạng nội bộ, hai nhánh này bằng 0 để dồn nguồn lực cho bề mặt Internet. Riêng lỗ hổng KEV nội bộ, chính sách vẫn giữ hạn vá tối đa, sẽ nói ở phần khuyến nghị.
Dòng 5: không tự động hóa được thì điểm theo EPSS. Nhóm không nhân PE với phần EPSS vì EPSS phản ánh cả các con đường tấn công không đi trực tiếp từ Internet. Số mũ 0,3 nén thang EPSS vốn rất lệch.
Giải thích thêm (dùng khi được hỏi):
Vì sao cần số mũ 0,3: lũy thừa với số mũ nhỏ hơn 1 kéo các giá trị nhỏ lên gần nhau hơn nhưng không đổi thứ tự. EPSS 0,001 thành 0,126; 0,01 thành 0,251; 0,1 thành 0,501; 0,9 thành 0,969. Nếu nhân thẳng EPSS, phần lớn lỗ hổng có điểm gần 0 và CVSS mất tác dụng.
Xếp theo S ở nhánh EPSS trùng với xếp theo EPSS × CVSS mũ 3,33, vì nâng cả hai vế lên lũy thừa 1 / 0,3 không đổi thứ tự.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(khoảng 1 phút).
Bảy lỗ hổng giả định, coi mọi tài sản quan trọng như nhau. Quy tắc CSA chọn A và D vì CVSS cao, bỏ qua B và C, và không áp dụng cho E, F, G vì nằm trong mạng nội bộ.
Công thức đưa D lên đầu với 90 điểm vì tự động hóa được và phơi ra Internet; cùng lỗ hổng đó nếu không tự động hóa được thì chỉ còn 45,1. E giống D nhưng nằm trong mạng nội bộ nên về 0. B được 72,7 điểm dù CSA bỏ qua, vì EPSS 0,90. A chỉ 12,3 vì gần như không có tín hiệu khai thác. C đã bị khai thác, điểm 65 nhưng vẫn vào nhóm vá khẩn cấp nhờ quy tắc đi kèm. G nằm trong mạng nội bộ nhưng vẫn 54,4 điểm nhờ EPSS.
Thông điệp: thứ tự ưu tiên đi theo bằng chứng khai thác và mức phơi ra, không chỉ theo CVSS.
Giải thích thêm (dùng khi được hỏi):
Cách tính từng dòng (AC = 1):
A: chưa KEV, không tự động hóa, nên T = 0,001 mũ 0,3 khoảng 0,126; S = 9,8 × 0,126 × 10 khoảng 12,3.
B: T = 0,90 mũ 0,3 khoảng 0,969; S khoảng 72,7.
C: có trong KEV và phơi ra Internet nên T = 1; S = 6,5 × 10 = 65,0.
D: tự động hóa được và phơi ra Internet nên T = 1; S = 9,0 × 10 = 90,0. Nếu EA = 0 thì T = 0,1 mũ 0,3 khoảng 0,501, S khoảng 45,1.
E, F: thuộc nhánh KEV hoặc tự động hóa nhưng nằm trong mạng nội bộ nên T = 0.
G: không tự động hóa nên T = 0,30 mũ 0,3 khoảng 0,697; S khoảng 54,4.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Cách so sánh (khoảng 1 phút 30 giây).
Lỗi phổ biến là dùng điểm EPSS hiện tại: lỗ hổng đã bị khai thác thường có EPSS cao chính vì việc khai thác đã xảy ra, nên kết quả đẹp giả tạo. Chúng em dùng kiểm thử ngược bốn bước: chọn một ngày T trong quá khứ; chấm điểm chỉ bằng EPSS lịch sử và KEV có tại ngày T; theo dõi 12 tháng sau xem lỗ hổng nào thực sự vào KEV; rồi so với quy tắc CSA và cách xếp theo CVSS khi vá cùng số lượng.
Thước đo chính là hiệu suất: tỷ lệ bắt được chia cho tỷ lệ khối lượng phải vá, tức gấp bao nhiêu lần so với chọn ngẫu nhiên.
Phạm vi: thực nghiệm kiểm chứng dạng rút gọn S0, khi tài sản phơi ra Internet đúng phạm vi CSA và chưa dùng biến tự động hóa; hệ số tài sản bằng 1.
Chúng em đặt trước giả thuyết H1: ở đúng khối lượng vá của quy tắc CSA, S bắt được nhiều hơn CVSS. Kết quả của H1 sẽ nói thẳng ở slide sau.
Giải thích thêm (dùng khi được hỏi):
Kiểm thử ngược (backtest): giả lập việc ra quyết định ở một ngày trong quá khứ, chỉ dùng thông tin có ở ngày đó, rồi so với những gì thực sự xảy ra sau đó.
Hiệu suất: phần trăm số ca bị khai thác bắt được chia cho phần trăm số lỗ hổng phải vá, tức gấp bao nhiêu lần chọn ngẫu nhiên.
Bootstrap: lấy mẫu lặp có hoàn lại 1.000 lần từ dữ liệu để ước lượng mức dao động của kết quả. Khoảng tin cậy 95% là khoảng chứa 95% kết quả của các lần lấy mẫu. Nếu khoảng tin cậy của chênh lệch nằm hoàn toàn trên 0, có thể nói S hơn CVSS có ý nghĩa thống kê.
H1 là giả thuyết đặt ra trước khi xem kết quả, để tránh chọn phép so sánh có lợi sau khi đã biết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1: điểm S phân biệt được (khoảng 1 phút).
Ngày 30/06/2025 có 209.623 lỗ hổng chưa có trong KEV. Trong 12 tháng sau, chỉ 91 lỗ hổng vào KEV, tỷ lệ trung bình 0,043 phần trăm.
Biểu đồ chia lỗ hổng thành năm mức điểm S, đúng năm mức của thang điểm đề xuất ở cuối bài. Tỷ lệ bị khai thác tăng đều theo điểm: dưới 10 điểm chỉ 0,011 phần trăm, bằng 0,3 lần trung bình; từ 70 điểm trở lên là 1,21 phần trăm, gấp 28 lần trung bình.
Về khối lượng: chỉ 1,34 phần trăm lỗ hổng đạt S từ 70, nhưng nhóm nhỏ này chứa 34 trên 91 lỗ hổng sắp bị khai thác. Ba mức con 70 đến 79, 80 đến 89, 90 đến 100 có tỷ lệ gần như nhau, nên ngưỡng vá khẩn cấp được đặt ở 70.
Giải thích thêm (dùng khi được hỏi):
"Gấp trung bình" bằng tỷ lệ vào KEV của mức đó chia cho tỷ lệ trung bình 91 / 209.623 = 0,043%. Ví dụ mức 70 đến 100: 34 / 2.803 = 1,21%, chia 0,043% khoảng 28 lần. Mức 0 đến 9: 11 / 100.819 = 0,011%, khoảng 0,3 lần, tức thấp hơn trung bình.
Biểu đồ dùng đúng năm mức của thang điểm ở slide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2: S từ 70 so với quy tắc CSA (khoảng 1 phút 30 giây).
Ngày 30/06/2025, vá mọi lỗ hổng có S từ 70 là vá 1,34 phần trăm số lỗ hổng và bắt được 34 trên 91. Quy tắc CSA vá 27,73 phần trăm và bắt được 54 trên 91. Quy tắc CSA bắt nhiều hơn vì vá nhiều gấp khoảng 20 lần: phải vá 1.076 lỗ hổng cho mỗi lỗ hổng bắt được, so với 82 của S.
Tính theo hiệu suất, đường đỏ là S từ 70: gấp 16 đến 34 lần chọn ngẫu nhiên ở cả 11 ngày cuối quý. Đường xám là quy tắc CSA: chỉ 1,7 đến 2,3 lần, gần như phẳng ở mọi cách đọc.
Khi vá cùng khối lượng với từng cách đọc Q0 đến Q4, S bằng hoặc hơn quy tắc ở 13 trên 15 trường hợp; hai trường hợp ngược lại đều ở năm 2024 với cách đọc có PoC, cho thấy PoC là tín hiệu có giá trị mà S chưa dùng.
Tính cả lỗ hổng đã có trong KEV, nhóm vá khẩn cấp theo S chỉ 1,44 đến 1,98 phần trăm, thay vì khoảng 28 phần trăm.
Giải thích thêm (dùng khi được hỏi):
Giải thích câu "S từ 70 hiệu quả gấp 16 đến 34 lần chọn ngẫu nhiên, quy tắc CSA chỉ 1,7 đến 2,3 lần":
Mốc so sánh là chọn ngẫu nhiên: bốc bừa bao nhiêu phần trăm số lỗ hổng thì trung bình trúng bấy nhiêu phần trăm số ca sắp bị khai thác. Hiệu suất bằng phần trăm số ca bắt được chia cho phần trăm số lỗ hổng phải vá.
Ngày 30/06/2025 có 209.623 lỗ hổng chưa có trong KEV, 91 lỗ hổng bị khai thác trong 12 tháng sau.
S từ 70: vá 2.803 lỗ hổng, tức 1,34%; bắt được 34 / 91 = 37,36%; hiệu suất 37,36 / 1,34 khoảng 28 lần. Bốc bừa 1,34% thì chỉ trúng khoảng 1 ca, S trúng 34 ca.
Quy tắc CSA: vá 58.133 lỗ hổng, tức 27,73%; bắt được 54 / 91 = 59,34%; hiệu suất 59,34 / 27,73 khoảng 2,1 lần. Bốc bừa 27,73% đã trúng khoảng 25 ca, CSA trúng 54 ca.
CSA bắt nhiều ca hơn nhưng vá nhiều gấp khoảng 20 lần: 1.076 lỗ hổng cho mỗi ca bắt được, so với 82 của S từ 70.
Lặp lại ở 11 ngày cuối quý, S từ 70 luôn từ 15,9 đến 34,2 lần, CSA chỉ 1,7 đến 2,3 lần ở mọi cách đọc.
Lưu ý: hiệu suất cao không có nghĩa là bắt hết. Nhóm S từ 70 chỉ bắt khoảng 37% số ca, phần còn lại nằm ở các mức thấp hơn, nên thang điểm vẫn có hạn vá cho các mức dưới 70.
13 / 15: so với từng cách đọc Q0 đến Q4 tại ba ngày, tức 15 trường hợp, S vá cùng số lượng với quy tắc và bắt được bằng hoặc nhiều hơn ở 13 trường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3: cùng khối lượng vá (khoảng 1 phút 30 giây).
So sánh công bằng phải cố định cùng số lỗ hổng được vá. Biểu đồ là ngày 30/06/2025 với 91 lỗ hổng sắp bị khai thác.
Khi chỉ đủ nguồn lực vá 1 phần trăm, xếp theo CVSS bắt được khoảng 5 lỗ hổng, công thức S bắt được 25. Khi vá 5 phần trăm: 11 so với 50. Tính trên ba ngày đánh giá, S bắt được nhiều gấp 2,7 đến 8,9 lần CVSS, khoảng tin cậy 95 phần trăm đều nằm trên 0; qua 11 ngày, S không kém CVSS ở ngày nào.
Chúng em nói thẳng giả thuyết H1: ở đúng khối lượng vá của quy tắc CSA, gộp 2024 và 2025, S chỉ hơn CVSS 6,0 ca, khoảng tin cậy từ âm 2,0 đến cộng 15,0 có chứa 0, nên H1 chưa đạt. Khi vá ít hơn thì chênh lệch có ý nghĩa: cộng 12,6 ca khi vá 1 phần trăm, cộng 18,2 ca khi vá 5 phần trăm. Lợi thế của S rõ nhất khi nguồn lực có hạn, đúng tình huống của hạn 48 giờ.
Cột EPSS cho thấy S gần như ngang EPSS dùng riêng.
Giải thích thêm (dùng khi được hỏi):
Cùng khối lượng vá: lấy đúng N lỗ hổng có điểm cao nhất theo mỗi cách xếp (CVSS, EPSS, S), rồi đếm mỗi cách bắt được bao nhiêu ca. Như vậy so sánh không bị lệch vì một cách vá nhiều hơn cách kia.
Số lẻ như 4,8 hay 11,3 của CVSS là vì nhiều lỗ hổng bằng điểm nhau ở ranh giới chọn; khi đó lấy giá trị kỳ vọng.
"Bằng khối lượng CSA" nghĩa là vá đúng số lượng mà quy tắc CSA chọn, ngày 30/06/2025 là 58.133 lỗ hổng.
H1 chưa đạt: ở khối lượng của CSA, chênh lệch 6,0 ca có khoảng tin cậy từ âm 2,0 đến cộng 15,0, có chứa 0, nên chưa loại được khả năng S và CVSS ngang nhau ở khối lượng lớn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Tình huống CSA bỏ sót (khoảng 1 phút 30 giây).
Để tránh chọn ví dụ có lợi, chúng em đặt tiêu chí trước: lỗ hổng vào KEV từ 01/04/2023, CVSS dưới 8,0, tức quy tắc CSA không bao giờ ưu tiên, và có S từ 50 vào 30 ngày trước khi vào KEV. Có 328 lỗ hổng như vậy, 156 lỗ hổng có điểm EPSS, và 24 trong số đó đạt tiêu chí.
Ba ví dụ chọn theo quy tắc. Jira, CVSS chỉ 5,3: S giữ quanh 50 liên tục từ 02/2024, khoảng 8 tháng trước khi CISA xác nhận. Openfire: S tăng từ 7 lên 62 trong hai tháng sau công bố. BIND: S khoảng 73 liên tục từ 02/2022, CISA tới 08/10/2026 mới xác nhận.
Trung vị thời gian S giữ liên tục lỗ hổng trong nhóm ưu tiên là 14,3 tháng.
Ba lưu ý để không nói quá: báo trước là trước khi CISA xác nhận, chưa chắc trước khi bị khai thác; một nửa số lần vượt ngưỡng trùng tháng EPSS đổi mô hình; và 76,28 phần trăm vẫn dưới 30 điểm.
Giải thích thêm (dùng khi được hỏi):
"Báo trước": khoảng thời gian từ lúc điểm S đạt 50 đến ngày CISA đưa lỗ hổng vào KEV. Đây là trước khi CISA xác nhận, chưa chắc là trước khi bị khai thác.
"Giữ liên tục" (B_lt trong báo cáo): chỉ tính đoạn cuối cùng mà S liên tục từ 50 trở lên cho tới ngày vào KEV. Nếu giữa chừng điểm rơi xuống dưới 50 thì đếm lại từ lần trở lại. Ví dụ Jira: S đạt 50 lần đầu 03/2023, rơi xuống, trở lại 02/2024, vào KEV 12/11/2024, nên giữ liên tục khoảng 8 tháng chứ không phải 19 tháng.
24 / 156: có 328 lỗ hổng KEV từ 01/04/2023 có CVSS dưới 8,0; 156 lỗ hổng có điểm EPSS 30 ngày trước khi vào KEV; 24 lỗ hổng đạt S từ 50 tại thời điểm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sách đầy đủ 24 lỗ hổng (khoảng 1 phút).
Đây là toàn bộ 24 lỗ hổng mà quy tắc CSA bỏ qua nhưng công thức S đã xếp vào nhóm ưu tiên trước khi CISA xác nhận, sắp theo thời gian giữ liên tục.
Cột "S trước 30 ngày" là điểm S vào thời điểm 30 ngày trước khi vào KEV. Cột "Giữ liên tục" là số tháng điểm S liên tục từ 50 trở lên cho tới ngày vào KEV, tức thời gian tổ chức thực sự để lỗ hổng trong danh sách phải vá. 15 trên 24 lỗ hổng được giữ từ 12 tháng trở lên, trung vị 14,3 tháng.
Cột cuối giải thích vì sao điểm lần đầu chạm 50. 12 lỗ hổng chạm 50 đúng tháng EPSS đổi mô hình, tức mô hình mới chấm lại lỗ hổng cũ; 4 lỗ hổng đã từ 50 ngay tháng đầu có dữ liệu; chỉ 8 lỗ hổng có điểm tăng dần theo tín hiệu khai thác. Chúng em ghi rõ điều này để không phóng đại khả năng báo trước của công thức.
Giải thích thêm (dùng khi được hỏi):
Cách đọc bảng:
"S trước 30 ngày": điểm S tại thời điểm 30 ngày trước khi lỗ hổng vào KEV.
"Giữ liên tục (tháng)": số tháng S liên tục từ 50 trở lên cho tới ngày vào KEV, tính bằng số ngày chia 30,44 (số ngày trung bình một tháng). Ví dụ CVE-2021-41277 (Metabase): S đạt 50 lần đầu 31/03/2023, rơi xuống khoảng 32 đến 39 từ 09/2023 đến 01/2024, trở lại 74 ngày 29/02/2024, vào KEV 12/11/2024, nên giữ liên tục 257 / 30,44 khoảng 8 tháng, trong khi tính từ lần đầu là 592 / 30,44 khoảng 19 tháng.
"Lần đầu đạt 50" giải thích vì sao điểm lần đầu chạm 50:
Đổi mô hình: EPSS do FIRST tính bằng mô hình máy học và đã đổi mô hình vào 02/2022, 03/2023 và 03/2025; mỗi lần đổi, điểm mọi lỗ hổng được tính lại cùng lúc. Lỗ hổng chạm 50 đúng tháng đổi là do mô hình mới chấm lại, không phải do tín hiệu khai thác mới.
Tháng đầu: đã từ 50 ngay tháng đầu tiên có điểm; 3 lỗ hổng ở 05/2021, tháng đầu của chuỗi dữ liệu, nên thời gian giữ là cận dưới.
Tăng dần: điểm tăng từ từ theo EPSS giữa hai lần đổi mô hình; chỉ 8 / 24 trường hợp là công thức thực sự thấy tín hiệu khai thác tăng lên.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Tình huống CSA vá thừa (khoảng 1 phút 30 giây).
Chiều ngược lại: lỗ hổng điểm rất cao nhưng thực tế chưa bị khai thác. Ngày 30/06/2025 có 30.308 lỗ hổng CVSS từ 9,0 chưa có trong KEV. Quy tắc CSA yêu cầu vá tất cả trong 48 giờ, nhưng trong 12 tháng sau chỉ 25 lỗ hổng vào KEV, tức 0,082 phần trăm.
Biểu đồ chia nhóm này theo điểm S. Cột xám là tỷ trọng khối lượng, cột đỏ là tỷ trọng số ca bị khai thác. Công thức hạ 73,40 phần trăm khối lượng xuống dưới 30 điểm. Nhóm S từ 70 chỉ bằng 6,20 phần trăm khối lượng nhưng chứa 52 phần trăm số ca bị khai thác; tỷ lệ bị khai thác của nhóm này gấp khoảng 22 lần nhóm dưới 30.
Cái giá cần nói rõ: nhóm bị hạ vẫn chứa 7 trên 25, tức 28 phần trăm số ca sau đó bị khai thác. Vì vậy các mức thấp vẫn có hạn vá, không phải bỏ qua.
Giải thích thêm (dùng khi được hỏi):
Tỷ trọng khối lượng vá = số lỗ hổng của nhóm chia 30.308. Tỷ trọng số bị khai thác = số ca của nhóm chia 25 ca.
Nhóm S từ 70: 1.879 / 30.308 = 6,20% khối lượng, 13 / 25 = 52% số ca. Nhóm S dưới 30: 22.245 / 30.308 = 73,40% khối lượng, 7 / 25 = 28% số ca.
"22 lần": tỷ lệ bị khai thác của nhóm S từ 70 là 13 / 1.879 = 0,692%, của nhóm dưới 30 là 7 / 22.245 = 0,031%; 0,692 / 0,031 khoảng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Thang điểm thay cho ngưỡng CVSS (khoảng 1 phút 30 giây).
Từ kết quả, chúng em đề xuất thay ngưỡng CVSS cố định bằng thang điểm S có hạn vá theo từng mức, bám theo các bậc 3, 14, 60 ngày của BOD 26-04. Bên cạnh mỗi mức là tỷ lệ bị khai thác so với trung bình, lấy từ kết quả ngày 30/06/2025.
Cách dùng: xét điều kiện khẩn cấp trước. Lỗ hổng đã có trong KEV hoặc tự động hóa được, trên tài sản phơi ra Internet, vá trong 3 ngày bất kể điểm. Ví dụ lỗ hổng KEV có CVSS 6,5 chỉ được 65 điểm nhưng vẫn phải vá trong 3 ngày. Sau đó mới tra điểm: từ 70 vá trong 7 ngày; 50 đến 69 là 14 ngày; 30 đến 49 là 30 ngày; 10 đến 29 là 60 ngày; dưới 10 vá ở lần nâng cấp kế tiếp.
Tài sản nội bộ có S bằng 0 nhưng vẫn có hạn theo BOD 26-04, vì kẻ tấn công đã vào mạng nội bộ dùng chính các lỗ hổng này để di chuyển ngang.
Phần đã kiểm chứng là thứ tự ưu tiên và tỷ lệ theo mức; các hạn 7, 14, 30, 60 ngày là đề xuất của nhóm.
Giải thích thêm (dùng khi được hỏi):
Cách tra thang điểm hai bước. Bước 1: xét điều kiện. Có trong KEV hoặc tự động hóa được, trên tài sản phơi ra Internet, thì vá trong 3 ngày bất kể điểm. Bước 2: nếu không thuộc điều kiện khẩn cấp thì tra điểm S.
"Gấp 28 lần", "gấp 7 lần"... là tỷ lệ vào KEV của mức đó so với trung bình 0,043%, lấy từ slide 11.
Tài sản nội bộ có S = 0 vẫn có hạn vá theo Bảng 1 của BOD 26-04, vì kẻ tấn công đã vào mạng nội bộ có thể dùng các lỗ hổng này để di chuyển ngang, tức lan từ máy này sang máy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Hạn chế (khoảng 1 phút 30 giây).
Chúng em nêu thẳng các giới hạn.
Thứ nhất, 27,15 phần trăm lỗ hổng vào KEV từ 01/04/2023 chưa có điểm EPSS trước khi vào KEV, vì được công bố và đưa vào KEV gần như cùng lúc. Với nhóm zero-day này, không công thức nào chấm trước được; chỉ thành phần KEV xử lý được.
Thứ hai, với lỗ hổng công bố không quá 30 ngày trước khi vào KEV, chỉ 4,46 phần trăm đạt S từ 70 trước đó. Điểm cao chủ yếu thuộc về lỗ hổng cũ.
Thứ ba, biến tự động hóa lấy từ Vulnrichment, nhưng dữ liệu này chỉ phủ khoảng 45,8 phần trăm số CVE theo ước tính của Securin.
Bên phải là những điểm chưa chứng minh được: S gần như ngang EPSS dùng riêng, giá trị thêm là đưa mức nghiêm trọng, bằng chứng KEV và tầm quan trọng tài sản vào thứ tự ưu tiên; AC và PE cần dữ liệu nội bộ; KEV chậm; điểm CVSS của NVD có thể được chấm muộn; và số mũ 0,3 không phải tối ưu chung.
Giải thích thêm (dùng khi được hỏi):
Zero-day ở đây: lỗ hổng bị khai thác từ trước hoặc ngay khi công bố, được công bố và đưa vào KEV gần như cùng lúc, nên chưa kịp có điểm EPSS.
Vulnrichment: chương trình của CISA bổ sung dữ liệu cho hồ sơ CVE, trong đó có biến Automatable dùng cho EA. Theo ước tính của Securin, dữ liệu này chỉ phủ khoảng 45,8% số CVE.
CNA là đơn vị được cấp quyền cấp mã CVE và thường chấm điểm CVSS đầu tiên; CISA-ADP là CISA với vai trò bên bổ sung dữ liệu cho hồ sơ CVE. Điểm NVD thường được bổ sung sau ngày công bố, nên có thể chưa có tại ngày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(khoảng 1 phút).
Ba kết luận. Một: lo ngại của CSA là có cơ sở, nhưng ngưỡng CVSS 8,0 không hiệu quả: 98,69 phần trăm nhóm phải vá trong 48 giờ chưa từng bị khai thác, 21 đến 44 phần trăm lỗ hổng bị khai thác bị bỏ qua, và đổi ngưỡng không giải quyết được.
Hai: công thức S, xây trên ba biến của BOD 26-04 cùng CVSS, EPSS và hệ số tài sản, cho nhóm vá khẩn cấp chỉ khoảng 1,4 đến 2 phần trăm số lỗ hổng, hiệu suất gấp 16 đến 34 lần chọn ngẫu nhiên ở cả 11 ngày, so với 1,7 đến 2,3 lần của quy tắc CSA; khi nguồn lực có hạn, S bắt được nhiều gấp 2,7 đến 8,9 lần cách xếp theo CVSS.
Ba: chúng em khuyến nghị thay ngưỡng CVSS cố định bằng thang điểm S, cùng hướng với Chỉ thị BOD 26-04.
Hướng tiếp theo: thêm tín hiệu sớm cho lỗ hổng mới công bố, kiểm chứng biến tự động hóa bằng Vulnrichment, và kiểm chứng PE, AC trên dữ liệu tài sản thật. Chúng em xin cảm ơn và sẵn sàng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Cảm ơn thầy và các bạn đã lắng nghe. Chúng em sẵn sàng trả lời câu hỏi.
Gợi ý chuẩn bị cho câu hỏi thường gặp:
1. Vì sao dùng KEV làm căn cứ: là nguồn công khai, có ngày ghi nhận, được CISA xác nhận; nhược điểm là chậm và chưa đầy đủ, đã nêu ở phần hạn chế.
2. Vì sao không dùng EPSS hiện tại: vì điểm hiện tại đã phản ánh việc khai thác xảy ra, dùng sẽ nhìn trước đáp án.
3. Vì sao chọn số mũ 0,3: nén thang EPSS; thử từ 0,2 đến 1,0 kết quả gần như nhau.
4. Công thức có tốt hơn EPSS không: không, gần như ngang; giá trị thêm là đưa mức nghiêm trọng, bằng chứng KEV, mức phơi ra Internet và tầm quan trọng tài sản vào thứ tự ưu tiên.
5. H1 chưa đạt nghĩa là gì: ở khối lượng vá rất lớn như quy tắc CSA, lợi thế của S so với CVSS chưa có ý nghĩa thống kê; lợi thế rõ khi nguồn lực vá có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NOI_DUNG-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KET_THUC-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O_DAU">
    <p:bg>
      <p:bgPr>
        <a:solidFill>
          <a:srgbClr val="FFFFFF"/>
        </a:solidFill>
      </p:bgPr>
    </p:bg>
    <p:spTree>
      <p:nvGrpSpPr>
        <p:cNvPr id="1" name=""/>
        <p:cNvGrpSpPr/>
        <p:nvPr/>
      </p:nvGrpSpPr>
      <p:grpSpPr>
        <a:xfrm>
          <a:off x="0" y="0"/>
          <a:ext cx="0" cy="0"/>
          <a:chOff x="0" y="0"/>
          <a:chExt cx="0" cy="0"/>
        </a:xfrm>
      </p:grpSpPr>
      <p:pic>
        <p:nvPicPr>
          <p:cNvPr id="2" name="Image 0" descr="/private/tmp/claude-501/-Users-apple-Workspace-personal-courses-Ch-nh-s-ch-v--Qu-n-tr--an-ninh-m-ng-Nh-m-14/817139ab-8bbf-473f-a75f-ddf8e0a9bc11/scratchpad/slide/mau/ppt/media/image3.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private/tmp/claude-501/-Users-apple-Workspace-personal-courses-Ch-nh-s-ch-v--Qu-n-tr--an-ninh-m-ng-Nh-m-14/817139ab-8bbf-473f-a75f-ddf8e0a9bc11/scratchpad/slide/mau/ppt/media/image4.png">    </p:cNvPr>
          <p:cNvPicPr>
            <a:picLocks noChangeAspect="1"/>
          </p:cNvPicPr>
          <p:nvPr/>
        </p:nvPicPr>
        <p:blipFill>
          <a:blip r:embed="rId2"/>
          <a:stretch>
            <a:fillRect/>
          </a:stretch>
        </p:blipFill>
        <p:spPr>
          <a:xfrm>
            <a:off x="530352" y="384048"/>
            <a:ext cx="1399032" cy="42062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OI_DU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rtlCol="0"/>
          <a:lstStyle>
            <a:lvl1pPr algn="l" indent="0" marL="0">
              <a:buNone/>
              <a:defRPr lang="en-US" sz="18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ET_THUC">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Cmt2" Type="http://schemas.openxmlformats.org/officeDocument/2006/relationships/comments" Target="../comments/commen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 Id="rIdCmt4" Type="http://schemas.openxmlformats.org/officeDocument/2006/relationships/comments" Target="../comments/commen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Cmt5" Type="http://schemas.openxmlformats.org/officeDocument/2006/relationships/comments" Target="../comments/comment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 Id="rIdCmt6" Type="http://schemas.openxmlformats.org/officeDocument/2006/relationships/comments" Target="../comments/commen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Cmt7" Type="http://schemas.openxmlformats.org/officeDocument/2006/relationships/comments" Target="../comments/commen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Cmt8" Type="http://schemas.openxmlformats.org/officeDocument/2006/relationships/comments" Target="../comments/commen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Cmt9" Type="http://schemas.openxmlformats.org/officeDocument/2006/relationships/comments" Target="../comments/commen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Cmt10" Type="http://schemas.openxmlformats.org/officeDocument/2006/relationships/comments" Target="../comments/comment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 Id="rIdCmt11" Type="http://schemas.openxmlformats.org/officeDocument/2006/relationships/comments" Target="../comments/comment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 Id="rIdCmt12" Type="http://schemas.openxmlformats.org/officeDocument/2006/relationships/comments" Target="../comments/comment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 Id="rIdCmt13" Type="http://schemas.openxmlformats.org/officeDocument/2006/relationships/comments" Target="../comments/commen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Cmt14" Type="http://schemas.openxmlformats.org/officeDocument/2006/relationships/comments" Target="../comments/commen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Cmt15" Type="http://schemas.openxmlformats.org/officeDocument/2006/relationships/comments" Target="../comments/comment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6.xml"/><Relationship Id="rIdCmt16" Type="http://schemas.openxmlformats.org/officeDocument/2006/relationships/comments" Target="../comments/commen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Cmt17" Type="http://schemas.openxmlformats.org/officeDocument/2006/relationships/comments" Target="../comments/commen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Cmt18" Type="http://schemas.openxmlformats.org/officeDocument/2006/relationships/comments" Target="../comments/comment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30352" y="1691640"/>
            <a:ext cx="5577840" cy="1554480"/>
          </a:xfrm>
          <a:prstGeom prst="rect">
            <a:avLst/>
          </a:prstGeom>
          <a:noFill/>
          <a:ln/>
        </p:spPr>
        <p:txBody>
          <a:bodyPr wrap="square" lIns="0" tIns="0" rIns="0" bIns="0" rtlCol="0" anchor="b"/>
          <a:lstStyle/>
          <a:p>
            <a:pPr indent="0" marL="0">
              <a:buNone/>
            </a:pPr>
            <a:r>
              <a:rPr lang="en-US" sz="2600" b="1" dirty="0">
                <a:solidFill>
                  <a:srgbClr val="C02034"/>
                </a:solidFill>
                <a:latin typeface="Calibri" pitchFamily="34" charset="0"/>
                <a:ea typeface="Calibri" pitchFamily="34" charset="-122"/>
                <a:cs typeface="Calibri" pitchFamily="34" charset="-120"/>
              </a:rPr>
              <a:t>KIỂM CHỨNG NGƯỠNG CVSS 8,0 CỦA CSA VÀ ĐỀ XUẤT CÔNG THỨC ƯU TIÊN VÁ LỖ HỔNG</a:t>
            </a:r>
            <a:endParaRPr lang="en-US" sz="2600" dirty="0"/>
          </a:p>
        </p:txBody>
      </p:sp>
      <p:sp>
        <p:nvSpPr>
          <p:cNvPr id="3" name="Text 1"/>
          <p:cNvSpPr txBox="1"/>
          <p:nvPr/>
        </p:nvSpPr>
        <p:spPr>
          <a:xfrm>
            <a:off x="530352" y="3364992"/>
            <a:ext cx="5760720" cy="292608"/>
          </a:xfrm>
          <a:prstGeom prst="rect">
            <a:avLst/>
          </a:prstGeom>
          <a:noFill/>
          <a:ln/>
        </p:spPr>
        <p:txBody>
          <a:bodyPr wrap="square" lIns="0" tIns="0" rIns="0" bIns="0" rtlCol="0" anchor="ctr"/>
          <a:lstStyle/>
          <a:p>
            <a:pPr indent="0" marL="0">
              <a:buNone/>
            </a:pPr>
            <a:r>
              <a:rPr lang="en-US" sz="1500" b="1" dirty="0">
                <a:solidFill>
                  <a:srgbClr val="C02034"/>
                </a:solidFill>
                <a:latin typeface="Calibri" pitchFamily="34" charset="0"/>
                <a:ea typeface="Calibri" pitchFamily="34" charset="-122"/>
                <a:cs typeface="Calibri" pitchFamily="34" charset="-120"/>
              </a:rPr>
              <a:t>Kết hợp CVSS, EPSS, CISA KEV và Chỉ thị BOD 26-04</a:t>
            </a:r>
            <a:endParaRPr lang="en-US" sz="1500" dirty="0"/>
          </a:p>
        </p:txBody>
      </p:sp>
      <p:sp>
        <p:nvSpPr>
          <p:cNvPr id="4" name="Text 2"/>
          <p:cNvSpPr txBox="1"/>
          <p:nvPr/>
        </p:nvSpPr>
        <p:spPr>
          <a:xfrm>
            <a:off x="530352" y="3712464"/>
            <a:ext cx="5760720" cy="23774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Trường Công nghệ Thông tin và Truyền thông, Đại học Bách khoa Hà Nội</a:t>
            </a:r>
            <a:endParaRPr lang="en-US" sz="1100" dirty="0"/>
          </a:p>
        </p:txBody>
      </p:sp>
      <p:sp>
        <p:nvSpPr>
          <p:cNvPr id="5" name="Text 3"/>
          <p:cNvSpPr txBox="1"/>
          <p:nvPr/>
        </p:nvSpPr>
        <p:spPr>
          <a:xfrm>
            <a:off x="530352" y="3968496"/>
            <a:ext cx="5760720" cy="23774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Học phần Chính sách và Quản trị an ninh mạng</a:t>
            </a:r>
            <a:endParaRPr lang="en-US" sz="1100" dirty="0"/>
          </a:p>
        </p:txBody>
      </p:sp>
      <p:sp>
        <p:nvSpPr>
          <p:cNvPr id="6" name="Text 4"/>
          <p:cNvSpPr txBox="1"/>
          <p:nvPr/>
        </p:nvSpPr>
        <p:spPr>
          <a:xfrm>
            <a:off x="530352" y="4224528"/>
            <a:ext cx="5760720" cy="23774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Giảng viên: TS. Nguyễn Đức Toàn, TS. Lê Xuân Thành</a:t>
            </a:r>
            <a:endParaRPr lang="en-US" sz="1100" dirty="0"/>
          </a:p>
        </p:txBody>
      </p:sp>
      <p:sp>
        <p:nvSpPr>
          <p:cNvPr id="7" name="Text 5"/>
          <p:cNvSpPr txBox="1"/>
          <p:nvPr/>
        </p:nvSpPr>
        <p:spPr>
          <a:xfrm>
            <a:off x="530352" y="4617720"/>
            <a:ext cx="2011680"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Trần Minh Vương</a:t>
            </a:r>
            <a:endParaRPr lang="en-US" sz="1200" dirty="0"/>
          </a:p>
        </p:txBody>
      </p:sp>
      <p:sp>
        <p:nvSpPr>
          <p:cNvPr id="8" name="Text 6"/>
          <p:cNvSpPr txBox="1"/>
          <p:nvPr/>
        </p:nvSpPr>
        <p:spPr>
          <a:xfrm>
            <a:off x="2514600" y="4617720"/>
            <a:ext cx="1188720" cy="237744"/>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 20252023M</a:t>
            </a:r>
            <a:endParaRPr lang="en-US" sz="1200" dirty="0"/>
          </a:p>
        </p:txBody>
      </p:sp>
      <p:sp>
        <p:nvSpPr>
          <p:cNvPr id="9" name="Text 7"/>
          <p:cNvSpPr txBox="1"/>
          <p:nvPr/>
        </p:nvSpPr>
        <p:spPr>
          <a:xfrm>
            <a:off x="530352" y="4910328"/>
            <a:ext cx="2011680"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Vũ Thành Huy</a:t>
            </a:r>
            <a:endParaRPr lang="en-US" sz="1200" dirty="0"/>
          </a:p>
        </p:txBody>
      </p:sp>
      <p:sp>
        <p:nvSpPr>
          <p:cNvPr id="10" name="Text 8"/>
          <p:cNvSpPr txBox="1"/>
          <p:nvPr/>
        </p:nvSpPr>
        <p:spPr>
          <a:xfrm>
            <a:off x="2514600" y="4910328"/>
            <a:ext cx="1188720" cy="237744"/>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 20252033M</a:t>
            </a:r>
            <a:endParaRPr lang="en-US" sz="1200" dirty="0"/>
          </a:p>
        </p:txBody>
      </p:sp>
      <p:sp>
        <p:nvSpPr>
          <p:cNvPr id="11" name="Text 9"/>
          <p:cNvSpPr txBox="1"/>
          <p:nvPr/>
        </p:nvSpPr>
        <p:spPr>
          <a:xfrm>
            <a:off x="530352" y="5202936"/>
            <a:ext cx="2011680"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Nguyễn Hoà Khiêm</a:t>
            </a:r>
            <a:endParaRPr lang="en-US" sz="1200" dirty="0"/>
          </a:p>
        </p:txBody>
      </p:sp>
      <p:sp>
        <p:nvSpPr>
          <p:cNvPr id="12" name="Text 10"/>
          <p:cNvSpPr txBox="1"/>
          <p:nvPr/>
        </p:nvSpPr>
        <p:spPr>
          <a:xfrm>
            <a:off x="2514600" y="5202936"/>
            <a:ext cx="1188720" cy="237744"/>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 20252031M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Ngưỡng CVSS 8,0 vá thừa và bỏ sót; công thức S chọn đúng chỗ hơn nhiều lần</a:t>
            </a:r>
            <a:endParaRPr lang="en-US" sz="1800" dirty="0"/>
          </a:p>
        </p:txBody>
      </p:sp>
      <p:sp>
        <p:nvSpPr>
          <p:cNvPr id="3" name="Shape 1"/>
          <p:cNvSpPr/>
          <p:nvPr/>
        </p:nvSpPr>
        <p:spPr>
          <a:xfrm>
            <a:off x="548640" y="1005840"/>
            <a:ext cx="251460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4" name="Text 2"/>
          <p:cNvSpPr txBox="1"/>
          <p:nvPr/>
        </p:nvSpPr>
        <p:spPr>
          <a:xfrm>
            <a:off x="749808" y="1143000"/>
            <a:ext cx="2148840" cy="502920"/>
          </a:xfrm>
          <a:prstGeom prst="rect">
            <a:avLst/>
          </a:prstGeom>
          <a:noFill/>
          <a:ln/>
        </p:spPr>
        <p:txBody>
          <a:bodyPr wrap="square" lIns="0" tIns="0" rIns="0" bIns="0" rtlCol="0" anchor="ctr"/>
          <a:lstStyle/>
          <a:p>
            <a:pPr indent="0" marL="0">
              <a:buNone/>
            </a:pPr>
            <a:r>
              <a:rPr lang="en-US" sz="3000" b="1" dirty="0">
                <a:solidFill>
                  <a:srgbClr val="C02034"/>
                </a:solidFill>
                <a:latin typeface="Calibri" pitchFamily="34" charset="0"/>
                <a:ea typeface="Calibri" pitchFamily="34" charset="-122"/>
                <a:cs typeface="Calibri" pitchFamily="34" charset="-120"/>
              </a:rPr>
              <a:t>98,69%</a:t>
            </a:r>
            <a:endParaRPr lang="en-US" sz="3000" dirty="0"/>
          </a:p>
        </p:txBody>
      </p:sp>
      <p:sp>
        <p:nvSpPr>
          <p:cNvPr id="5" name="Text 3"/>
          <p:cNvSpPr txBox="1"/>
          <p:nvPr/>
        </p:nvSpPr>
        <p:spPr>
          <a:xfrm>
            <a:off x="749808" y="1673352"/>
            <a:ext cx="214884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lỗ hổng phải vá trong 48 giờ chưa từng bị khai thác (65.845 / 66.722)</a:t>
            </a:r>
            <a:endParaRPr lang="en-US" sz="1100" dirty="0"/>
          </a:p>
        </p:txBody>
      </p:sp>
      <p:sp>
        <p:nvSpPr>
          <p:cNvPr id="6" name="Shape 4"/>
          <p:cNvSpPr/>
          <p:nvPr/>
        </p:nvSpPr>
        <p:spPr>
          <a:xfrm>
            <a:off x="3337560" y="1005840"/>
            <a:ext cx="251460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7" name="Text 5"/>
          <p:cNvSpPr txBox="1"/>
          <p:nvPr/>
        </p:nvSpPr>
        <p:spPr>
          <a:xfrm>
            <a:off x="3538728" y="1143000"/>
            <a:ext cx="2148840" cy="50292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16 đến 34 lần</a:t>
            </a:r>
            <a:endParaRPr lang="en-US" sz="2400" dirty="0"/>
          </a:p>
        </p:txBody>
      </p:sp>
      <p:sp>
        <p:nvSpPr>
          <p:cNvPr id="8" name="Text 6"/>
          <p:cNvSpPr txBox="1"/>
          <p:nvPr/>
        </p:nvSpPr>
        <p:spPr>
          <a:xfrm>
            <a:off x="3538728" y="1673352"/>
            <a:ext cx="214884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nhóm S từ 70 hiệu quả hơn chọn ngẫu nhiên; quy tắc CSA chỉ 1,7 đến 2,3 lần</a:t>
            </a:r>
            <a:endParaRPr lang="en-US" sz="1100" dirty="0"/>
          </a:p>
        </p:txBody>
      </p:sp>
      <p:sp>
        <p:nvSpPr>
          <p:cNvPr id="9" name="Shape 7"/>
          <p:cNvSpPr/>
          <p:nvPr/>
        </p:nvSpPr>
        <p:spPr>
          <a:xfrm>
            <a:off x="6126480" y="1005840"/>
            <a:ext cx="251460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0" name="Text 8"/>
          <p:cNvSpPr txBox="1"/>
          <p:nvPr/>
        </p:nvSpPr>
        <p:spPr>
          <a:xfrm>
            <a:off x="6327648" y="1143000"/>
            <a:ext cx="2148840" cy="50292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2,7 đến 8,9 lần</a:t>
            </a:r>
            <a:endParaRPr lang="en-US" sz="2400" dirty="0"/>
          </a:p>
        </p:txBody>
      </p:sp>
      <p:sp>
        <p:nvSpPr>
          <p:cNvPr id="11" name="Text 9"/>
          <p:cNvSpPr txBox="1"/>
          <p:nvPr/>
        </p:nvSpPr>
        <p:spPr>
          <a:xfrm>
            <a:off x="6327648" y="1673352"/>
            <a:ext cx="214884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số lỗ hổng sắp bị khai thác S bắt được so với xếp theo CVSS khi chỉ vá 1% đến 5%</a:t>
            </a:r>
            <a:endParaRPr lang="en-US" sz="1100" dirty="0"/>
          </a:p>
        </p:txBody>
      </p:sp>
      <p:sp>
        <p:nvSpPr>
          <p:cNvPr id="12" name="Shape 10"/>
          <p:cNvSpPr/>
          <p:nvPr/>
        </p:nvSpPr>
        <p:spPr>
          <a:xfrm>
            <a:off x="548640" y="2788920"/>
            <a:ext cx="8092440" cy="3246120"/>
          </a:xfrm>
          <a:prstGeom prst="roundRect">
            <a:avLst>
              <a:gd name="adj" fmla="val 2817"/>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3" name="Shape 11"/>
          <p:cNvSpPr/>
          <p:nvPr/>
        </p:nvSpPr>
        <p:spPr>
          <a:xfrm>
            <a:off x="777240" y="3017520"/>
            <a:ext cx="365760" cy="365760"/>
          </a:xfrm>
          <a:prstGeom prst="ellipse">
            <a:avLst/>
          </a:prstGeom>
          <a:solidFill>
            <a:srgbClr val="C02034"/>
          </a:solidFill>
          <a:ln w="12700">
            <a:solidFill>
              <a:srgbClr val="C02034"/>
            </a:solidFill>
            <a:prstDash val="solid"/>
          </a:ln>
        </p:spPr>
      </p:sp>
      <p:sp>
        <p:nvSpPr>
          <p:cNvPr id="14" name="Text 12"/>
          <p:cNvSpPr/>
          <p:nvPr/>
        </p:nvSpPr>
        <p:spPr>
          <a:xfrm>
            <a:off x="777240" y="3017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1280160" y="3035808"/>
            <a:ext cx="1188720" cy="365760"/>
          </a:xfrm>
          <a:prstGeom prst="rect">
            <a:avLst/>
          </a:prstGeom>
          <a:noFill/>
          <a:ln/>
        </p:spPr>
        <p:txBody>
          <a:bodyPr wrap="square" lIns="0" tIns="0" rIns="0" bIns="0" rtlCol="0" anchor="ctr"/>
          <a:lstStyle/>
          <a:p>
            <a:pPr indent="0" marL="0">
              <a:buNone/>
            </a:pPr>
            <a:r>
              <a:rPr lang="en-US" sz="1300" b="1" dirty="0">
                <a:solidFill>
                  <a:srgbClr val="C02034"/>
                </a:solidFill>
                <a:latin typeface="Calibri" pitchFamily="34" charset="0"/>
                <a:ea typeface="Calibri" pitchFamily="34" charset="-122"/>
                <a:cs typeface="Calibri" pitchFamily="34" charset="-120"/>
              </a:rPr>
              <a:t>CH1</a:t>
            </a:r>
            <a:endParaRPr lang="en-US" sz="1300" dirty="0"/>
          </a:p>
        </p:txBody>
      </p:sp>
      <p:sp>
        <p:nvSpPr>
          <p:cNvPr id="16" name="Text 14"/>
          <p:cNvSpPr txBox="1"/>
          <p:nvPr/>
        </p:nvSpPr>
        <p:spPr>
          <a:xfrm>
            <a:off x="2468880" y="2971800"/>
            <a:ext cx="5989320" cy="5486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Quy tắc CVSS 8,0 vá thừa và bỏ sót bao nhiêu? Vá thừa ở mọi cách đọc; bỏ sót từ 21% đến 44%</a:t>
            </a:r>
            <a:endParaRPr lang="en-US" sz="1250" dirty="0"/>
          </a:p>
        </p:txBody>
      </p:sp>
      <p:sp>
        <p:nvSpPr>
          <p:cNvPr id="17" name="Shape 15"/>
          <p:cNvSpPr/>
          <p:nvPr/>
        </p:nvSpPr>
        <p:spPr>
          <a:xfrm>
            <a:off x="777240" y="3749040"/>
            <a:ext cx="365760" cy="365760"/>
          </a:xfrm>
          <a:prstGeom prst="ellipse">
            <a:avLst/>
          </a:prstGeom>
          <a:solidFill>
            <a:srgbClr val="C02034"/>
          </a:solidFill>
          <a:ln w="12700">
            <a:solidFill>
              <a:srgbClr val="C02034"/>
            </a:solidFill>
            <a:prstDash val="solid"/>
          </a:ln>
        </p:spPr>
      </p:sp>
      <p:sp>
        <p:nvSpPr>
          <p:cNvPr id="18" name="Text 16"/>
          <p:cNvSpPr/>
          <p:nvPr/>
        </p:nvSpPr>
        <p:spPr>
          <a:xfrm>
            <a:off x="777240" y="3749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1280160" y="3767328"/>
            <a:ext cx="1188720" cy="365760"/>
          </a:xfrm>
          <a:prstGeom prst="rect">
            <a:avLst/>
          </a:prstGeom>
          <a:noFill/>
          <a:ln/>
        </p:spPr>
        <p:txBody>
          <a:bodyPr wrap="square" lIns="0" tIns="0" rIns="0" bIns="0" rtlCol="0" anchor="ctr"/>
          <a:lstStyle/>
          <a:p>
            <a:pPr indent="0" marL="0">
              <a:buNone/>
            </a:pPr>
            <a:r>
              <a:rPr lang="en-US" sz="1300" b="1" dirty="0">
                <a:solidFill>
                  <a:srgbClr val="C02034"/>
                </a:solidFill>
                <a:latin typeface="Calibri" pitchFamily="34" charset="0"/>
                <a:ea typeface="Calibri" pitchFamily="34" charset="-122"/>
                <a:cs typeface="Calibri" pitchFamily="34" charset="-120"/>
              </a:rPr>
              <a:t>CH2</a:t>
            </a:r>
            <a:endParaRPr lang="en-US" sz="1300" dirty="0"/>
          </a:p>
        </p:txBody>
      </p:sp>
      <p:sp>
        <p:nvSpPr>
          <p:cNvPr id="20" name="Text 18"/>
          <p:cNvSpPr txBox="1"/>
          <p:nvPr/>
        </p:nvSpPr>
        <p:spPr>
          <a:xfrm>
            <a:off x="2468880" y="3703320"/>
            <a:ext cx="5989320" cy="5486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Công thức S có tốt hơn khi chỉ dùng thông tin có tại ngày quyết định? Có, rõ nhất khi nguồn lực vá có hạn</a:t>
            </a:r>
            <a:endParaRPr lang="en-US" sz="1250" dirty="0"/>
          </a:p>
        </p:txBody>
      </p:sp>
      <p:sp>
        <p:nvSpPr>
          <p:cNvPr id="21" name="Shape 19"/>
          <p:cNvSpPr/>
          <p:nvPr/>
        </p:nvSpPr>
        <p:spPr>
          <a:xfrm>
            <a:off x="777240" y="4480560"/>
            <a:ext cx="365760" cy="365760"/>
          </a:xfrm>
          <a:prstGeom prst="ellipse">
            <a:avLst/>
          </a:prstGeom>
          <a:solidFill>
            <a:srgbClr val="C02034"/>
          </a:solidFill>
          <a:ln w="12700">
            <a:solidFill>
              <a:srgbClr val="C02034"/>
            </a:solidFill>
            <a:prstDash val="solid"/>
          </a:ln>
        </p:spPr>
      </p:sp>
      <p:sp>
        <p:nvSpPr>
          <p:cNvPr id="22" name="Text 20"/>
          <p:cNvSpPr/>
          <p:nvPr/>
        </p:nvSpPr>
        <p:spPr>
          <a:xfrm>
            <a:off x="777240" y="4480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txBox="1"/>
          <p:nvPr/>
        </p:nvSpPr>
        <p:spPr>
          <a:xfrm>
            <a:off x="1280160" y="4498848"/>
            <a:ext cx="1188720" cy="365760"/>
          </a:xfrm>
          <a:prstGeom prst="rect">
            <a:avLst/>
          </a:prstGeom>
          <a:noFill/>
          <a:ln/>
        </p:spPr>
        <p:txBody>
          <a:bodyPr wrap="square" lIns="0" tIns="0" rIns="0" bIns="0" rtlCol="0" anchor="ctr"/>
          <a:lstStyle/>
          <a:p>
            <a:pPr indent="0" marL="0">
              <a:buNone/>
            </a:pPr>
            <a:r>
              <a:rPr lang="en-US" sz="1300" b="1" dirty="0">
                <a:solidFill>
                  <a:srgbClr val="C02034"/>
                </a:solidFill>
                <a:latin typeface="Calibri" pitchFamily="34" charset="0"/>
                <a:ea typeface="Calibri" pitchFamily="34" charset="-122"/>
                <a:cs typeface="Calibri" pitchFamily="34" charset="-120"/>
              </a:rPr>
              <a:t>Đề xuất</a:t>
            </a:r>
            <a:endParaRPr lang="en-US" sz="1300" dirty="0"/>
          </a:p>
        </p:txBody>
      </p:sp>
      <p:sp>
        <p:nvSpPr>
          <p:cNvPr id="24" name="Text 22"/>
          <p:cNvSpPr txBox="1"/>
          <p:nvPr/>
        </p:nvSpPr>
        <p:spPr>
          <a:xfrm>
            <a:off x="2468880" y="4434840"/>
            <a:ext cx="5989320" cy="5486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Thang điểm S kèm hạn vá thay cho ngưỡng CVSS cố định, bám theo BOD 26-04</a:t>
            </a:r>
            <a:endParaRPr lang="en-US" sz="1250" dirty="0"/>
          </a:p>
        </p:txBody>
      </p:sp>
      <p:sp>
        <p:nvSpPr>
          <p:cNvPr id="25" name="Shape 23"/>
          <p:cNvSpPr/>
          <p:nvPr/>
        </p:nvSpPr>
        <p:spPr>
          <a:xfrm>
            <a:off x="777240" y="5212080"/>
            <a:ext cx="365760" cy="365760"/>
          </a:xfrm>
          <a:prstGeom prst="ellipse">
            <a:avLst/>
          </a:prstGeom>
          <a:solidFill>
            <a:srgbClr val="C02034"/>
          </a:solidFill>
          <a:ln w="12700">
            <a:solidFill>
              <a:srgbClr val="C02034"/>
            </a:solidFill>
            <a:prstDash val="solid"/>
          </a:ln>
        </p:spPr>
      </p:sp>
      <p:sp>
        <p:nvSpPr>
          <p:cNvPr id="26" name="Text 24"/>
          <p:cNvSpPr/>
          <p:nvPr/>
        </p:nvSpPr>
        <p:spPr>
          <a:xfrm>
            <a:off x="777240" y="5212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txBox="1"/>
          <p:nvPr/>
        </p:nvSpPr>
        <p:spPr>
          <a:xfrm>
            <a:off x="1280160" y="5230368"/>
            <a:ext cx="1188720" cy="365760"/>
          </a:xfrm>
          <a:prstGeom prst="rect">
            <a:avLst/>
          </a:prstGeom>
          <a:noFill/>
          <a:ln/>
        </p:spPr>
        <p:txBody>
          <a:bodyPr wrap="square" lIns="0" tIns="0" rIns="0" bIns="0" rtlCol="0" anchor="ctr"/>
          <a:lstStyle/>
          <a:p>
            <a:pPr indent="0" marL="0">
              <a:buNone/>
            </a:pPr>
            <a:r>
              <a:rPr lang="en-US" sz="1300" b="1" dirty="0">
                <a:solidFill>
                  <a:srgbClr val="C02034"/>
                </a:solidFill>
                <a:latin typeface="Calibri" pitchFamily="34" charset="0"/>
                <a:ea typeface="Calibri" pitchFamily="34" charset="-122"/>
                <a:cs typeface="Calibri" pitchFamily="34" charset="-120"/>
              </a:rPr>
              <a:t>Giới hạn</a:t>
            </a:r>
            <a:endParaRPr lang="en-US" sz="1300" dirty="0"/>
          </a:p>
        </p:txBody>
      </p:sp>
      <p:sp>
        <p:nvSpPr>
          <p:cNvPr id="28" name="Text 26"/>
          <p:cNvSpPr txBox="1"/>
          <p:nvPr/>
        </p:nvSpPr>
        <p:spPr>
          <a:xfrm>
            <a:off x="2468880" y="5166360"/>
            <a:ext cx="5989320" cy="5486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Ngang EPSS dùng riêng; chưa cảnh báo được lỗ hổng mới công bố; AC, PE, EA chưa kiểm chứng</a:t>
            </a:r>
            <a:endParaRPr lang="en-US" sz="125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CSA đề xuất vá trong 48 giờ mọi lỗ hổng CVSS trên 8,0 phơi ra Internet</a:t>
            </a:r>
            <a:endParaRPr lang="en-US" sz="1800" dirty="0"/>
          </a:p>
        </p:txBody>
      </p:sp>
      <p:sp>
        <p:nvSpPr>
          <p:cNvPr id="3" name="Text 1"/>
          <p:cNvSpPr txBox="1"/>
          <p:nvPr/>
        </p:nvSpPr>
        <p:spPr>
          <a:xfrm>
            <a:off x="548640" y="960120"/>
            <a:ext cx="420624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BẰNG CHỨNG BÀI BÁO CSA DẪN</a:t>
            </a:r>
            <a:endParaRPr lang="en-US" sz="1000" dirty="0"/>
          </a:p>
        </p:txBody>
      </p:sp>
      <p:sp>
        <p:nvSpPr>
          <p:cNvPr id="4" name="Shape 2"/>
          <p:cNvSpPr/>
          <p:nvPr/>
        </p:nvSpPr>
        <p:spPr>
          <a:xfrm>
            <a:off x="548640" y="1280160"/>
            <a:ext cx="4206240" cy="777240"/>
          </a:xfrm>
          <a:prstGeom prst="roundRect">
            <a:avLst>
              <a:gd name="adj" fmla="val 11765"/>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5" name="Text 3"/>
          <p:cNvSpPr txBox="1"/>
          <p:nvPr/>
        </p:nvSpPr>
        <p:spPr>
          <a:xfrm>
            <a:off x="731520" y="1353312"/>
            <a:ext cx="1234440" cy="640080"/>
          </a:xfrm>
          <a:prstGeom prst="rect">
            <a:avLst/>
          </a:prstGeom>
          <a:noFill/>
          <a:ln/>
        </p:spPr>
        <p:txBody>
          <a:bodyPr wrap="square" lIns="0" tIns="0" rIns="0" bIns="0" rtlCol="0" anchor="ctr"/>
          <a:lstStyle/>
          <a:p>
            <a:pPr indent="0" marL="0">
              <a:buNone/>
            </a:pPr>
            <a:r>
              <a:rPr lang="en-US" sz="2000" b="1" dirty="0">
                <a:solidFill>
                  <a:srgbClr val="C02034"/>
                </a:solidFill>
                <a:latin typeface="Calibri" pitchFamily="34" charset="0"/>
                <a:ea typeface="Calibri" pitchFamily="34" charset="-122"/>
                <a:cs typeface="Calibri" pitchFamily="34" charset="-120"/>
              </a:rPr>
              <a:t>87% và 7%</a:t>
            </a:r>
            <a:endParaRPr lang="en-US" sz="2000" dirty="0"/>
          </a:p>
        </p:txBody>
      </p:sp>
      <p:sp>
        <p:nvSpPr>
          <p:cNvPr id="6" name="Text 4"/>
          <p:cNvSpPr txBox="1"/>
          <p:nvPr/>
        </p:nvSpPr>
        <p:spPr>
          <a:xfrm>
            <a:off x="2011680" y="1325880"/>
            <a:ext cx="2606040" cy="6858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GPT-4 khai thác 87% trong 15 lỗ hổng một ngày khi có mô tả CVE, chỉ 7% khi không có</a:t>
            </a:r>
            <a:endParaRPr lang="en-US" sz="1150" dirty="0"/>
          </a:p>
        </p:txBody>
      </p:sp>
      <p:sp>
        <p:nvSpPr>
          <p:cNvPr id="7" name="Shape 5"/>
          <p:cNvSpPr/>
          <p:nvPr/>
        </p:nvSpPr>
        <p:spPr>
          <a:xfrm>
            <a:off x="548640" y="2194560"/>
            <a:ext cx="4206240" cy="777240"/>
          </a:xfrm>
          <a:prstGeom prst="roundRect">
            <a:avLst>
              <a:gd name="adj" fmla="val 11765"/>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8" name="Text 6"/>
          <p:cNvSpPr txBox="1"/>
          <p:nvPr/>
        </p:nvSpPr>
        <p:spPr>
          <a:xfrm>
            <a:off x="731520" y="2267712"/>
            <a:ext cx="1234440" cy="640080"/>
          </a:xfrm>
          <a:prstGeom prst="rect">
            <a:avLst/>
          </a:prstGeom>
          <a:noFill/>
          <a:ln/>
        </p:spPr>
        <p:txBody>
          <a:bodyPr wrap="square" lIns="0" tIns="0" rIns="0" bIns="0" rtlCol="0" anchor="ctr"/>
          <a:lstStyle/>
          <a:p>
            <a:pPr indent="0" marL="0">
              <a:buNone/>
            </a:pPr>
            <a:r>
              <a:rPr lang="en-US" sz="2000" b="1" dirty="0">
                <a:solidFill>
                  <a:srgbClr val="C02034"/>
                </a:solidFill>
                <a:latin typeface="Calibri" pitchFamily="34" charset="0"/>
                <a:ea typeface="Calibri" pitchFamily="34" charset="-122"/>
                <a:cs typeface="Calibri" pitchFamily="34" charset="-120"/>
              </a:rPr>
              <a:t>86%</a:t>
            </a:r>
            <a:endParaRPr lang="en-US" sz="2000" dirty="0"/>
          </a:p>
        </p:txBody>
      </p:sp>
      <p:sp>
        <p:nvSpPr>
          <p:cNvPr id="9" name="Text 7"/>
          <p:cNvSpPr txBox="1"/>
          <p:nvPr/>
        </p:nvSpPr>
        <p:spPr>
          <a:xfrm>
            <a:off x="2011680" y="2240280"/>
            <a:ext cx="2606040" cy="6858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Hệ thống tại DARPA AIxCC 2025 tìm ra 86% lỗ hổng tổng hợp và 18 lỗ hổng thật</a:t>
            </a:r>
            <a:endParaRPr lang="en-US" sz="1150" dirty="0"/>
          </a:p>
        </p:txBody>
      </p:sp>
      <p:sp>
        <p:nvSpPr>
          <p:cNvPr id="10" name="Shape 8"/>
          <p:cNvSpPr/>
          <p:nvPr/>
        </p:nvSpPr>
        <p:spPr>
          <a:xfrm>
            <a:off x="548640" y="3108960"/>
            <a:ext cx="4206240" cy="777240"/>
          </a:xfrm>
          <a:prstGeom prst="roundRect">
            <a:avLst>
              <a:gd name="adj" fmla="val 11765"/>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1" name="Text 9"/>
          <p:cNvSpPr txBox="1"/>
          <p:nvPr/>
        </p:nvSpPr>
        <p:spPr>
          <a:xfrm>
            <a:off x="731520" y="3182112"/>
            <a:ext cx="1234440" cy="640080"/>
          </a:xfrm>
          <a:prstGeom prst="rect">
            <a:avLst/>
          </a:prstGeom>
          <a:noFill/>
          <a:ln/>
        </p:spPr>
        <p:txBody>
          <a:bodyPr wrap="square" lIns="0" tIns="0" rIns="0" bIns="0" rtlCol="0" anchor="ctr"/>
          <a:lstStyle/>
          <a:p>
            <a:pPr indent="0" marL="0">
              <a:buNone/>
            </a:pPr>
            <a:r>
              <a:rPr lang="en-US" sz="2000" b="1" dirty="0">
                <a:solidFill>
                  <a:srgbClr val="C02034"/>
                </a:solidFill>
                <a:latin typeface="Calibri" pitchFamily="34" charset="0"/>
                <a:ea typeface="Calibri" pitchFamily="34" charset="-122"/>
                <a:cs typeface="Calibri" pitchFamily="34" charset="-120"/>
              </a:rPr>
              <a:t>37 / 40</a:t>
            </a:r>
            <a:endParaRPr lang="en-US" sz="2000" dirty="0"/>
          </a:p>
        </p:txBody>
      </p:sp>
      <p:sp>
        <p:nvSpPr>
          <p:cNvPr id="12" name="Text 10"/>
          <p:cNvSpPr txBox="1"/>
          <p:nvPr/>
        </p:nvSpPr>
        <p:spPr>
          <a:xfrm>
            <a:off x="2011680" y="3154680"/>
            <a:ext cx="2606040" cy="6858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Incalmo tự động chiếm tài sản quan trọng ở 37 trên 40 môi trường mô phỏng</a:t>
            </a:r>
            <a:endParaRPr lang="en-US" sz="1150" dirty="0"/>
          </a:p>
        </p:txBody>
      </p:sp>
      <p:sp>
        <p:nvSpPr>
          <p:cNvPr id="13" name="Shape 11"/>
          <p:cNvSpPr/>
          <p:nvPr/>
        </p:nvSpPr>
        <p:spPr>
          <a:xfrm>
            <a:off x="5029200" y="1280160"/>
            <a:ext cx="3611880" cy="2606040"/>
          </a:xfrm>
          <a:prstGeom prst="roundRect">
            <a:avLst>
              <a:gd name="adj" fmla="val 3509"/>
            </a:avLst>
          </a:prstGeom>
          <a:solidFill>
            <a:srgbClr val="FDECEE"/>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4" name="Text 12"/>
          <p:cNvSpPr txBox="1"/>
          <p:nvPr/>
        </p:nvSpPr>
        <p:spPr>
          <a:xfrm>
            <a:off x="5257800" y="1444752"/>
            <a:ext cx="3200400" cy="237744"/>
          </a:xfrm>
          <a:prstGeom prst="rect">
            <a:avLst/>
          </a:prstGeom>
          <a:noFill/>
          <a:ln/>
        </p:spPr>
        <p:txBody>
          <a:bodyPr wrap="square" lIns="0" tIns="0" rIns="0" bIns="0" rtlCol="0" anchor="ctr"/>
          <a:lstStyle/>
          <a:p>
            <a:pPr indent="0" marL="0">
              <a:buNone/>
            </a:pPr>
            <a:r>
              <a:rPr lang="en-US" sz="1000" b="1" spc="100" kern="0" dirty="0">
                <a:solidFill>
                  <a:srgbClr val="C02034"/>
                </a:solidFill>
                <a:latin typeface="Calibri" pitchFamily="34" charset="0"/>
                <a:ea typeface="Calibri" pitchFamily="34" charset="-122"/>
                <a:cs typeface="Calibri" pitchFamily="34" charset="-120"/>
              </a:rPr>
              <a:t>QUY TẮC CẦN KIỂM CHỨNG</a:t>
            </a:r>
            <a:endParaRPr lang="en-US" sz="1000" dirty="0"/>
          </a:p>
        </p:txBody>
      </p:sp>
      <p:sp>
        <p:nvSpPr>
          <p:cNvPr id="15" name="Text 13"/>
          <p:cNvSpPr txBox="1"/>
          <p:nvPr/>
        </p:nvSpPr>
        <p:spPr>
          <a:xfrm>
            <a:off x="5257800" y="1783080"/>
            <a:ext cx="3200400" cy="109728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CVSS trên 8,0 và hệ thống phơi ra Internet: vá trong 48 giờ</a:t>
            </a:r>
            <a:endParaRPr lang="en-US" sz="1700" dirty="0"/>
          </a:p>
        </p:txBody>
      </p:sp>
      <p:sp>
        <p:nvSpPr>
          <p:cNvPr id="16" name="Text 14"/>
          <p:cNvSpPr txBox="1"/>
          <p:nvPr/>
        </p:nvSpPr>
        <p:spPr>
          <a:xfrm>
            <a:off x="5257800" y="2926080"/>
            <a:ext cx="3200400" cy="8686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CSA không giải thích hay kiểm chứng ngưỡng 8,0, dù chính bài báo khuyên phải coi trọng khả năng bị khai thác</a:t>
            </a:r>
            <a:endParaRPr lang="en-US" sz="1100" dirty="0"/>
          </a:p>
        </p:txBody>
      </p:sp>
      <p:sp>
        <p:nvSpPr>
          <p:cNvPr id="17" name="Text 15"/>
          <p:cNvSpPr txBox="1"/>
          <p:nvPr/>
        </p:nvSpPr>
        <p:spPr>
          <a:xfrm>
            <a:off x="548640" y="4160520"/>
            <a:ext cx="804672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HAI CÂU HỎI CỦA BÀI</a:t>
            </a:r>
            <a:endParaRPr lang="en-US" sz="1000" dirty="0"/>
          </a:p>
        </p:txBody>
      </p:sp>
      <p:sp>
        <p:nvSpPr>
          <p:cNvPr id="18" name="Shape 16"/>
          <p:cNvSpPr/>
          <p:nvPr/>
        </p:nvSpPr>
        <p:spPr>
          <a:xfrm>
            <a:off x="548640" y="4480560"/>
            <a:ext cx="3931920" cy="1508760"/>
          </a:xfrm>
          <a:prstGeom prst="roundRect">
            <a:avLst>
              <a:gd name="adj" fmla="val 6061"/>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9" name="Shape 17"/>
          <p:cNvSpPr/>
          <p:nvPr/>
        </p:nvSpPr>
        <p:spPr>
          <a:xfrm>
            <a:off x="731520" y="4709160"/>
            <a:ext cx="566928" cy="566928"/>
          </a:xfrm>
          <a:prstGeom prst="ellipse">
            <a:avLst/>
          </a:prstGeom>
          <a:solidFill>
            <a:srgbClr val="C02034"/>
          </a:solidFill>
          <a:ln w="12700">
            <a:solidFill>
              <a:srgbClr val="C02034"/>
            </a:solidFill>
            <a:prstDash val="solid"/>
          </a:ln>
        </p:spPr>
      </p:sp>
      <p:sp>
        <p:nvSpPr>
          <p:cNvPr id="20" name="Text 18"/>
          <p:cNvSpPr/>
          <p:nvPr/>
        </p:nvSpPr>
        <p:spPr>
          <a:xfrm>
            <a:off x="731520" y="470916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CH1</a:t>
            </a:r>
            <a:endParaRPr lang="en-US" sz="1300" dirty="0"/>
          </a:p>
        </p:txBody>
      </p:sp>
      <p:sp>
        <p:nvSpPr>
          <p:cNvPr id="21" name="Text 19"/>
          <p:cNvSpPr txBox="1"/>
          <p:nvPr/>
        </p:nvSpPr>
        <p:spPr>
          <a:xfrm>
            <a:off x="1463040" y="4590288"/>
            <a:ext cx="2880360" cy="128016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Trên dữ liệu thật, quy tắc ngưỡng CVSS 8,0 vá thừa và bỏ sót bao nhiêu?</a:t>
            </a:r>
            <a:endParaRPr lang="en-US" sz="1250" dirty="0"/>
          </a:p>
        </p:txBody>
      </p:sp>
      <p:sp>
        <p:nvSpPr>
          <p:cNvPr id="22" name="Shape 20"/>
          <p:cNvSpPr/>
          <p:nvPr/>
        </p:nvSpPr>
        <p:spPr>
          <a:xfrm>
            <a:off x="4709160" y="4480560"/>
            <a:ext cx="3931920" cy="1508760"/>
          </a:xfrm>
          <a:prstGeom prst="roundRect">
            <a:avLst>
              <a:gd name="adj" fmla="val 6061"/>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23" name="Shape 21"/>
          <p:cNvSpPr/>
          <p:nvPr/>
        </p:nvSpPr>
        <p:spPr>
          <a:xfrm>
            <a:off x="4892040" y="4709160"/>
            <a:ext cx="566928" cy="566928"/>
          </a:xfrm>
          <a:prstGeom prst="ellipse">
            <a:avLst/>
          </a:prstGeom>
          <a:solidFill>
            <a:srgbClr val="C02034"/>
          </a:solidFill>
          <a:ln w="12700">
            <a:solidFill>
              <a:srgbClr val="C02034"/>
            </a:solidFill>
            <a:prstDash val="solid"/>
          </a:ln>
        </p:spPr>
      </p:sp>
      <p:sp>
        <p:nvSpPr>
          <p:cNvPr id="24" name="Text 22"/>
          <p:cNvSpPr/>
          <p:nvPr/>
        </p:nvSpPr>
        <p:spPr>
          <a:xfrm>
            <a:off x="4892040" y="470916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CH2</a:t>
            </a:r>
            <a:endParaRPr lang="en-US" sz="1300" dirty="0"/>
          </a:p>
        </p:txBody>
      </p:sp>
      <p:sp>
        <p:nvSpPr>
          <p:cNvPr id="25" name="Text 23"/>
          <p:cNvSpPr txBox="1"/>
          <p:nvPr/>
        </p:nvSpPr>
        <p:spPr>
          <a:xfrm>
            <a:off x="5623560" y="4590288"/>
            <a:ext cx="2880360" cy="128016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Công thức kết hợp nhiều nguồn có sắp thứ tự ưu tiên tốt hơn quy tắc đó, khi chỉ dùng thông tin có tại thời điểm quyết định?</a:t>
            </a:r>
            <a:endParaRPr lang="en-US" sz="125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98,69% lỗ hổng phải vá chưa từng bị khai thác, 44,14% lỗ hổng bị khai thác bị bỏ qua</a:t>
            </a:r>
            <a:endParaRPr lang="en-US" sz="1800" dirty="0"/>
          </a:p>
        </p:txBody>
      </p:sp>
      <p:sp>
        <p:nvSpPr>
          <p:cNvPr id="3" name="Shape 1"/>
          <p:cNvSpPr/>
          <p:nvPr/>
        </p:nvSpPr>
        <p:spPr>
          <a:xfrm>
            <a:off x="548640" y="960120"/>
            <a:ext cx="5257800" cy="5074920"/>
          </a:xfrm>
          <a:prstGeom prst="roundRect">
            <a:avLst>
              <a:gd name="adj" fmla="val 1802"/>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graphicFrame>
        <p:nvGraphicFramePr>
          <p:cNvPr id="4" name="Chart 0" descr=""/>
          <p:cNvGraphicFramePr/>
          <p:nvPr/>
        </p:nvGraphicFramePr>
        <p:xfrm>
          <a:off x="685800" y="1051560"/>
          <a:ext cx="498348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 y="5623560"/>
            <a:ext cx="4937760" cy="32004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240.409 lỗ hổng có CVSS 3.x trong NVD (1999 đến 2025), 1.570 lỗ hổng trong KEV</a:t>
            </a:r>
            <a:endParaRPr lang="en-US" sz="1000" dirty="0"/>
          </a:p>
        </p:txBody>
      </p:sp>
      <p:sp>
        <p:nvSpPr>
          <p:cNvPr id="6" name="Text 3"/>
          <p:cNvSpPr txBox="1"/>
          <p:nvPr/>
        </p:nvSpPr>
        <p:spPr>
          <a:xfrm>
            <a:off x="6080760" y="1097280"/>
            <a:ext cx="2560320" cy="502920"/>
          </a:xfrm>
          <a:prstGeom prst="rect">
            <a:avLst/>
          </a:prstGeom>
          <a:noFill/>
          <a:ln/>
        </p:spPr>
        <p:txBody>
          <a:bodyPr wrap="square" lIns="0" tIns="0" rIns="0" bIns="0" rtlCol="0" anchor="ctr"/>
          <a:lstStyle/>
          <a:p>
            <a:pPr indent="0" marL="0">
              <a:buNone/>
            </a:pPr>
            <a:r>
              <a:rPr lang="en-US" sz="3000" b="1" dirty="0">
                <a:solidFill>
                  <a:srgbClr val="C02034"/>
                </a:solidFill>
                <a:latin typeface="Calibri" pitchFamily="34" charset="0"/>
                <a:ea typeface="Calibri" pitchFamily="34" charset="-122"/>
                <a:cs typeface="Calibri" pitchFamily="34" charset="-120"/>
              </a:rPr>
              <a:t>98,69%</a:t>
            </a:r>
            <a:endParaRPr lang="en-US" sz="3000" dirty="0"/>
          </a:p>
        </p:txBody>
      </p:sp>
      <p:sp>
        <p:nvSpPr>
          <p:cNvPr id="7" name="Text 4"/>
          <p:cNvSpPr txBox="1"/>
          <p:nvPr/>
        </p:nvSpPr>
        <p:spPr>
          <a:xfrm>
            <a:off x="6080760" y="1627632"/>
            <a:ext cx="25603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nhóm phải vá trong 48 giờ chưa từng bị khai thác (65.845 / 66.722): vá 76,1 lỗ hổng mới gặp 1 lỗ hổng bị khai thác</a:t>
            </a:r>
            <a:endParaRPr lang="en-US" sz="1100" dirty="0"/>
          </a:p>
        </p:txBody>
      </p:sp>
      <p:sp>
        <p:nvSpPr>
          <p:cNvPr id="8" name="Text 5"/>
          <p:cNvSpPr txBox="1"/>
          <p:nvPr/>
        </p:nvSpPr>
        <p:spPr>
          <a:xfrm>
            <a:off x="6080760" y="2606040"/>
            <a:ext cx="2560320" cy="502920"/>
          </a:xfrm>
          <a:prstGeom prst="rect">
            <a:avLst/>
          </a:prstGeom>
          <a:noFill/>
          <a:ln/>
        </p:spPr>
        <p:txBody>
          <a:bodyPr wrap="square" lIns="0" tIns="0" rIns="0" bIns="0" rtlCol="0" anchor="ctr"/>
          <a:lstStyle/>
          <a:p>
            <a:pPr indent="0" marL="0">
              <a:buNone/>
            </a:pPr>
            <a:r>
              <a:rPr lang="en-US" sz="3000" b="1" dirty="0">
                <a:solidFill>
                  <a:srgbClr val="C02034"/>
                </a:solidFill>
                <a:latin typeface="Calibri" pitchFamily="34" charset="0"/>
                <a:ea typeface="Calibri" pitchFamily="34" charset="-122"/>
                <a:cs typeface="Calibri" pitchFamily="34" charset="-120"/>
              </a:rPr>
              <a:t>44,14%</a:t>
            </a:r>
            <a:endParaRPr lang="en-US" sz="3000" dirty="0"/>
          </a:p>
        </p:txBody>
      </p:sp>
      <p:sp>
        <p:nvSpPr>
          <p:cNvPr id="9" name="Text 6"/>
          <p:cNvSpPr txBox="1"/>
          <p:nvPr/>
        </p:nvSpPr>
        <p:spPr>
          <a:xfrm>
            <a:off x="6080760" y="3136392"/>
            <a:ext cx="25603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lỗ hổng KEV có CVSS dưới 8,0 nên bị bỏ qua (693 / 1.570)</a:t>
            </a:r>
            <a:endParaRPr lang="en-US" sz="1100" dirty="0"/>
          </a:p>
        </p:txBody>
      </p:sp>
      <p:sp>
        <p:nvSpPr>
          <p:cNvPr id="10" name="Text 7"/>
          <p:cNvSpPr txBox="1"/>
          <p:nvPr/>
        </p:nvSpPr>
        <p:spPr>
          <a:xfrm>
            <a:off x="6080760" y="3931920"/>
            <a:ext cx="2560320" cy="502920"/>
          </a:xfrm>
          <a:prstGeom prst="rect">
            <a:avLst/>
          </a:prstGeom>
          <a:noFill/>
          <a:ln/>
        </p:spPr>
        <p:txBody>
          <a:bodyPr wrap="square" lIns="0" tIns="0" rIns="0" bIns="0" rtlCol="0" anchor="ctr"/>
          <a:lstStyle/>
          <a:p>
            <a:pPr indent="0" marL="0">
              <a:buNone/>
            </a:pPr>
            <a:r>
              <a:rPr lang="en-US" sz="2000" b="1" dirty="0">
                <a:solidFill>
                  <a:srgbClr val="C02034"/>
                </a:solidFill>
                <a:latin typeface="Calibri" pitchFamily="34" charset="0"/>
                <a:ea typeface="Calibri" pitchFamily="34" charset="-122"/>
                <a:cs typeface="Calibri" pitchFamily="34" charset="-120"/>
              </a:rPr>
              <a:t>1,06% đến 1,54%</a:t>
            </a:r>
            <a:endParaRPr lang="en-US" sz="2000" dirty="0"/>
          </a:p>
        </p:txBody>
      </p:sp>
      <p:sp>
        <p:nvSpPr>
          <p:cNvPr id="11" name="Text 8"/>
          <p:cNvSpPr txBox="1"/>
          <p:nvPr/>
        </p:nvSpPr>
        <p:spPr>
          <a:xfrm>
            <a:off x="6080760" y="4462272"/>
            <a:ext cx="25603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lỗ hổng bị khai thác trong nhóm phải vá, ở cả ba ngưỡng</a:t>
            </a:r>
            <a:endParaRPr lang="en-US" sz="1100" dirty="0"/>
          </a:p>
        </p:txBody>
      </p:sp>
      <p:sp>
        <p:nvSpPr>
          <p:cNvPr id="12" name="Text 9"/>
          <p:cNvSpPr txBox="1"/>
          <p:nvPr/>
        </p:nvSpPr>
        <p:spPr>
          <a:xfrm>
            <a:off x="6080760" y="5349240"/>
            <a:ext cx="2560320" cy="640080"/>
          </a:xfrm>
          <a:prstGeom prst="rect">
            <a:avLst/>
          </a:prstGeom>
          <a:noFill/>
          <a:ln/>
        </p:spPr>
        <p:txBody>
          <a:bodyPr wrap="square" lIns="0" tIns="0" rIns="0" bIns="0"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Không ngưỡng CVSS nào giảm được cả hai lỗi.</a:t>
            </a:r>
            <a:endParaRPr lang="en-US" sz="120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Đọc khuyến nghị CSA sát hơn chỉ giảm bỏ sót, vá thừa vẫn giữ nguyên</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92440" cy="914400"/>
        </p:xfrm>
        <a:graphic>
          <a:graphicData uri="http://schemas.openxmlformats.org/drawingml/2006/table">
            <a:tbl>
              <a:tblPr/>
              <a:tblGrid>
                <a:gridCol w="3337560"/>
                <a:gridCol w="1051560"/>
                <a:gridCol w="1188720"/>
                <a:gridCol w="1508760"/>
                <a:gridCol w="100584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Cách đọc khuyến nghị</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Phải vá</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Bỏ sót KEV</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Bị khai thác trong nhóm vá</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Vá cho 1 ca</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r>
              <a:tr h="475488">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Q0. CVSS từ 8,0</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27,75%</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44,14%</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C02034"/>
                          </a:solidFill>
                          <a:latin typeface="Calibri" pitchFamily="34" charset="0"/>
                          <a:ea typeface="Calibri" pitchFamily="34" charset="-122"/>
                          <a:cs typeface="Calibri" pitchFamily="34" charset="-120"/>
                        </a:rPr>
                        <a:t>1,31%</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76,1</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75488">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Q1. CVSS trên 8,0 (nghĩa chặt)</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27,35%</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44,71%</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2034"/>
                          </a:solidFill>
                          <a:latin typeface="Calibri" pitchFamily="34" charset="0"/>
                          <a:ea typeface="Calibri" pitchFamily="34" charset="-122"/>
                          <a:cs typeface="Calibri" pitchFamily="34" charset="-120"/>
                        </a:rPr>
                        <a:t>1,32%</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75,8</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Q2. Q0, chỉ lỗ hổng khai thác qua mạng (AV:N)</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35,97%</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26,25%</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C02034"/>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74,6</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75488">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Q3. Q0 hoặc đã có PoC công khai</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29,01%</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33,12%</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2034"/>
                          </a:solidFill>
                          <a:latin typeface="Calibri" pitchFamily="34" charset="0"/>
                          <a:ea typeface="Calibri" pitchFamily="34" charset="-122"/>
                          <a:cs typeface="Calibri" pitchFamily="34" charset="-120"/>
                        </a:rPr>
                        <a:t>1,51%</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66,4</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Q4. Q3, chỉ lỗ hổng AV:N</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37,11%</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20,73%</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C02034"/>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71,6</a:t>
                      </a:r>
                      <a:endParaRPr lang="en-US" sz="120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4" name="Text 1"/>
          <p:cNvSpPr txBox="1"/>
          <p:nvPr/>
        </p:nvSpPr>
        <p:spPr>
          <a:xfrm>
            <a:off x="548640" y="3931920"/>
            <a:ext cx="809244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Q2 và Q4 chỉ xét 174.803 lỗ hổng có vector AV:N, xấp xỉ điều kiện phơi ra Internet; PoC lấy từ Exploit-DB</a:t>
            </a:r>
            <a:endParaRPr lang="en-US" sz="1000" dirty="0"/>
          </a:p>
        </p:txBody>
      </p:sp>
      <p:sp>
        <p:nvSpPr>
          <p:cNvPr id="5" name="Shape 2"/>
          <p:cNvSpPr/>
          <p:nvPr/>
        </p:nvSpPr>
        <p:spPr>
          <a:xfrm>
            <a:off x="548640" y="4343400"/>
            <a:ext cx="3886200" cy="1645920"/>
          </a:xfrm>
          <a:prstGeom prst="roundRect">
            <a:avLst>
              <a:gd name="adj" fmla="val 5556"/>
            </a:avLst>
          </a:prstGeom>
          <a:solidFill>
            <a:srgbClr val="FDECEE"/>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6" name="Text 3"/>
          <p:cNvSpPr txBox="1"/>
          <p:nvPr/>
        </p:nvSpPr>
        <p:spPr>
          <a:xfrm>
            <a:off x="777240" y="4526280"/>
            <a:ext cx="3474720" cy="50292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1,31% đến 1,51%</a:t>
            </a:r>
            <a:endParaRPr lang="en-US" sz="2400" dirty="0"/>
          </a:p>
        </p:txBody>
      </p:sp>
      <p:sp>
        <p:nvSpPr>
          <p:cNvPr id="7" name="Text 4"/>
          <p:cNvSpPr txBox="1"/>
          <p:nvPr/>
        </p:nvSpPr>
        <p:spPr>
          <a:xfrm>
            <a:off x="777240" y="5056632"/>
            <a:ext cx="3474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nhóm phải vá bị khai thác ở mọi cách đọc: phải vá 66 đến 76 lỗ hổng mới gặp 1 ca</a:t>
            </a:r>
            <a:endParaRPr lang="en-US" sz="1100" dirty="0"/>
          </a:p>
        </p:txBody>
      </p:sp>
      <p:sp>
        <p:nvSpPr>
          <p:cNvPr id="8" name="Shape 5"/>
          <p:cNvSpPr/>
          <p:nvPr/>
        </p:nvSpPr>
        <p:spPr>
          <a:xfrm>
            <a:off x="4754880" y="4343400"/>
            <a:ext cx="3886200" cy="1645920"/>
          </a:xfrm>
          <a:prstGeom prst="roundRect">
            <a:avLst>
              <a:gd name="adj" fmla="val 5556"/>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9" name="Text 6"/>
          <p:cNvSpPr txBox="1"/>
          <p:nvPr/>
        </p:nvSpPr>
        <p:spPr>
          <a:xfrm>
            <a:off x="4983480" y="4526280"/>
            <a:ext cx="347472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HÀM Ý</a:t>
            </a:r>
            <a:endParaRPr lang="en-US" sz="1000" dirty="0"/>
          </a:p>
        </p:txBody>
      </p:sp>
      <p:sp>
        <p:nvSpPr>
          <p:cNvPr id="10" name="Text 7"/>
          <p:cNvSpPr txBox="1"/>
          <p:nvPr/>
        </p:nvSpPr>
        <p:spPr>
          <a:xfrm>
            <a:off x="4983480" y="4846320"/>
            <a:ext cx="3474720" cy="105156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Vấn đề nằm ở thước đo: CVSS không chứa thông tin lỗ hổng có đang bị khai thác hay không.</a:t>
            </a:r>
            <a:endParaRPr lang="en-US" sz="130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CISA đã bỏ hạn vá theo CVSS, chuyển sang bốn biến rủi ro trong BOD 26-04</a:t>
            </a:r>
            <a:endParaRPr lang="en-US" sz="1800" dirty="0"/>
          </a:p>
        </p:txBody>
      </p:sp>
      <p:sp>
        <p:nvSpPr>
          <p:cNvPr id="3" name="Text 1"/>
          <p:cNvSpPr txBox="1"/>
          <p:nvPr/>
        </p:nvSpPr>
        <p:spPr>
          <a:xfrm>
            <a:off x="548640" y="960120"/>
            <a:ext cx="804672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BỐN CÂU HỎI CÓ HOẶC KHÔNG, CHO TỪNG LỖ HỔNG TRÊN TỪNG TÀI SẢN</a:t>
            </a:r>
            <a:endParaRPr lang="en-US" sz="1000" dirty="0"/>
          </a:p>
        </p:txBody>
      </p:sp>
      <p:sp>
        <p:nvSpPr>
          <p:cNvPr id="4" name="Shape 2"/>
          <p:cNvSpPr/>
          <p:nvPr/>
        </p:nvSpPr>
        <p:spPr>
          <a:xfrm>
            <a:off x="548640" y="1280160"/>
            <a:ext cx="1874520" cy="1965960"/>
          </a:xfrm>
          <a:prstGeom prst="roundRect">
            <a:avLst>
              <a:gd name="adj" fmla="val 4878"/>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5" name="Shape 3"/>
          <p:cNvSpPr/>
          <p:nvPr/>
        </p:nvSpPr>
        <p:spPr>
          <a:xfrm>
            <a:off x="731520" y="1444752"/>
            <a:ext cx="502920" cy="502920"/>
          </a:xfrm>
          <a:prstGeom prst="ellipse">
            <a:avLst/>
          </a:prstGeom>
          <a:solidFill>
            <a:srgbClr val="FDECEE"/>
          </a:solidFill>
          <a:ln w="12700">
            <a:solidFill>
              <a:srgbClr val="FDECEE"/>
            </a:solidFill>
            <a:prstDash val="solid"/>
          </a:ln>
        </p:spPr>
      </p:sp>
      <p:pic>
        <p:nvPicPr>
          <p:cNvPr id="6" name="Image 0" descr="preencoded.png">    </p:cNvPr>
          <p:cNvPicPr>
            <a:picLocks noChangeAspect="1"/>
          </p:cNvPicPr>
          <p:nvPr/>
        </p:nvPicPr>
        <p:blipFill>
          <a:blip r:embed="rId1"/>
          <a:stretch>
            <a:fillRect/>
          </a:stretch>
        </p:blipFill>
        <p:spPr>
          <a:xfrm>
            <a:off x="842162" y="1555394"/>
            <a:ext cx="281635" cy="281635"/>
          </a:xfrm>
          <a:prstGeom prst="rect">
            <a:avLst/>
          </a:prstGeom>
        </p:spPr>
      </p:pic>
      <p:sp>
        <p:nvSpPr>
          <p:cNvPr id="7" name="Text 4"/>
          <p:cNvSpPr txBox="1"/>
          <p:nvPr/>
        </p:nvSpPr>
        <p:spPr>
          <a:xfrm>
            <a:off x="731520" y="2029968"/>
            <a:ext cx="1554480" cy="320040"/>
          </a:xfrm>
          <a:prstGeom prst="rect">
            <a:avLst/>
          </a:prstGeom>
          <a:noFill/>
          <a:ln/>
        </p:spPr>
        <p:txBody>
          <a:bodyPr wrap="square" lIns="0" tIns="0" rIns="0" bIns="0" rtlCol="0" anchor="t"/>
          <a:lstStyle/>
          <a:p>
            <a:pPr indent="0" marL="0">
              <a:buNone/>
            </a:pPr>
            <a:r>
              <a:rPr lang="en-US" sz="1300" b="1" dirty="0">
                <a:solidFill>
                  <a:srgbClr val="C02034"/>
                </a:solidFill>
                <a:latin typeface="Calibri" pitchFamily="34" charset="0"/>
                <a:ea typeface="Calibri" pitchFamily="34" charset="-122"/>
                <a:cs typeface="Calibri" pitchFamily="34" charset="-120"/>
              </a:rPr>
              <a:t>Phơi ra Internet</a:t>
            </a:r>
            <a:endParaRPr lang="en-US" sz="1300" dirty="0"/>
          </a:p>
        </p:txBody>
      </p:sp>
      <p:sp>
        <p:nvSpPr>
          <p:cNvPr id="8" name="Text 5"/>
          <p:cNvSpPr txBox="1"/>
          <p:nvPr/>
        </p:nvSpPr>
        <p:spPr>
          <a:xfrm>
            <a:off x="731520" y="2377440"/>
            <a:ext cx="1554480" cy="77724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Tài sản có truy cập được từ mạng công cộng?</a:t>
            </a:r>
            <a:endParaRPr lang="en-US" sz="1100" dirty="0"/>
          </a:p>
        </p:txBody>
      </p:sp>
      <p:sp>
        <p:nvSpPr>
          <p:cNvPr id="9" name="Shape 6"/>
          <p:cNvSpPr/>
          <p:nvPr/>
        </p:nvSpPr>
        <p:spPr>
          <a:xfrm>
            <a:off x="2606040" y="1280160"/>
            <a:ext cx="1874520" cy="1965960"/>
          </a:xfrm>
          <a:prstGeom prst="roundRect">
            <a:avLst>
              <a:gd name="adj" fmla="val 4878"/>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0" name="Shape 7"/>
          <p:cNvSpPr/>
          <p:nvPr/>
        </p:nvSpPr>
        <p:spPr>
          <a:xfrm>
            <a:off x="2788920" y="1444752"/>
            <a:ext cx="502920" cy="502920"/>
          </a:xfrm>
          <a:prstGeom prst="ellipse">
            <a:avLst/>
          </a:prstGeom>
          <a:solidFill>
            <a:srgbClr val="FDECEE"/>
          </a:solidFill>
          <a:ln w="12700">
            <a:solidFill>
              <a:srgbClr val="FDECEE"/>
            </a:solidFill>
            <a:prstDash val="solid"/>
          </a:ln>
        </p:spPr>
      </p:sp>
      <p:pic>
        <p:nvPicPr>
          <p:cNvPr id="11" name="Image 1" descr="preencoded.png">    </p:cNvPr>
          <p:cNvPicPr>
            <a:picLocks noChangeAspect="1"/>
          </p:cNvPicPr>
          <p:nvPr/>
        </p:nvPicPr>
        <p:blipFill>
          <a:blip r:embed="rId2"/>
          <a:stretch>
            <a:fillRect/>
          </a:stretch>
        </p:blipFill>
        <p:spPr>
          <a:xfrm>
            <a:off x="2899562" y="1555394"/>
            <a:ext cx="281635" cy="281635"/>
          </a:xfrm>
          <a:prstGeom prst="rect">
            <a:avLst/>
          </a:prstGeom>
        </p:spPr>
      </p:pic>
      <p:sp>
        <p:nvSpPr>
          <p:cNvPr id="12" name="Text 8"/>
          <p:cNvSpPr txBox="1"/>
          <p:nvPr/>
        </p:nvSpPr>
        <p:spPr>
          <a:xfrm>
            <a:off x="2788920" y="2029968"/>
            <a:ext cx="1554480" cy="320040"/>
          </a:xfrm>
          <a:prstGeom prst="rect">
            <a:avLst/>
          </a:prstGeom>
          <a:noFill/>
          <a:ln/>
        </p:spPr>
        <p:txBody>
          <a:bodyPr wrap="square" lIns="0" tIns="0" rIns="0" bIns="0" rtlCol="0" anchor="t"/>
          <a:lstStyle/>
          <a:p>
            <a:pPr indent="0" marL="0">
              <a:buNone/>
            </a:pPr>
            <a:r>
              <a:rPr lang="en-US" sz="1300" b="1" dirty="0">
                <a:solidFill>
                  <a:srgbClr val="C02034"/>
                </a:solidFill>
                <a:latin typeface="Calibri" pitchFamily="34" charset="0"/>
                <a:ea typeface="Calibri" pitchFamily="34" charset="-122"/>
                <a:cs typeface="Calibri" pitchFamily="34" charset="-120"/>
              </a:rPr>
              <a:t>Có trong KEV</a:t>
            </a:r>
            <a:endParaRPr lang="en-US" sz="1300" dirty="0"/>
          </a:p>
        </p:txBody>
      </p:sp>
      <p:sp>
        <p:nvSpPr>
          <p:cNvPr id="13" name="Text 9"/>
          <p:cNvSpPr txBox="1"/>
          <p:nvPr/>
        </p:nvSpPr>
        <p:spPr>
          <a:xfrm>
            <a:off x="2788920" y="2377440"/>
            <a:ext cx="1554480" cy="77724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Lỗ hổng đã bị khai thác thực tế?</a:t>
            </a:r>
            <a:endParaRPr lang="en-US" sz="1100" dirty="0"/>
          </a:p>
        </p:txBody>
      </p:sp>
      <p:sp>
        <p:nvSpPr>
          <p:cNvPr id="14" name="Shape 10"/>
          <p:cNvSpPr/>
          <p:nvPr/>
        </p:nvSpPr>
        <p:spPr>
          <a:xfrm>
            <a:off x="4663440" y="1280160"/>
            <a:ext cx="1874520" cy="1965960"/>
          </a:xfrm>
          <a:prstGeom prst="roundRect">
            <a:avLst>
              <a:gd name="adj" fmla="val 4878"/>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5" name="Shape 11"/>
          <p:cNvSpPr/>
          <p:nvPr/>
        </p:nvSpPr>
        <p:spPr>
          <a:xfrm>
            <a:off x="4846320" y="1444752"/>
            <a:ext cx="502920" cy="502920"/>
          </a:xfrm>
          <a:prstGeom prst="ellipse">
            <a:avLst/>
          </a:prstGeom>
          <a:solidFill>
            <a:srgbClr val="FDECEE"/>
          </a:solidFill>
          <a:ln w="12700">
            <a:solidFill>
              <a:srgbClr val="FDECEE"/>
            </a:solidFill>
            <a:prstDash val="solid"/>
          </a:ln>
        </p:spPr>
      </p:sp>
      <p:pic>
        <p:nvPicPr>
          <p:cNvPr id="16" name="Image 2" descr="preencoded.png">    </p:cNvPr>
          <p:cNvPicPr>
            <a:picLocks noChangeAspect="1"/>
          </p:cNvPicPr>
          <p:nvPr/>
        </p:nvPicPr>
        <p:blipFill>
          <a:blip r:embed="rId3"/>
          <a:stretch>
            <a:fillRect/>
          </a:stretch>
        </p:blipFill>
        <p:spPr>
          <a:xfrm>
            <a:off x="4956962" y="1555394"/>
            <a:ext cx="281635" cy="281635"/>
          </a:xfrm>
          <a:prstGeom prst="rect">
            <a:avLst/>
          </a:prstGeom>
        </p:spPr>
      </p:pic>
      <p:sp>
        <p:nvSpPr>
          <p:cNvPr id="17" name="Text 12"/>
          <p:cNvSpPr txBox="1"/>
          <p:nvPr/>
        </p:nvSpPr>
        <p:spPr>
          <a:xfrm>
            <a:off x="4846320" y="2029968"/>
            <a:ext cx="1554480" cy="320040"/>
          </a:xfrm>
          <a:prstGeom prst="rect">
            <a:avLst/>
          </a:prstGeom>
          <a:noFill/>
          <a:ln/>
        </p:spPr>
        <p:txBody>
          <a:bodyPr wrap="square" lIns="0" tIns="0" rIns="0" bIns="0" rtlCol="0" anchor="t"/>
          <a:lstStyle/>
          <a:p>
            <a:pPr indent="0" marL="0">
              <a:buNone/>
            </a:pPr>
            <a:r>
              <a:rPr lang="en-US" sz="1300" b="1" dirty="0">
                <a:solidFill>
                  <a:srgbClr val="C02034"/>
                </a:solidFill>
                <a:latin typeface="Calibri" pitchFamily="34" charset="0"/>
                <a:ea typeface="Calibri" pitchFamily="34" charset="-122"/>
                <a:cs typeface="Calibri" pitchFamily="34" charset="-120"/>
              </a:rPr>
              <a:t>Tự động hóa được</a:t>
            </a:r>
            <a:endParaRPr lang="en-US" sz="1300" dirty="0"/>
          </a:p>
        </p:txBody>
      </p:sp>
      <p:sp>
        <p:nvSpPr>
          <p:cNvPr id="18" name="Text 13"/>
          <p:cNvSpPr txBox="1"/>
          <p:nvPr/>
        </p:nvSpPr>
        <p:spPr>
          <a:xfrm>
            <a:off x="4846320" y="2377440"/>
            <a:ext cx="1554480" cy="77724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Kẻ tấn công tự động hóa được toàn bộ chuỗi khai thác?</a:t>
            </a:r>
            <a:endParaRPr lang="en-US" sz="1100" dirty="0"/>
          </a:p>
        </p:txBody>
      </p:sp>
      <p:sp>
        <p:nvSpPr>
          <p:cNvPr id="19" name="Shape 14"/>
          <p:cNvSpPr/>
          <p:nvPr/>
        </p:nvSpPr>
        <p:spPr>
          <a:xfrm>
            <a:off x="6720840" y="1280160"/>
            <a:ext cx="1874520" cy="1965960"/>
          </a:xfrm>
          <a:prstGeom prst="roundRect">
            <a:avLst>
              <a:gd name="adj" fmla="val 4878"/>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20" name="Shape 15"/>
          <p:cNvSpPr/>
          <p:nvPr/>
        </p:nvSpPr>
        <p:spPr>
          <a:xfrm>
            <a:off x="6903720" y="1444752"/>
            <a:ext cx="502920" cy="502920"/>
          </a:xfrm>
          <a:prstGeom prst="ellipse">
            <a:avLst/>
          </a:prstGeom>
          <a:solidFill>
            <a:srgbClr val="FDECEE"/>
          </a:solidFill>
          <a:ln w="12700">
            <a:solidFill>
              <a:srgbClr val="FDECEE"/>
            </a:solidFill>
            <a:prstDash val="solid"/>
          </a:ln>
        </p:spPr>
      </p:sp>
      <p:pic>
        <p:nvPicPr>
          <p:cNvPr id="21" name="Image 3" descr="preencoded.png">    </p:cNvPr>
          <p:cNvPicPr>
            <a:picLocks noChangeAspect="1"/>
          </p:cNvPicPr>
          <p:nvPr/>
        </p:nvPicPr>
        <p:blipFill>
          <a:blip r:embed="rId4"/>
          <a:stretch>
            <a:fillRect/>
          </a:stretch>
        </p:blipFill>
        <p:spPr>
          <a:xfrm>
            <a:off x="7014362" y="1555394"/>
            <a:ext cx="281635" cy="281635"/>
          </a:xfrm>
          <a:prstGeom prst="rect">
            <a:avLst/>
          </a:prstGeom>
        </p:spPr>
      </p:pic>
      <p:sp>
        <p:nvSpPr>
          <p:cNvPr id="22" name="Text 16"/>
          <p:cNvSpPr txBox="1"/>
          <p:nvPr/>
        </p:nvSpPr>
        <p:spPr>
          <a:xfrm>
            <a:off x="6903720" y="2029968"/>
            <a:ext cx="1554480" cy="320040"/>
          </a:xfrm>
          <a:prstGeom prst="rect">
            <a:avLst/>
          </a:prstGeom>
          <a:noFill/>
          <a:ln/>
        </p:spPr>
        <p:txBody>
          <a:bodyPr wrap="square" lIns="0" tIns="0" rIns="0" bIns="0" rtlCol="0" anchor="t"/>
          <a:lstStyle/>
          <a:p>
            <a:pPr indent="0" marL="0">
              <a:buNone/>
            </a:pPr>
            <a:r>
              <a:rPr lang="en-US" sz="1300" b="1" dirty="0">
                <a:solidFill>
                  <a:srgbClr val="C02034"/>
                </a:solidFill>
                <a:latin typeface="Calibri" pitchFamily="34" charset="0"/>
                <a:ea typeface="Calibri" pitchFamily="34" charset="-122"/>
                <a:cs typeface="Calibri" pitchFamily="34" charset="-120"/>
              </a:rPr>
              <a:t>Tác động kỹ thuật</a:t>
            </a:r>
            <a:endParaRPr lang="en-US" sz="1300" dirty="0"/>
          </a:p>
        </p:txBody>
      </p:sp>
      <p:sp>
        <p:nvSpPr>
          <p:cNvPr id="23" name="Text 17"/>
          <p:cNvSpPr txBox="1"/>
          <p:nvPr/>
        </p:nvSpPr>
        <p:spPr>
          <a:xfrm>
            <a:off x="6903720" y="2377440"/>
            <a:ext cx="1554480" cy="77724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Khai thác xong chiếm toàn quyền hay một phần?</a:t>
            </a:r>
            <a:endParaRPr lang="en-US" sz="1100" dirty="0"/>
          </a:p>
        </p:txBody>
      </p:sp>
      <p:sp>
        <p:nvSpPr>
          <p:cNvPr id="24" name="Text 18"/>
          <p:cNvSpPr txBox="1"/>
          <p:nvPr/>
        </p:nvSpPr>
        <p:spPr>
          <a:xfrm>
            <a:off x="548640" y="3474720"/>
            <a:ext cx="804672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HẠN VÁ THEO TỔ HỢP CÂU TRẢ LỜI (BẢNG 1 CỦA CHỈ THỊ)</a:t>
            </a:r>
            <a:endParaRPr lang="en-US" sz="1000" dirty="0"/>
          </a:p>
        </p:txBody>
      </p:sp>
      <p:sp>
        <p:nvSpPr>
          <p:cNvPr id="25" name="Shape 19"/>
          <p:cNvSpPr/>
          <p:nvPr/>
        </p:nvSpPr>
        <p:spPr>
          <a:xfrm>
            <a:off x="548640" y="3794760"/>
            <a:ext cx="1508760" cy="868680"/>
          </a:xfrm>
          <a:prstGeom prst="roundRect">
            <a:avLst>
              <a:gd name="adj" fmla="val 8421"/>
            </a:avLst>
          </a:prstGeom>
          <a:solidFill>
            <a:srgbClr val="C02034"/>
          </a:solidFill>
          <a:ln w="6350">
            <a:solidFill>
              <a:srgbClr val="E2E8F0"/>
            </a:solidFill>
            <a:prstDash val="solid"/>
          </a:ln>
        </p:spPr>
      </p:sp>
      <p:sp>
        <p:nvSpPr>
          <p:cNvPr id="26" name="Text 20"/>
          <p:cNvSpPr txBox="1"/>
          <p:nvPr/>
        </p:nvSpPr>
        <p:spPr>
          <a:xfrm>
            <a:off x="594360" y="3858768"/>
            <a:ext cx="1417320"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3 ngày</a:t>
            </a:r>
            <a:endParaRPr lang="en-US" sz="1500" dirty="0"/>
          </a:p>
        </p:txBody>
      </p:sp>
      <p:sp>
        <p:nvSpPr>
          <p:cNvPr id="27" name="Text 21"/>
          <p:cNvSpPr txBox="1"/>
          <p:nvPr/>
        </p:nvSpPr>
        <p:spPr>
          <a:xfrm>
            <a:off x="594360" y="4224528"/>
            <a:ext cx="1417320" cy="365760"/>
          </a:xfrm>
          <a:prstGeom prst="rect">
            <a:avLst/>
          </a:prstGeom>
          <a:noFill/>
          <a:ln/>
        </p:spPr>
        <p:txBody>
          <a:bodyPr wrap="square" lIns="0" tIns="0" rIns="0" bIns="0"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kèm điều tra xâm nhập</a:t>
            </a:r>
            <a:endParaRPr lang="en-US" sz="950" dirty="0"/>
          </a:p>
        </p:txBody>
      </p:sp>
      <p:sp>
        <p:nvSpPr>
          <p:cNvPr id="28" name="Shape 22"/>
          <p:cNvSpPr/>
          <p:nvPr/>
        </p:nvSpPr>
        <p:spPr>
          <a:xfrm>
            <a:off x="2185416" y="3794760"/>
            <a:ext cx="1508760" cy="868680"/>
          </a:xfrm>
          <a:prstGeom prst="roundRect">
            <a:avLst>
              <a:gd name="adj" fmla="val 8421"/>
            </a:avLst>
          </a:prstGeom>
          <a:solidFill>
            <a:srgbClr val="D9485B"/>
          </a:solidFill>
          <a:ln w="6350">
            <a:solidFill>
              <a:srgbClr val="E2E8F0"/>
            </a:solidFill>
            <a:prstDash val="solid"/>
          </a:ln>
        </p:spPr>
      </p:sp>
      <p:sp>
        <p:nvSpPr>
          <p:cNvPr id="29" name="Text 23"/>
          <p:cNvSpPr txBox="1"/>
          <p:nvPr/>
        </p:nvSpPr>
        <p:spPr>
          <a:xfrm>
            <a:off x="2231136" y="3858768"/>
            <a:ext cx="1417320"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3 ngày</a:t>
            </a:r>
            <a:endParaRPr lang="en-US" sz="1500" dirty="0"/>
          </a:p>
        </p:txBody>
      </p:sp>
      <p:sp>
        <p:nvSpPr>
          <p:cNvPr id="30" name="Shape 24"/>
          <p:cNvSpPr/>
          <p:nvPr/>
        </p:nvSpPr>
        <p:spPr>
          <a:xfrm>
            <a:off x="3822192" y="3794760"/>
            <a:ext cx="1508760" cy="868680"/>
          </a:xfrm>
          <a:prstGeom prst="roundRect">
            <a:avLst>
              <a:gd name="adj" fmla="val 8421"/>
            </a:avLst>
          </a:prstGeom>
          <a:solidFill>
            <a:srgbClr val="F3B7BF"/>
          </a:solidFill>
          <a:ln w="6350">
            <a:solidFill>
              <a:srgbClr val="E2E8F0"/>
            </a:solidFill>
            <a:prstDash val="solid"/>
          </a:ln>
        </p:spPr>
      </p:sp>
      <p:sp>
        <p:nvSpPr>
          <p:cNvPr id="31" name="Text 25"/>
          <p:cNvSpPr txBox="1"/>
          <p:nvPr/>
        </p:nvSpPr>
        <p:spPr>
          <a:xfrm>
            <a:off x="3867912" y="3858768"/>
            <a:ext cx="1417320" cy="36576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14 ngày</a:t>
            </a:r>
            <a:endParaRPr lang="en-US" sz="1500" dirty="0"/>
          </a:p>
        </p:txBody>
      </p:sp>
      <p:sp>
        <p:nvSpPr>
          <p:cNvPr id="32" name="Shape 26"/>
          <p:cNvSpPr/>
          <p:nvPr/>
        </p:nvSpPr>
        <p:spPr>
          <a:xfrm>
            <a:off x="5458968" y="3794760"/>
            <a:ext cx="1508760" cy="868680"/>
          </a:xfrm>
          <a:prstGeom prst="roundRect">
            <a:avLst>
              <a:gd name="adj" fmla="val 8421"/>
            </a:avLst>
          </a:prstGeom>
          <a:solidFill>
            <a:srgbClr val="E2E8F0"/>
          </a:solidFill>
          <a:ln w="6350">
            <a:solidFill>
              <a:srgbClr val="E2E8F0"/>
            </a:solidFill>
            <a:prstDash val="solid"/>
          </a:ln>
        </p:spPr>
      </p:sp>
      <p:sp>
        <p:nvSpPr>
          <p:cNvPr id="33" name="Text 27"/>
          <p:cNvSpPr txBox="1"/>
          <p:nvPr/>
        </p:nvSpPr>
        <p:spPr>
          <a:xfrm>
            <a:off x="5504688" y="3858768"/>
            <a:ext cx="1417320" cy="36576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60 ngày</a:t>
            </a:r>
            <a:endParaRPr lang="en-US" sz="1500" dirty="0"/>
          </a:p>
        </p:txBody>
      </p:sp>
      <p:sp>
        <p:nvSpPr>
          <p:cNvPr id="34" name="Shape 28"/>
          <p:cNvSpPr/>
          <p:nvPr/>
        </p:nvSpPr>
        <p:spPr>
          <a:xfrm>
            <a:off x="7095744" y="3794760"/>
            <a:ext cx="1508760" cy="868680"/>
          </a:xfrm>
          <a:prstGeom prst="roundRect">
            <a:avLst>
              <a:gd name="adj" fmla="val 8421"/>
            </a:avLst>
          </a:prstGeom>
          <a:solidFill>
            <a:srgbClr val="F8FAFC"/>
          </a:solidFill>
          <a:ln w="6350">
            <a:solidFill>
              <a:srgbClr val="E2E8F0"/>
            </a:solidFill>
            <a:prstDash val="solid"/>
          </a:ln>
        </p:spPr>
      </p:sp>
      <p:sp>
        <p:nvSpPr>
          <p:cNvPr id="35" name="Text 29"/>
          <p:cNvSpPr txBox="1"/>
          <p:nvPr/>
        </p:nvSpPr>
        <p:spPr>
          <a:xfrm>
            <a:off x="7141464" y="3858768"/>
            <a:ext cx="1417320" cy="36576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Lần nâng cấp</a:t>
            </a:r>
            <a:endParaRPr lang="en-US" sz="1500" dirty="0"/>
          </a:p>
        </p:txBody>
      </p:sp>
      <p:sp>
        <p:nvSpPr>
          <p:cNvPr id="36" name="Text 30"/>
          <p:cNvSpPr txBox="1"/>
          <p:nvPr/>
        </p:nvSpPr>
        <p:spPr>
          <a:xfrm>
            <a:off x="7141464" y="4224528"/>
            <a:ext cx="1417320" cy="365760"/>
          </a:xfrm>
          <a:prstGeom prst="rect">
            <a:avLst/>
          </a:prstGeom>
          <a:noFill/>
          <a:ln/>
        </p:spPr>
        <p:txBody>
          <a:bodyPr wrap="square" lIns="0" tIns="0" rIns="0" bIns="0" rtlCol="0" anchor="t"/>
          <a:lstStyle/>
          <a:p>
            <a:pPr algn="ctr" indent="0" marL="0">
              <a:buNone/>
            </a:pPr>
            <a:r>
              <a:rPr lang="en-US" sz="950" dirty="0">
                <a:solidFill>
                  <a:srgbClr val="0F172A"/>
                </a:solidFill>
                <a:latin typeface="Calibri" pitchFamily="34" charset="0"/>
                <a:ea typeface="Calibri" pitchFamily="34" charset="-122"/>
                <a:cs typeface="Calibri" pitchFamily="34" charset="-120"/>
              </a:rPr>
              <a:t>hệ thống kế tiếp</a:t>
            </a:r>
            <a:endParaRPr lang="en-US" sz="950" dirty="0"/>
          </a:p>
        </p:txBody>
      </p:sp>
      <p:sp>
        <p:nvSpPr>
          <p:cNvPr id="37" name="Shape 31"/>
          <p:cNvSpPr/>
          <p:nvPr/>
        </p:nvSpPr>
        <p:spPr>
          <a:xfrm>
            <a:off x="548640" y="4892040"/>
            <a:ext cx="3931920" cy="1143000"/>
          </a:xfrm>
          <a:prstGeom prst="roundRect">
            <a:avLst>
              <a:gd name="adj" fmla="val 8000"/>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38" name="Text 32"/>
          <p:cNvSpPr txBox="1"/>
          <p:nvPr/>
        </p:nvSpPr>
        <p:spPr>
          <a:xfrm>
            <a:off x="731520" y="5029200"/>
            <a:ext cx="3611880" cy="914400"/>
          </a:xfrm>
          <a:prstGeom prst="rect">
            <a:avLst/>
          </a:prstGeom>
          <a:noFill/>
          <a:ln/>
        </p:spPr>
        <p:txBody>
          <a:bodyPr wrap="square" lIns="0" tIns="0" rIns="0" bIns="0" rtlCol="0" anchor="t"/>
          <a:lstStyle/>
          <a:p>
            <a:pPr indent="0" marL="0">
              <a:buNone/>
            </a:pPr>
            <a:r>
              <a:rPr lang="en-US" sz="1200" b="1" dirty="0">
                <a:solidFill>
                  <a:srgbClr val="C02034"/>
                </a:solidFill>
                <a:latin typeface="Calibri" pitchFamily="34" charset="0"/>
                <a:ea typeface="Calibri" pitchFamily="34" charset="-122"/>
                <a:cs typeface="Calibri" pitchFamily="34" charset="-120"/>
              </a:rPr>
              <a:t>Không còn yêu cầu dùng CVSS </a:t>
            </a:r>
            <a:pPr indent="0" marL="0">
              <a:buNone/>
            </a:pPr>
            <a:r>
              <a:rPr lang="en-US" sz="1200" dirty="0">
                <a:solidFill>
                  <a:srgbClr val="0F172A"/>
                </a:solidFill>
                <a:latin typeface="Calibri" pitchFamily="34" charset="0"/>
                <a:ea typeface="Calibri" pitchFamily="34" charset="-122"/>
                <a:cs typeface="Calibri" pitchFamily="34" charset="-120"/>
              </a:rPr>
              <a:t>để xếp ưu tiên khi thu hồi BOD 19-02 (hướng dẫn thực hiện, 10/06/2026)</a:t>
            </a:r>
            <a:endParaRPr lang="en-US" sz="1200" dirty="0"/>
          </a:p>
        </p:txBody>
      </p:sp>
      <p:sp>
        <p:nvSpPr>
          <p:cNvPr id="39" name="Shape 33"/>
          <p:cNvSpPr/>
          <p:nvPr/>
        </p:nvSpPr>
        <p:spPr>
          <a:xfrm>
            <a:off x="4709160" y="4892040"/>
            <a:ext cx="3931920" cy="1143000"/>
          </a:xfrm>
          <a:prstGeom prst="roundRect">
            <a:avLst>
              <a:gd name="adj" fmla="val 8000"/>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40" name="Text 34"/>
          <p:cNvSpPr txBox="1"/>
          <p:nvPr/>
        </p:nvSpPr>
        <p:spPr>
          <a:xfrm>
            <a:off x="4892040" y="5029200"/>
            <a:ext cx="3611880" cy="914400"/>
          </a:xfrm>
          <a:prstGeom prst="rect">
            <a:avLst/>
          </a:prstGeom>
          <a:noFill/>
          <a:ln/>
        </p:spPr>
        <p:txBody>
          <a:bodyPr wrap="square" lIns="0" tIns="0" rIns="0" bIns="0" rtlCol="0" anchor="t"/>
          <a:lstStyle/>
          <a:p>
            <a:pPr indent="0" marL="0">
              <a:buNone/>
            </a:pPr>
            <a:r>
              <a:rPr lang="en-US" sz="1200" b="1" dirty="0">
                <a:solidFill>
                  <a:srgbClr val="C02034"/>
                </a:solidFill>
                <a:latin typeface="Calibri" pitchFamily="34" charset="0"/>
                <a:ea typeface="Calibri" pitchFamily="34" charset="-122"/>
                <a:cs typeface="Calibri" pitchFamily="34" charset="-120"/>
              </a:rPr>
              <a:t>Chỉ 26% lỗ hổng KEV </a:t>
            </a:r>
            <a:pPr indent="0" marL="0">
              <a:buNone/>
            </a:pPr>
            <a:r>
              <a:rPr lang="en-US" sz="1200" dirty="0">
                <a:solidFill>
                  <a:srgbClr val="0F172A"/>
                </a:solidFill>
                <a:latin typeface="Calibri" pitchFamily="34" charset="0"/>
                <a:ea typeface="Calibri" pitchFamily="34" charset="-122"/>
                <a:cs typeface="Calibri" pitchFamily="34" charset="-120"/>
              </a:rPr>
              <a:t>được khắc phục hoàn toàn năm 2025, giảm từ 38% (Verizon DBIR 2026, CISA dẫn trong blog)</a:t>
            </a:r>
            <a:endParaRPr lang="en-US" sz="120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Công thức S gộp năm nguồn thông tin thành một điểm ưu tiên từ 0 đến 100</a:t>
            </a:r>
            <a:endParaRPr lang="en-US" sz="1800" dirty="0"/>
          </a:p>
        </p:txBody>
      </p:sp>
      <p:sp>
        <p:nvSpPr>
          <p:cNvPr id="3" name="Shape 1"/>
          <p:cNvSpPr/>
          <p:nvPr/>
        </p:nvSpPr>
        <p:spPr>
          <a:xfrm>
            <a:off x="548640" y="1005840"/>
            <a:ext cx="8092440" cy="1234440"/>
          </a:xfrm>
          <a:prstGeom prst="roundRect">
            <a:avLst>
              <a:gd name="adj" fmla="val 7407"/>
            </a:avLst>
          </a:prstGeom>
          <a:solidFill>
            <a:srgbClr val="FDECEE"/>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4" name="Text 2"/>
          <p:cNvSpPr txBox="1"/>
          <p:nvPr/>
        </p:nvSpPr>
        <p:spPr>
          <a:xfrm>
            <a:off x="731520" y="1097280"/>
            <a:ext cx="7726680" cy="685800"/>
          </a:xfrm>
          <a:prstGeom prst="rect">
            <a:avLst/>
          </a:prstGeom>
          <a:noFill/>
          <a:ln/>
        </p:spPr>
        <p:txBody>
          <a:bodyPr wrap="square" lIns="0" tIns="0" rIns="0" bIns="0" rtlCol="0" anchor="ctr"/>
          <a:lstStyle/>
          <a:p>
            <a:pPr algn="ctr" indent="0" marL="0">
              <a:buNone/>
            </a:pPr>
            <a:r>
              <a:rPr lang="en-US" sz="1800" b="1" dirty="0">
                <a:solidFill>
                  <a:srgbClr val="C02034"/>
                </a:solidFill>
                <a:latin typeface="Calibri" pitchFamily="34" charset="0"/>
                <a:ea typeface="Calibri" pitchFamily="34" charset="-122"/>
                <a:cs typeface="Calibri" pitchFamily="34" charset="-120"/>
              </a:rPr>
              <a:t>S = AC × CVSS × [ KEV × PE + (1 - KEV) × ( EA × PE + (1 - EA) × EPSS</a:t>
            </a:r>
            <a:pPr algn="ctr" indent="0" marL="0">
              <a:buNone/>
            </a:pPr>
            <a:r>
              <a:rPr lang="en-US" sz="1800" b="1" baseline="30000" dirty="0">
                <a:solidFill>
                  <a:srgbClr val="C02034"/>
                </a:solidFill>
                <a:latin typeface="Calibri" pitchFamily="34" charset="0"/>
                <a:ea typeface="Calibri" pitchFamily="34" charset="-122"/>
                <a:cs typeface="Calibri" pitchFamily="34" charset="-120"/>
              </a:rPr>
              <a:t>0,3</a:t>
            </a:r>
            <a:pPr algn="ctr" indent="0" marL="0">
              <a:buNone/>
            </a:pPr>
            <a:r>
              <a:rPr lang="en-US" sz="1800" b="1" dirty="0">
                <a:solidFill>
                  <a:srgbClr val="C02034"/>
                </a:solidFill>
                <a:latin typeface="Calibri" pitchFamily="34" charset="0"/>
                <a:ea typeface="Calibri" pitchFamily="34" charset="-122"/>
                <a:cs typeface="Calibri" pitchFamily="34" charset="-120"/>
              </a:rPr>
              <a:t> ) ] × 10</a:t>
            </a:r>
            <a:endParaRPr lang="en-US" sz="1800" dirty="0"/>
          </a:p>
        </p:txBody>
      </p:sp>
      <p:sp>
        <p:nvSpPr>
          <p:cNvPr id="5" name="Text 3"/>
          <p:cNvSpPr txBox="1"/>
          <p:nvPr/>
        </p:nvSpPr>
        <p:spPr>
          <a:xfrm>
            <a:off x="731520" y="1783080"/>
            <a:ext cx="7726680" cy="320040"/>
          </a:xfrm>
          <a:prstGeom prst="rect">
            <a:avLst/>
          </a:prstGeom>
          <a:noFill/>
          <a:ln/>
        </p:spPr>
        <p:txBody>
          <a:bodyPr wrap="square" lIns="0" tIns="0" rIns="0" bIns="0" rtlCol="0" anchor="t"/>
          <a:lstStyle/>
          <a:p>
            <a:pPr algn="ctr" indent="0" marL="0">
              <a:buNone/>
            </a:pPr>
            <a:r>
              <a:rPr lang="en-US" sz="1200" dirty="0">
                <a:solidFill>
                  <a:srgbClr val="334155"/>
                </a:solidFill>
                <a:latin typeface="Calibri" pitchFamily="34" charset="0"/>
                <a:ea typeface="Calibri" pitchFamily="34" charset="-122"/>
                <a:cs typeface="Calibri" pitchFamily="34" charset="-120"/>
              </a:rPr>
              <a:t>Phần trong ngoặc vuông là bộ lọc mối đe dọa T, nhận giá trị từ 0 đến 1</a:t>
            </a:r>
            <a:endParaRPr lang="en-US" sz="1200" dirty="0"/>
          </a:p>
        </p:txBody>
      </p:sp>
      <p:sp>
        <p:nvSpPr>
          <p:cNvPr id="6" name="Shape 4"/>
          <p:cNvSpPr/>
          <p:nvPr/>
        </p:nvSpPr>
        <p:spPr>
          <a:xfrm>
            <a:off x="548640" y="2514600"/>
            <a:ext cx="256032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7" name="Text 5"/>
          <p:cNvSpPr txBox="1"/>
          <p:nvPr/>
        </p:nvSpPr>
        <p:spPr>
          <a:xfrm>
            <a:off x="731520" y="2651760"/>
            <a:ext cx="2194560" cy="411480"/>
          </a:xfrm>
          <a:prstGeom prst="rect">
            <a:avLst/>
          </a:prstGeom>
          <a:noFill/>
          <a:ln/>
        </p:spPr>
        <p:txBody>
          <a:bodyPr wrap="square" lIns="0" tIns="0" rIns="0" bIns="0" rtlCol="0" anchor="t"/>
          <a:lstStyle/>
          <a:p>
            <a:pPr indent="0" marL="0">
              <a:buNone/>
            </a:pPr>
            <a:r>
              <a:rPr lang="en-US" sz="2000" b="1" dirty="0">
                <a:solidFill>
                  <a:srgbClr val="C02034"/>
                </a:solidFill>
                <a:latin typeface="Calibri" pitchFamily="34" charset="0"/>
                <a:ea typeface="Calibri" pitchFamily="34" charset="-122"/>
                <a:cs typeface="Calibri" pitchFamily="34" charset="-120"/>
              </a:rPr>
              <a:t>AC</a:t>
            </a:r>
            <a:endParaRPr lang="en-US" sz="2000" dirty="0"/>
          </a:p>
        </p:txBody>
      </p:sp>
      <p:sp>
        <p:nvSpPr>
          <p:cNvPr id="8" name="Text 6"/>
          <p:cNvSpPr txBox="1"/>
          <p:nvPr/>
        </p:nvSpPr>
        <p:spPr>
          <a:xfrm>
            <a:off x="731520" y="3081528"/>
            <a:ext cx="2194560" cy="36576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Mức quan trọng của tài sản</a:t>
            </a:r>
            <a:endParaRPr lang="en-US" sz="1250" dirty="0"/>
          </a:p>
        </p:txBody>
      </p:sp>
      <p:sp>
        <p:nvSpPr>
          <p:cNvPr id="9" name="Text 7"/>
          <p:cNvSpPr txBox="1"/>
          <p:nvPr/>
        </p:nvSpPr>
        <p:spPr>
          <a:xfrm>
            <a:off x="731520" y="3447288"/>
            <a:ext cx="2194560" cy="50292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0 đến 1, tổ chức tự xác định (CMDB)</a:t>
            </a:r>
            <a:endParaRPr lang="en-US" sz="1100" dirty="0"/>
          </a:p>
        </p:txBody>
      </p:sp>
      <p:sp>
        <p:nvSpPr>
          <p:cNvPr id="10" name="Shape 8"/>
          <p:cNvSpPr/>
          <p:nvPr/>
        </p:nvSpPr>
        <p:spPr>
          <a:xfrm>
            <a:off x="3291840" y="2514600"/>
            <a:ext cx="256032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1" name="Text 9"/>
          <p:cNvSpPr txBox="1"/>
          <p:nvPr/>
        </p:nvSpPr>
        <p:spPr>
          <a:xfrm>
            <a:off x="3474720" y="2651760"/>
            <a:ext cx="2194560" cy="411480"/>
          </a:xfrm>
          <a:prstGeom prst="rect">
            <a:avLst/>
          </a:prstGeom>
          <a:noFill/>
          <a:ln/>
        </p:spPr>
        <p:txBody>
          <a:bodyPr wrap="square" lIns="0" tIns="0" rIns="0" bIns="0" rtlCol="0" anchor="t"/>
          <a:lstStyle/>
          <a:p>
            <a:pPr indent="0" marL="0">
              <a:buNone/>
            </a:pPr>
            <a:r>
              <a:rPr lang="en-US" sz="2000" b="1" dirty="0">
                <a:solidFill>
                  <a:srgbClr val="C02034"/>
                </a:solidFill>
                <a:latin typeface="Calibri" pitchFamily="34" charset="0"/>
                <a:ea typeface="Calibri" pitchFamily="34" charset="-122"/>
                <a:cs typeface="Calibri" pitchFamily="34" charset="-120"/>
              </a:rPr>
              <a:t>CVSS</a:t>
            </a:r>
            <a:endParaRPr lang="en-US" sz="2000" dirty="0"/>
          </a:p>
        </p:txBody>
      </p:sp>
      <p:sp>
        <p:nvSpPr>
          <p:cNvPr id="12" name="Text 10"/>
          <p:cNvSpPr txBox="1"/>
          <p:nvPr/>
        </p:nvSpPr>
        <p:spPr>
          <a:xfrm>
            <a:off x="3474720" y="3081528"/>
            <a:ext cx="2194560" cy="36576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Mức nghiêm trọng kỹ thuật</a:t>
            </a:r>
            <a:endParaRPr lang="en-US" sz="1250" dirty="0"/>
          </a:p>
        </p:txBody>
      </p:sp>
      <p:sp>
        <p:nvSpPr>
          <p:cNvPr id="13" name="Text 11"/>
          <p:cNvSpPr txBox="1"/>
          <p:nvPr/>
        </p:nvSpPr>
        <p:spPr>
          <a:xfrm>
            <a:off x="3474720" y="3447288"/>
            <a:ext cx="2194560" cy="50292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0 đến 10, từ NVD</a:t>
            </a:r>
            <a:endParaRPr lang="en-US" sz="1100" dirty="0"/>
          </a:p>
        </p:txBody>
      </p:sp>
      <p:sp>
        <p:nvSpPr>
          <p:cNvPr id="14" name="Shape 12"/>
          <p:cNvSpPr/>
          <p:nvPr/>
        </p:nvSpPr>
        <p:spPr>
          <a:xfrm>
            <a:off x="6035040" y="2514600"/>
            <a:ext cx="256032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5" name="Text 13"/>
          <p:cNvSpPr txBox="1"/>
          <p:nvPr/>
        </p:nvSpPr>
        <p:spPr>
          <a:xfrm>
            <a:off x="6217920" y="2651760"/>
            <a:ext cx="2194560" cy="411480"/>
          </a:xfrm>
          <a:prstGeom prst="rect">
            <a:avLst/>
          </a:prstGeom>
          <a:noFill/>
          <a:ln/>
        </p:spPr>
        <p:txBody>
          <a:bodyPr wrap="square" lIns="0" tIns="0" rIns="0" bIns="0" rtlCol="0" anchor="t"/>
          <a:lstStyle/>
          <a:p>
            <a:pPr indent="0" marL="0">
              <a:buNone/>
            </a:pPr>
            <a:r>
              <a:rPr lang="en-US" sz="2000" b="1" dirty="0">
                <a:solidFill>
                  <a:srgbClr val="C02034"/>
                </a:solidFill>
                <a:latin typeface="Calibri" pitchFamily="34" charset="0"/>
                <a:ea typeface="Calibri" pitchFamily="34" charset="-122"/>
                <a:cs typeface="Calibri" pitchFamily="34" charset="-120"/>
              </a:rPr>
              <a:t>KEV</a:t>
            </a:r>
            <a:endParaRPr lang="en-US" sz="2000" dirty="0"/>
          </a:p>
        </p:txBody>
      </p:sp>
      <p:sp>
        <p:nvSpPr>
          <p:cNvPr id="16" name="Text 14"/>
          <p:cNvSpPr txBox="1"/>
          <p:nvPr/>
        </p:nvSpPr>
        <p:spPr>
          <a:xfrm>
            <a:off x="6217920" y="3081528"/>
            <a:ext cx="2194560" cy="36576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Đã bị khai thác thực tế</a:t>
            </a:r>
            <a:endParaRPr lang="en-US" sz="1250" dirty="0"/>
          </a:p>
        </p:txBody>
      </p:sp>
      <p:sp>
        <p:nvSpPr>
          <p:cNvPr id="17" name="Text 15"/>
          <p:cNvSpPr txBox="1"/>
          <p:nvPr/>
        </p:nvSpPr>
        <p:spPr>
          <a:xfrm>
            <a:off x="6217920" y="3447288"/>
            <a:ext cx="2194560" cy="50292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1 nếu có trong danh mục KEV</a:t>
            </a:r>
            <a:endParaRPr lang="en-US" sz="1100" dirty="0"/>
          </a:p>
        </p:txBody>
      </p:sp>
      <p:sp>
        <p:nvSpPr>
          <p:cNvPr id="18" name="Shape 16"/>
          <p:cNvSpPr/>
          <p:nvPr/>
        </p:nvSpPr>
        <p:spPr>
          <a:xfrm>
            <a:off x="548640" y="4206240"/>
            <a:ext cx="256032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9" name="Text 17"/>
          <p:cNvSpPr txBox="1"/>
          <p:nvPr/>
        </p:nvSpPr>
        <p:spPr>
          <a:xfrm>
            <a:off x="731520" y="4343400"/>
            <a:ext cx="2194560" cy="411480"/>
          </a:xfrm>
          <a:prstGeom prst="rect">
            <a:avLst/>
          </a:prstGeom>
          <a:noFill/>
          <a:ln/>
        </p:spPr>
        <p:txBody>
          <a:bodyPr wrap="square" lIns="0" tIns="0" rIns="0" bIns="0" rtlCol="0" anchor="t"/>
          <a:lstStyle/>
          <a:p>
            <a:pPr indent="0" marL="0">
              <a:buNone/>
            </a:pPr>
            <a:r>
              <a:rPr lang="en-US" sz="2000" b="1" dirty="0">
                <a:solidFill>
                  <a:srgbClr val="C02034"/>
                </a:solidFill>
                <a:latin typeface="Calibri" pitchFamily="34" charset="0"/>
                <a:ea typeface="Calibri" pitchFamily="34" charset="-122"/>
                <a:cs typeface="Calibri" pitchFamily="34" charset="-120"/>
              </a:rPr>
              <a:t>EA</a:t>
            </a:r>
            <a:endParaRPr lang="en-US" sz="2000" dirty="0"/>
          </a:p>
        </p:txBody>
      </p:sp>
      <p:sp>
        <p:nvSpPr>
          <p:cNvPr id="20" name="Text 18"/>
          <p:cNvSpPr txBox="1"/>
          <p:nvPr/>
        </p:nvSpPr>
        <p:spPr>
          <a:xfrm>
            <a:off x="731520" y="4773168"/>
            <a:ext cx="2194560" cy="36576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Tự động hóa được (BOD 26-04)</a:t>
            </a:r>
            <a:endParaRPr lang="en-US" sz="1250" dirty="0"/>
          </a:p>
        </p:txBody>
      </p:sp>
      <p:sp>
        <p:nvSpPr>
          <p:cNvPr id="21" name="Text 19"/>
          <p:cNvSpPr txBox="1"/>
          <p:nvPr/>
        </p:nvSpPr>
        <p:spPr>
          <a:xfrm>
            <a:off x="731520" y="5138928"/>
            <a:ext cx="2194560" cy="50292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1 nếu Automatable là Yes (Vulnrichment)</a:t>
            </a:r>
            <a:endParaRPr lang="en-US" sz="1100" dirty="0"/>
          </a:p>
        </p:txBody>
      </p:sp>
      <p:sp>
        <p:nvSpPr>
          <p:cNvPr id="22" name="Shape 20"/>
          <p:cNvSpPr/>
          <p:nvPr/>
        </p:nvSpPr>
        <p:spPr>
          <a:xfrm>
            <a:off x="3291840" y="4206240"/>
            <a:ext cx="256032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23" name="Text 21"/>
          <p:cNvSpPr txBox="1"/>
          <p:nvPr/>
        </p:nvSpPr>
        <p:spPr>
          <a:xfrm>
            <a:off x="3474720" y="4343400"/>
            <a:ext cx="2194560" cy="411480"/>
          </a:xfrm>
          <a:prstGeom prst="rect">
            <a:avLst/>
          </a:prstGeom>
          <a:noFill/>
          <a:ln/>
        </p:spPr>
        <p:txBody>
          <a:bodyPr wrap="square" lIns="0" tIns="0" rIns="0" bIns="0" rtlCol="0" anchor="t"/>
          <a:lstStyle/>
          <a:p>
            <a:pPr indent="0" marL="0">
              <a:buNone/>
            </a:pPr>
            <a:r>
              <a:rPr lang="en-US" sz="2000" b="1" dirty="0">
                <a:solidFill>
                  <a:srgbClr val="C02034"/>
                </a:solidFill>
                <a:latin typeface="Calibri" pitchFamily="34" charset="0"/>
                <a:ea typeface="Calibri" pitchFamily="34" charset="-122"/>
                <a:cs typeface="Calibri" pitchFamily="34" charset="-120"/>
              </a:rPr>
              <a:t>PE</a:t>
            </a:r>
            <a:endParaRPr lang="en-US" sz="2000" dirty="0"/>
          </a:p>
        </p:txBody>
      </p:sp>
      <p:sp>
        <p:nvSpPr>
          <p:cNvPr id="24" name="Text 22"/>
          <p:cNvSpPr txBox="1"/>
          <p:nvPr/>
        </p:nvSpPr>
        <p:spPr>
          <a:xfrm>
            <a:off x="3474720" y="4773168"/>
            <a:ext cx="2194560" cy="36576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Phơi ra Internet (BOD 26-04)</a:t>
            </a:r>
            <a:endParaRPr lang="en-US" sz="1250" dirty="0"/>
          </a:p>
        </p:txBody>
      </p:sp>
      <p:sp>
        <p:nvSpPr>
          <p:cNvPr id="25" name="Text 23"/>
          <p:cNvSpPr txBox="1"/>
          <p:nvPr/>
        </p:nvSpPr>
        <p:spPr>
          <a:xfrm>
            <a:off x="3474720" y="5138928"/>
            <a:ext cx="2194560" cy="50292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1 nếu tài sản truy cập được từ Internet</a:t>
            </a:r>
            <a:endParaRPr lang="en-US" sz="1100" dirty="0"/>
          </a:p>
        </p:txBody>
      </p:sp>
      <p:sp>
        <p:nvSpPr>
          <p:cNvPr id="26" name="Shape 24"/>
          <p:cNvSpPr/>
          <p:nvPr/>
        </p:nvSpPr>
        <p:spPr>
          <a:xfrm>
            <a:off x="6035040" y="4206240"/>
            <a:ext cx="256032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27" name="Text 25"/>
          <p:cNvSpPr txBox="1"/>
          <p:nvPr/>
        </p:nvSpPr>
        <p:spPr>
          <a:xfrm>
            <a:off x="6217920" y="4343400"/>
            <a:ext cx="2194560" cy="411480"/>
          </a:xfrm>
          <a:prstGeom prst="rect">
            <a:avLst/>
          </a:prstGeom>
          <a:noFill/>
          <a:ln/>
        </p:spPr>
        <p:txBody>
          <a:bodyPr wrap="square" lIns="0" tIns="0" rIns="0" bIns="0" rtlCol="0" anchor="t"/>
          <a:lstStyle/>
          <a:p>
            <a:pPr indent="0" marL="0">
              <a:buNone/>
            </a:pPr>
            <a:r>
              <a:rPr lang="en-US" sz="2000" b="1" dirty="0">
                <a:solidFill>
                  <a:srgbClr val="C02034"/>
                </a:solidFill>
                <a:latin typeface="Calibri" pitchFamily="34" charset="0"/>
                <a:ea typeface="Calibri" pitchFamily="34" charset="-122"/>
                <a:cs typeface="Calibri" pitchFamily="34" charset="-120"/>
              </a:rPr>
              <a:t>EPSS</a:t>
            </a:r>
            <a:endParaRPr lang="en-US" sz="2000" dirty="0"/>
          </a:p>
        </p:txBody>
      </p:sp>
      <p:sp>
        <p:nvSpPr>
          <p:cNvPr id="28" name="Text 26"/>
          <p:cNvSpPr txBox="1"/>
          <p:nvPr/>
        </p:nvSpPr>
        <p:spPr>
          <a:xfrm>
            <a:off x="6217920" y="4773168"/>
            <a:ext cx="2194560" cy="36576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Xác suất bị khai thác trong 30 ngày</a:t>
            </a:r>
            <a:endParaRPr lang="en-US" sz="1250" dirty="0"/>
          </a:p>
        </p:txBody>
      </p:sp>
      <p:sp>
        <p:nvSpPr>
          <p:cNvPr id="29" name="Text 27"/>
          <p:cNvSpPr txBox="1"/>
          <p:nvPr/>
        </p:nvSpPr>
        <p:spPr>
          <a:xfrm>
            <a:off x="6217920" y="5138928"/>
            <a:ext cx="2194560" cy="50292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0 đến 1, từ FIRST</a:t>
            </a:r>
            <a:endParaRPr lang="en-US" sz="110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Bộ lọc mối đe dọa tự rẽ năm nhánh mà không cần câu lệnh điều kiện</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92440" cy="914400"/>
        </p:xfrm>
        <a:graphic>
          <a:graphicData uri="http://schemas.openxmlformats.org/drawingml/2006/table">
            <a:tbl>
              <a:tblPr/>
              <a:tblGrid>
                <a:gridCol w="640080"/>
                <a:gridCol w="960120"/>
                <a:gridCol w="960120"/>
                <a:gridCol w="960120"/>
                <a:gridCol w="457200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KEV</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EA</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Ý nghĩa</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r>
              <a:tr h="457200">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 hoặc 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Đã bị khai thác, tiếp cận được từ Internet: mức cao nhất</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 hoặc 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Đã bị khai thác nhưng nằm trong mạng nội bộ: hạ ưu tiên, xử lý bằng quy tắc chính sách</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Tự động hóa được và phơi ra Internet: mức cao nhất, không chờ EPSS</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Tự động hóa được nhưng công cụ quét từ Internet không nhìn thấy</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 hoặc 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EPSS</a:t>
                      </a:r>
                      <a:r>
                        <a:rPr lang="en-US" sz="1150" b="1" baseline="30000" dirty="0">
                          <a:solidFill>
                            <a:srgbClr val="C02034"/>
                          </a:solidFill>
                          <a:latin typeface="Calibri" pitchFamily="34" charset="0"/>
                          <a:ea typeface="Calibri" pitchFamily="34" charset="-122"/>
                          <a:cs typeface="Calibri" pitchFamily="34" charset="-120"/>
                        </a:rPr>
                        <a:t>0,3</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Không tự động hóa được: điểm tăng dần theo EPSS, kể cả trong mạng nội bộ</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4" name="Shape 1"/>
          <p:cNvSpPr/>
          <p:nvPr/>
        </p:nvSpPr>
        <p:spPr>
          <a:xfrm>
            <a:off x="548640" y="4160520"/>
            <a:ext cx="3931920" cy="1828800"/>
          </a:xfrm>
          <a:prstGeom prst="roundRect">
            <a:avLst>
              <a:gd name="adj" fmla="val 5000"/>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5" name="Text 2"/>
          <p:cNvSpPr txBox="1"/>
          <p:nvPr/>
        </p:nvSpPr>
        <p:spPr>
          <a:xfrm>
            <a:off x="731520" y="4297680"/>
            <a:ext cx="356616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VÌ SAO PE KHÔNG NHÂN VỚI EPSS</a:t>
            </a:r>
            <a:endParaRPr lang="en-US" sz="1000" dirty="0"/>
          </a:p>
        </p:txBody>
      </p:sp>
      <p:sp>
        <p:nvSpPr>
          <p:cNvPr id="6" name="Text 3"/>
          <p:cNvSpPr txBox="1"/>
          <p:nvPr/>
        </p:nvSpPr>
        <p:spPr>
          <a:xfrm>
            <a:off x="731520" y="4617720"/>
            <a:ext cx="3611880" cy="128016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EPSS học từ tấn công toàn cầu, gồm cả thư lừa đảo, mối đe dọa nội bộ, VPN. Lỗ hổng trong mạng nội bộ vẫn có thể bị tấn công, nên không để về 0.</a:t>
            </a:r>
            <a:endParaRPr lang="en-US" sz="1200" dirty="0"/>
          </a:p>
        </p:txBody>
      </p:sp>
      <p:sp>
        <p:nvSpPr>
          <p:cNvPr id="7" name="Shape 4"/>
          <p:cNvSpPr/>
          <p:nvPr/>
        </p:nvSpPr>
        <p:spPr>
          <a:xfrm>
            <a:off x="4709160" y="4160520"/>
            <a:ext cx="3931920" cy="1828800"/>
          </a:xfrm>
          <a:prstGeom prst="roundRect">
            <a:avLst>
              <a:gd name="adj" fmla="val 5000"/>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8" name="Text 5"/>
          <p:cNvSpPr txBox="1"/>
          <p:nvPr/>
        </p:nvSpPr>
        <p:spPr>
          <a:xfrm>
            <a:off x="4892040" y="4297680"/>
            <a:ext cx="356616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VÌ SAO SỐ MŨ 0,3</a:t>
            </a:r>
            <a:endParaRPr lang="en-US" sz="1000" dirty="0"/>
          </a:p>
        </p:txBody>
      </p:sp>
      <p:sp>
        <p:nvSpPr>
          <p:cNvPr id="9" name="Text 6"/>
          <p:cNvSpPr txBox="1"/>
          <p:nvPr/>
        </p:nvSpPr>
        <p:spPr>
          <a:xfrm>
            <a:off x="4892040" y="4617720"/>
            <a:ext cx="3611880" cy="128016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Phần lớn EPSS rất nhỏ. Số mũ nén thang mà giữ thứ tự: 0,001 thành 0,13; 0,01 thành 0,25; 0,1 thành 0,50. Thử từ 0,2 đến 1,0 cho kết quả gần như nhau.</a:t>
            </a:r>
            <a:endParaRPr lang="en-US" sz="120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Cùng CVSS 9,0: trên Internet được 90 điểm, trong mạng nội bộ còn 0</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5394960" cy="914400"/>
        </p:xfrm>
        <a:graphic>
          <a:graphicData uri="http://schemas.openxmlformats.org/drawingml/2006/table">
            <a:tbl>
              <a:tblPr/>
              <a:tblGrid>
                <a:gridCol w="411480"/>
                <a:gridCol w="594360"/>
                <a:gridCol w="640080"/>
                <a:gridCol w="502920"/>
                <a:gridCol w="457200"/>
                <a:gridCol w="457200"/>
                <a:gridCol w="777240"/>
                <a:gridCol w="1554480"/>
              </a:tblGrid>
              <a:tr h="438912">
                <a:tc>
                  <a:txBody>
                    <a:bodyPr/>
                    <a:lstStyle/>
                    <a:p>
                      <a:pPr indent="0" marL="0">
                        <a:buNone/>
                      </a:pP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CVSS</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EPSS</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KEV</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EA</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Điểm S</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Quy tắc CSA</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r>
              <a:tr h="438912">
                <a:tc>
                  <a:txBody>
                    <a:bodyPr/>
                    <a:lstStyle/>
                    <a:p>
                      <a:pPr algn="ctr" indent="0" marL="0">
                        <a:buNone/>
                      </a:pPr>
                      <a:r>
                        <a:rPr lang="en-US" sz="1150" b="1" dirty="0">
                          <a:solidFill>
                            <a:srgbClr val="0F172A"/>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9,8</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0,001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12,3</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Vá trong 48 giờ</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38912">
                <a:tc>
                  <a:txBody>
                    <a:bodyPr/>
                    <a:lstStyle/>
                    <a:p>
                      <a:pPr algn="ctr" indent="0" marL="0">
                        <a:buNone/>
                      </a:pPr>
                      <a:r>
                        <a:rPr lang="en-US" sz="1150" b="1" dirty="0">
                          <a:solidFill>
                            <a:srgbClr val="0F172A"/>
                          </a:solidFill>
                          <a:latin typeface="Calibri" pitchFamily="34" charset="0"/>
                          <a:ea typeface="Calibri" pitchFamily="34" charset="-122"/>
                          <a:cs typeface="Calibri" pitchFamily="34" charset="-120"/>
                        </a:rPr>
                        <a:t>B</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7,5</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0,90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72,7</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Bỏ qua</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38912">
                <a:tc>
                  <a:txBody>
                    <a:bodyPr/>
                    <a:lstStyle/>
                    <a:p>
                      <a:pPr algn="ctr" indent="0" marL="0">
                        <a:buNone/>
                      </a:pPr>
                      <a:r>
                        <a:rPr lang="en-US" sz="1150" b="1" dirty="0">
                          <a:solidFill>
                            <a:srgbClr val="0F172A"/>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6,5</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65,0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Bỏ qua</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38912">
                <a:tc>
                  <a:txBody>
                    <a:bodyPr/>
                    <a:lstStyle/>
                    <a:p>
                      <a:pPr algn="ctr" indent="0" marL="0">
                        <a:buNone/>
                      </a:pPr>
                      <a:r>
                        <a:rPr lang="en-US" sz="1150" b="1" dirty="0">
                          <a:solidFill>
                            <a:srgbClr val="0F172A"/>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9,0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0,10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90,0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Vá trong 48 giờ</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r>
              <a:tr h="438912">
                <a:tc>
                  <a:txBody>
                    <a:bodyPr/>
                    <a:lstStyle/>
                    <a:p>
                      <a:pPr algn="ctr" indent="0" marL="0">
                        <a:buNone/>
                      </a:pPr>
                      <a:r>
                        <a:rPr lang="en-US" sz="1150" b="1" dirty="0">
                          <a:solidFill>
                            <a:srgbClr val="0F172A"/>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9,0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0,10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0,0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Ngoài phạm vi</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DECEE"/>
                    </a:solidFill>
                  </a:tcPr>
                </a:tc>
              </a:tr>
              <a:tr h="438912">
                <a:tc>
                  <a:txBody>
                    <a:bodyPr/>
                    <a:lstStyle/>
                    <a:p>
                      <a:pPr algn="ctr" indent="0" marL="0">
                        <a:buNone/>
                      </a:pPr>
                      <a:r>
                        <a:rPr lang="en-US" sz="1150" b="1" dirty="0">
                          <a:solidFill>
                            <a:srgbClr val="0F172A"/>
                          </a:solidFill>
                          <a:latin typeface="Calibri" pitchFamily="34" charset="0"/>
                          <a:ea typeface="Calibri" pitchFamily="34" charset="-122"/>
                          <a:cs typeface="Calibri" pitchFamily="34" charset="-120"/>
                        </a:rPr>
                        <a:t>F</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8,8</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0,0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Ngoài phạm vi</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38912">
                <a:tc>
                  <a:txBody>
                    <a:bodyPr/>
                    <a:lstStyle/>
                    <a:p>
                      <a:pPr algn="ctr" indent="0" marL="0">
                        <a:buNone/>
                      </a:pPr>
                      <a:r>
                        <a:rPr lang="en-US" sz="1150" b="1" dirty="0">
                          <a:solidFill>
                            <a:srgbClr val="0F172A"/>
                          </a:solidFill>
                          <a:latin typeface="Calibri" pitchFamily="34" charset="0"/>
                          <a:ea typeface="Calibri" pitchFamily="34" charset="-122"/>
                          <a:cs typeface="Calibri" pitchFamily="34" charset="-120"/>
                        </a:rPr>
                        <a:t>G</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7,8</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0,30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b="1" dirty="0">
                          <a:solidFill>
                            <a:srgbClr val="C02034"/>
                          </a:solidFill>
                          <a:latin typeface="Calibri" pitchFamily="34" charset="0"/>
                          <a:ea typeface="Calibri" pitchFamily="34" charset="-122"/>
                          <a:cs typeface="Calibri" pitchFamily="34" charset="-120"/>
                        </a:rPr>
                        <a:t>54,4</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50" dirty="0">
                          <a:solidFill>
                            <a:srgbClr val="0F172A"/>
                          </a:solidFill>
                          <a:latin typeface="Calibri" pitchFamily="34" charset="0"/>
                          <a:ea typeface="Calibri" pitchFamily="34" charset="-122"/>
                          <a:cs typeface="Calibri" pitchFamily="34" charset="-120"/>
                        </a:rPr>
                        <a:t>Ngoài phạm vi</a:t>
                      </a:r>
                      <a:endParaRPr lang="en-US" sz="11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4" name="Text 1"/>
          <p:cNvSpPr txBox="1"/>
          <p:nvPr/>
        </p:nvSpPr>
        <p:spPr>
          <a:xfrm>
            <a:off x="548640" y="4617720"/>
            <a:ext cx="539496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Số liệu giả định, AC = 1</a:t>
            </a:r>
            <a:endParaRPr lang="en-US" sz="1000" dirty="0"/>
          </a:p>
        </p:txBody>
      </p:sp>
      <p:sp>
        <p:nvSpPr>
          <p:cNvPr id="5" name="Shape 2"/>
          <p:cNvSpPr/>
          <p:nvPr/>
        </p:nvSpPr>
        <p:spPr>
          <a:xfrm>
            <a:off x="6217920" y="1005840"/>
            <a:ext cx="2423160" cy="4983480"/>
          </a:xfrm>
          <a:prstGeom prst="roundRect">
            <a:avLst>
              <a:gd name="adj" fmla="val 3774"/>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6" name="Text 3"/>
          <p:cNvSpPr txBox="1"/>
          <p:nvPr/>
        </p:nvSpPr>
        <p:spPr>
          <a:xfrm>
            <a:off x="6400800" y="1170432"/>
            <a:ext cx="210312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ĐỌC VÍ DỤ</a:t>
            </a:r>
            <a:endParaRPr lang="en-US" sz="1000" dirty="0"/>
          </a:p>
        </p:txBody>
      </p:sp>
      <p:sp>
        <p:nvSpPr>
          <p:cNvPr id="7" name="Text 4"/>
          <p:cNvSpPr txBox="1"/>
          <p:nvPr/>
        </p:nvSpPr>
        <p:spPr>
          <a:xfrm>
            <a:off x="6400800" y="1508760"/>
            <a:ext cx="2103120" cy="43434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0F172A"/>
                </a:solidFill>
                <a:latin typeface="Calibri" pitchFamily="34" charset="0"/>
                <a:ea typeface="Calibri" pitchFamily="34" charset="-122"/>
                <a:cs typeface="Calibri" pitchFamily="34" charset="-120"/>
              </a:rPr>
              <a:t>D lên đầu vì tự động hóa được và phơi ra Internet; nếu EA = 0 chỉ còn 45,1</a:t>
            </a:r>
            <a:endParaRPr lang="en-US" sz="1150" dirty="0"/>
          </a:p>
          <a:p>
            <a:pPr marL="177800" indent="-177800">
              <a:spcAft>
                <a:spcPts val="500"/>
              </a:spcAft>
              <a:buSzPct val="100000"/>
              <a:buChar char="•"/>
            </a:pPr>
            <a:r>
              <a:rPr lang="en-US" sz="1150" dirty="0">
                <a:solidFill>
                  <a:srgbClr val="0F172A"/>
                </a:solidFill>
                <a:latin typeface="Calibri" pitchFamily="34" charset="0"/>
                <a:ea typeface="Calibri" pitchFamily="34" charset="-122"/>
                <a:cs typeface="Calibri" pitchFamily="34" charset="-120"/>
              </a:rPr>
              <a:t>B xếp thứ hai dù CSA bỏ qua: EPSS 0,90</a:t>
            </a:r>
            <a:endParaRPr lang="en-US" sz="1150" dirty="0"/>
          </a:p>
          <a:p>
            <a:pPr marL="177800" indent="-177800">
              <a:spcAft>
                <a:spcPts val="500"/>
              </a:spcAft>
              <a:buSzPct val="100000"/>
              <a:buChar char="•"/>
            </a:pPr>
            <a:r>
              <a:rPr lang="en-US" sz="1150" dirty="0">
                <a:solidFill>
                  <a:srgbClr val="0F172A"/>
                </a:solidFill>
                <a:latin typeface="Calibri" pitchFamily="34" charset="0"/>
                <a:ea typeface="Calibri" pitchFamily="34" charset="-122"/>
                <a:cs typeface="Calibri" pitchFamily="34" charset="-120"/>
              </a:rPr>
              <a:t>A chỉ 12,3 vì gần như không có tín hiệu khai thác</a:t>
            </a:r>
            <a:endParaRPr lang="en-US" sz="1150" dirty="0"/>
          </a:p>
          <a:p>
            <a:pPr marL="177800" indent="-177800">
              <a:spcAft>
                <a:spcPts val="500"/>
              </a:spcAft>
              <a:buSzPct val="100000"/>
              <a:buChar char="•"/>
            </a:pPr>
            <a:r>
              <a:rPr lang="en-US" sz="1150" dirty="0">
                <a:solidFill>
                  <a:srgbClr val="0F172A"/>
                </a:solidFill>
                <a:latin typeface="Calibri" pitchFamily="34" charset="0"/>
                <a:ea typeface="Calibri" pitchFamily="34" charset="-122"/>
                <a:cs typeface="Calibri" pitchFamily="34" charset="-120"/>
              </a:rPr>
              <a:t>C vào nhóm khẩn cấp nhờ quy tắc KEV dù điểm 65</a:t>
            </a:r>
            <a:endParaRPr lang="en-US" sz="1150" dirty="0"/>
          </a:p>
          <a:p>
            <a:pPr marL="177800" indent="-177800">
              <a:spcAft>
                <a:spcPts val="500"/>
              </a:spcAft>
              <a:buSzPct val="100000"/>
              <a:buChar char="•"/>
            </a:pPr>
            <a:r>
              <a:rPr lang="en-US" sz="1150" dirty="0">
                <a:solidFill>
                  <a:srgbClr val="0F172A"/>
                </a:solidFill>
                <a:latin typeface="Calibri" pitchFamily="34" charset="0"/>
                <a:ea typeface="Calibri" pitchFamily="34" charset="-122"/>
                <a:cs typeface="Calibri" pitchFamily="34" charset="-120"/>
              </a:rPr>
              <a:t>G nội bộ vẫn 54,4 nhờ EPSS</a:t>
            </a:r>
            <a:endParaRPr lang="en-US" sz="115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Kiểm thử ngược chỉ dùng thông tin có tại ngày đánh giá, so ở cùng khối lượng vá</a:t>
            </a:r>
            <a:endParaRPr lang="en-US" sz="1800" dirty="0"/>
          </a:p>
        </p:txBody>
      </p:sp>
      <p:sp>
        <p:nvSpPr>
          <p:cNvPr id="3" name="Shape 1"/>
          <p:cNvSpPr/>
          <p:nvPr/>
        </p:nvSpPr>
        <p:spPr>
          <a:xfrm>
            <a:off x="548640" y="1051560"/>
            <a:ext cx="1965960" cy="1005840"/>
          </a:xfrm>
          <a:prstGeom prst="chevron">
            <a:avLst/>
          </a:prstGeom>
          <a:solidFill>
            <a:srgbClr val="E8707F"/>
          </a:solidFill>
          <a:ln w="12700">
            <a:solidFill>
              <a:srgbClr val="FFFFFF"/>
            </a:solidFill>
            <a:prstDash val="solid"/>
          </a:ln>
        </p:spPr>
      </p:sp>
      <p:sp>
        <p:nvSpPr>
          <p:cNvPr id="4" name="Text 2"/>
          <p:cNvSpPr txBox="1"/>
          <p:nvPr/>
        </p:nvSpPr>
        <p:spPr>
          <a:xfrm>
            <a:off x="1051560" y="1188720"/>
            <a:ext cx="1051560"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 Chọn ngày T</a:t>
            </a:r>
            <a:endParaRPr lang="en-US" sz="1250" dirty="0"/>
          </a:p>
        </p:txBody>
      </p:sp>
      <p:sp>
        <p:nvSpPr>
          <p:cNvPr id="5" name="Text 3"/>
          <p:cNvSpPr txBox="1"/>
          <p:nvPr/>
        </p:nvSpPr>
        <p:spPr>
          <a:xfrm>
            <a:off x="548640" y="2148840"/>
            <a:ext cx="192024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trong quá khứ, ví dụ 30/06/2025</a:t>
            </a:r>
            <a:endParaRPr lang="en-US" sz="1100" dirty="0"/>
          </a:p>
        </p:txBody>
      </p:sp>
      <p:sp>
        <p:nvSpPr>
          <p:cNvPr id="6" name="Shape 4"/>
          <p:cNvSpPr/>
          <p:nvPr/>
        </p:nvSpPr>
        <p:spPr>
          <a:xfrm>
            <a:off x="2606040" y="1051560"/>
            <a:ext cx="1965960" cy="1005840"/>
          </a:xfrm>
          <a:prstGeom prst="chevron">
            <a:avLst/>
          </a:prstGeom>
          <a:solidFill>
            <a:srgbClr val="D9485B"/>
          </a:solidFill>
          <a:ln w="12700">
            <a:solidFill>
              <a:srgbClr val="FFFFFF"/>
            </a:solidFill>
            <a:prstDash val="solid"/>
          </a:ln>
        </p:spPr>
      </p:sp>
      <p:sp>
        <p:nvSpPr>
          <p:cNvPr id="7" name="Text 5"/>
          <p:cNvSpPr txBox="1"/>
          <p:nvPr/>
        </p:nvSpPr>
        <p:spPr>
          <a:xfrm>
            <a:off x="3108960" y="1188720"/>
            <a:ext cx="1051560"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 Chấm điểm S</a:t>
            </a:r>
            <a:endParaRPr lang="en-US" sz="1250" dirty="0"/>
          </a:p>
        </p:txBody>
      </p:sp>
      <p:sp>
        <p:nvSpPr>
          <p:cNvPr id="8" name="Text 6"/>
          <p:cNvSpPr txBox="1"/>
          <p:nvPr/>
        </p:nvSpPr>
        <p:spPr>
          <a:xfrm>
            <a:off x="2606040" y="2148840"/>
            <a:ext cx="192024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bằng EPSS lịch sử và KEV có tại ngày T</a:t>
            </a:r>
            <a:endParaRPr lang="en-US" sz="1100" dirty="0"/>
          </a:p>
        </p:txBody>
      </p:sp>
      <p:sp>
        <p:nvSpPr>
          <p:cNvPr id="9" name="Shape 7"/>
          <p:cNvSpPr/>
          <p:nvPr/>
        </p:nvSpPr>
        <p:spPr>
          <a:xfrm>
            <a:off x="4663440" y="1051560"/>
            <a:ext cx="1965960" cy="1005840"/>
          </a:xfrm>
          <a:prstGeom prst="chevron">
            <a:avLst/>
          </a:prstGeom>
          <a:solidFill>
            <a:srgbClr val="E8707F"/>
          </a:solidFill>
          <a:ln w="12700">
            <a:solidFill>
              <a:srgbClr val="FFFFFF"/>
            </a:solidFill>
            <a:prstDash val="solid"/>
          </a:ln>
        </p:spPr>
      </p:sp>
      <p:sp>
        <p:nvSpPr>
          <p:cNvPr id="10" name="Text 8"/>
          <p:cNvSpPr txBox="1"/>
          <p:nvPr/>
        </p:nvSpPr>
        <p:spPr>
          <a:xfrm>
            <a:off x="5166360" y="1188720"/>
            <a:ext cx="1051560"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 Theo dõi 12 tháng</a:t>
            </a:r>
            <a:endParaRPr lang="en-US" sz="1250" dirty="0"/>
          </a:p>
        </p:txBody>
      </p:sp>
      <p:sp>
        <p:nvSpPr>
          <p:cNvPr id="11" name="Text 9"/>
          <p:cNvSpPr txBox="1"/>
          <p:nvPr/>
        </p:nvSpPr>
        <p:spPr>
          <a:xfrm>
            <a:off x="4663440" y="2148840"/>
            <a:ext cx="192024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lỗ hổng nào thực sự vào KEV</a:t>
            </a:r>
            <a:endParaRPr lang="en-US" sz="1100" dirty="0"/>
          </a:p>
        </p:txBody>
      </p:sp>
      <p:sp>
        <p:nvSpPr>
          <p:cNvPr id="12" name="Shape 10"/>
          <p:cNvSpPr/>
          <p:nvPr/>
        </p:nvSpPr>
        <p:spPr>
          <a:xfrm>
            <a:off x="6720840" y="1051560"/>
            <a:ext cx="1965960" cy="1005840"/>
          </a:xfrm>
          <a:prstGeom prst="chevron">
            <a:avLst/>
          </a:prstGeom>
          <a:solidFill>
            <a:srgbClr val="C02034"/>
          </a:solidFill>
          <a:ln w="12700">
            <a:solidFill>
              <a:srgbClr val="FFFFFF"/>
            </a:solidFill>
            <a:prstDash val="solid"/>
          </a:ln>
        </p:spPr>
      </p:sp>
      <p:sp>
        <p:nvSpPr>
          <p:cNvPr id="13" name="Text 11"/>
          <p:cNvSpPr txBox="1"/>
          <p:nvPr/>
        </p:nvSpPr>
        <p:spPr>
          <a:xfrm>
            <a:off x="7223760" y="1188720"/>
            <a:ext cx="1051560"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 So sánh</a:t>
            </a:r>
            <a:endParaRPr lang="en-US" sz="1250" dirty="0"/>
          </a:p>
        </p:txBody>
      </p:sp>
      <p:sp>
        <p:nvSpPr>
          <p:cNvPr id="14" name="Text 12"/>
          <p:cNvSpPr txBox="1"/>
          <p:nvPr/>
        </p:nvSpPr>
        <p:spPr>
          <a:xfrm>
            <a:off x="6720840" y="2148840"/>
            <a:ext cx="1920240" cy="68580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với quy tắc CSA và xếp theo CVSS ở cùng khối lượng vá</a:t>
            </a:r>
            <a:endParaRPr lang="en-US" sz="1100" dirty="0"/>
          </a:p>
        </p:txBody>
      </p:sp>
      <p:sp>
        <p:nvSpPr>
          <p:cNvPr id="15" name="Shape 13"/>
          <p:cNvSpPr/>
          <p:nvPr/>
        </p:nvSpPr>
        <p:spPr>
          <a:xfrm>
            <a:off x="548640" y="3017520"/>
            <a:ext cx="3931920" cy="2971800"/>
          </a:xfrm>
          <a:prstGeom prst="roundRect">
            <a:avLst>
              <a:gd name="adj" fmla="val 3077"/>
            </a:avLst>
          </a:prstGeom>
          <a:solidFill>
            <a:srgbClr val="FDECEE"/>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6" name="Text 14"/>
          <p:cNvSpPr txBox="1"/>
          <p:nvPr/>
        </p:nvSpPr>
        <p:spPr>
          <a:xfrm>
            <a:off x="731520" y="3154680"/>
            <a:ext cx="3566160" cy="237744"/>
          </a:xfrm>
          <a:prstGeom prst="rect">
            <a:avLst/>
          </a:prstGeom>
          <a:noFill/>
          <a:ln/>
        </p:spPr>
        <p:txBody>
          <a:bodyPr wrap="square" lIns="0" tIns="0" rIns="0" bIns="0" rtlCol="0" anchor="ctr"/>
          <a:lstStyle/>
          <a:p>
            <a:pPr indent="0" marL="0">
              <a:buNone/>
            </a:pPr>
            <a:r>
              <a:rPr lang="en-US" sz="1000" b="1" spc="100" kern="0" dirty="0">
                <a:solidFill>
                  <a:srgbClr val="C02034"/>
                </a:solidFill>
                <a:latin typeface="Calibri" pitchFamily="34" charset="0"/>
                <a:ea typeface="Calibri" pitchFamily="34" charset="-122"/>
                <a:cs typeface="Calibri" pitchFamily="34" charset="-120"/>
              </a:rPr>
              <a:t>PHẠM VI ĐÃ KIỂM CHỨNG</a:t>
            </a:r>
            <a:endParaRPr lang="en-US" sz="1000" dirty="0"/>
          </a:p>
        </p:txBody>
      </p:sp>
      <p:sp>
        <p:nvSpPr>
          <p:cNvPr id="17" name="Text 15"/>
          <p:cNvSpPr txBox="1"/>
          <p:nvPr/>
        </p:nvSpPr>
        <p:spPr>
          <a:xfrm>
            <a:off x="731520" y="3474720"/>
            <a:ext cx="3611880" cy="54864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S0 = AC × CVSS × [ KEV + (1 - KEV) × EPSS</a:t>
            </a:r>
            <a:pPr indent="0" marL="0">
              <a:buNone/>
            </a:pPr>
            <a:r>
              <a:rPr lang="en-US" sz="1250" b="1" baseline="30000" dirty="0">
                <a:solidFill>
                  <a:srgbClr val="0F172A"/>
                </a:solidFill>
                <a:latin typeface="Calibri" pitchFamily="34" charset="0"/>
                <a:ea typeface="Calibri" pitchFamily="34" charset="-122"/>
                <a:cs typeface="Calibri" pitchFamily="34" charset="-120"/>
              </a:rPr>
              <a:t>0,3</a:t>
            </a:r>
            <a:pPr indent="0" marL="0">
              <a:buNone/>
            </a:pPr>
            <a:r>
              <a:rPr lang="en-US" sz="1250" b="1" dirty="0">
                <a:solidFill>
                  <a:srgbClr val="0F172A"/>
                </a:solidFill>
                <a:latin typeface="Calibri" pitchFamily="34" charset="0"/>
                <a:ea typeface="Calibri" pitchFamily="34" charset="-122"/>
                <a:cs typeface="Calibri" pitchFamily="34" charset="-120"/>
              </a:rPr>
              <a:t> ] × 10</a:t>
            </a:r>
            <a:endParaRPr lang="en-US" sz="1250" dirty="0"/>
          </a:p>
        </p:txBody>
      </p:sp>
      <p:sp>
        <p:nvSpPr>
          <p:cNvPr id="18" name="Text 16"/>
          <p:cNvSpPr txBox="1"/>
          <p:nvPr/>
        </p:nvSpPr>
        <p:spPr>
          <a:xfrm>
            <a:off x="731520" y="4069080"/>
            <a:ext cx="3611880" cy="182880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Dạng rút gọn khi PE = 1 (đúng phạm vi CSA) và EA = 0; thực nghiệm đặt AC = 1. Hiệu suất = tỷ lệ bắt được chia tỷ lệ khối lượng vá, tức gấp bao nhiêu lần chọn ngẫu nhiên.</a:t>
            </a:r>
            <a:endParaRPr lang="en-US" sz="1200" dirty="0"/>
          </a:p>
        </p:txBody>
      </p:sp>
      <p:sp>
        <p:nvSpPr>
          <p:cNvPr id="19" name="Shape 17"/>
          <p:cNvSpPr/>
          <p:nvPr/>
        </p:nvSpPr>
        <p:spPr>
          <a:xfrm>
            <a:off x="4709160" y="3017520"/>
            <a:ext cx="3931920" cy="2971800"/>
          </a:xfrm>
          <a:prstGeom prst="roundRect">
            <a:avLst>
              <a:gd name="adj" fmla="val 3077"/>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20" name="Text 18"/>
          <p:cNvSpPr txBox="1"/>
          <p:nvPr/>
        </p:nvSpPr>
        <p:spPr>
          <a:xfrm>
            <a:off x="4892040" y="3154680"/>
            <a:ext cx="356616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QUY MÔ KIỂM CHỨNG</a:t>
            </a:r>
            <a:endParaRPr lang="en-US" sz="1000" dirty="0"/>
          </a:p>
        </p:txBody>
      </p:sp>
      <p:sp>
        <p:nvSpPr>
          <p:cNvPr id="21" name="Text 19"/>
          <p:cNvSpPr txBox="1"/>
          <p:nvPr/>
        </p:nvSpPr>
        <p:spPr>
          <a:xfrm>
            <a:off x="4892040" y="3474720"/>
            <a:ext cx="1737360" cy="50292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240.409</a:t>
            </a:r>
            <a:endParaRPr lang="en-US" sz="2400" dirty="0"/>
          </a:p>
        </p:txBody>
      </p:sp>
      <p:sp>
        <p:nvSpPr>
          <p:cNvPr id="22" name="Text 20"/>
          <p:cNvSpPr txBox="1"/>
          <p:nvPr/>
        </p:nvSpPr>
        <p:spPr>
          <a:xfrm>
            <a:off x="4892040" y="4005072"/>
            <a:ext cx="173736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lỗ hổng có CVSS 3.x trong NVD, 1.570 lỗ hổng trong KEV</a:t>
            </a:r>
            <a:endParaRPr lang="en-US" sz="1100" dirty="0"/>
          </a:p>
        </p:txBody>
      </p:sp>
      <p:sp>
        <p:nvSpPr>
          <p:cNvPr id="23" name="Text 21"/>
          <p:cNvSpPr txBox="1"/>
          <p:nvPr/>
        </p:nvSpPr>
        <p:spPr>
          <a:xfrm>
            <a:off x="6720840" y="3474720"/>
            <a:ext cx="1783080" cy="50292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11</a:t>
            </a:r>
            <a:endParaRPr lang="en-US" sz="2400" dirty="0"/>
          </a:p>
        </p:txBody>
      </p:sp>
      <p:sp>
        <p:nvSpPr>
          <p:cNvPr id="24" name="Text 22"/>
          <p:cNvSpPr txBox="1"/>
          <p:nvPr/>
        </p:nvSpPr>
        <p:spPr>
          <a:xfrm>
            <a:off x="6720840" y="4005072"/>
            <a:ext cx="178308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ngày đánh giá cuối quý, 03/2023 đến 09/2025</a:t>
            </a:r>
            <a:endParaRPr lang="en-US" sz="1100" dirty="0"/>
          </a:p>
        </p:txBody>
      </p:sp>
      <p:sp>
        <p:nvSpPr>
          <p:cNvPr id="25" name="Text 23"/>
          <p:cNvSpPr txBox="1"/>
          <p:nvPr/>
        </p:nvSpPr>
        <p:spPr>
          <a:xfrm>
            <a:off x="4892040" y="4754880"/>
            <a:ext cx="1737360" cy="50292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1.000</a:t>
            </a:r>
            <a:endParaRPr lang="en-US" sz="2400" dirty="0"/>
          </a:p>
        </p:txBody>
      </p:sp>
      <p:sp>
        <p:nvSpPr>
          <p:cNvPr id="26" name="Text 24"/>
          <p:cNvSpPr txBox="1"/>
          <p:nvPr/>
        </p:nvSpPr>
        <p:spPr>
          <a:xfrm>
            <a:off x="4892040" y="5285232"/>
            <a:ext cx="173736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lần lấy mẫu bootstrap cho khoảng tin cậy 95%</a:t>
            </a:r>
            <a:endParaRPr lang="en-US" sz="1100" dirty="0"/>
          </a:p>
        </p:txBody>
      </p:sp>
      <p:sp>
        <p:nvSpPr>
          <p:cNvPr id="27" name="Text 25"/>
          <p:cNvSpPr txBox="1"/>
          <p:nvPr/>
        </p:nvSpPr>
        <p:spPr>
          <a:xfrm>
            <a:off x="6720840" y="4754880"/>
            <a:ext cx="1783080" cy="50292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H1</a:t>
            </a:r>
            <a:endParaRPr lang="en-US" sz="2400" dirty="0"/>
          </a:p>
        </p:txBody>
      </p:sp>
      <p:sp>
        <p:nvSpPr>
          <p:cNvPr id="28" name="Text 26"/>
          <p:cNvSpPr txBox="1"/>
          <p:nvPr/>
        </p:nvSpPr>
        <p:spPr>
          <a:xfrm>
            <a:off x="6720840" y="5285232"/>
            <a:ext cx="178308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đặt trước: ở khối lượng của CSA, S bắt được nhiều hơn CVSS</a:t>
            </a:r>
            <a:endParaRPr lang="en-US" sz="110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Tỷ lệ bị khai thác tăng đều theo điểm S: mức từ 70 gấp 28 lần trung bình</a:t>
            </a:r>
            <a:endParaRPr lang="en-US" sz="1800" dirty="0"/>
          </a:p>
        </p:txBody>
      </p:sp>
      <p:sp>
        <p:nvSpPr>
          <p:cNvPr id="3" name="Shape 1"/>
          <p:cNvSpPr/>
          <p:nvPr/>
        </p:nvSpPr>
        <p:spPr>
          <a:xfrm>
            <a:off x="548640" y="960120"/>
            <a:ext cx="5486400" cy="5074920"/>
          </a:xfrm>
          <a:prstGeom prst="roundRect">
            <a:avLst>
              <a:gd name="adj" fmla="val 1802"/>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graphicFrame>
        <p:nvGraphicFramePr>
          <p:cNvPr id="4" name="Chart 0" descr=""/>
          <p:cNvGraphicFramePr/>
          <p:nvPr/>
        </p:nvGraphicFramePr>
        <p:xfrm>
          <a:off x="685800" y="1051560"/>
          <a:ext cx="5212080" cy="4846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309360" y="1097280"/>
            <a:ext cx="2331720" cy="502920"/>
          </a:xfrm>
          <a:prstGeom prst="rect">
            <a:avLst/>
          </a:prstGeom>
          <a:noFill/>
          <a:ln/>
        </p:spPr>
        <p:txBody>
          <a:bodyPr wrap="square" lIns="0" tIns="0" rIns="0" bIns="0" rtlCol="0" anchor="ctr"/>
          <a:lstStyle/>
          <a:p>
            <a:pPr indent="0" marL="0">
              <a:buNone/>
            </a:pPr>
            <a:r>
              <a:rPr lang="en-US" sz="3000" b="1" dirty="0">
                <a:solidFill>
                  <a:srgbClr val="C02034"/>
                </a:solidFill>
                <a:latin typeface="Calibri" pitchFamily="34" charset="0"/>
                <a:ea typeface="Calibri" pitchFamily="34" charset="-122"/>
                <a:cs typeface="Calibri" pitchFamily="34" charset="-120"/>
              </a:rPr>
              <a:t>1,34%</a:t>
            </a:r>
            <a:endParaRPr lang="en-US" sz="3000" dirty="0"/>
          </a:p>
        </p:txBody>
      </p:sp>
      <p:sp>
        <p:nvSpPr>
          <p:cNvPr id="6" name="Text 3"/>
          <p:cNvSpPr txBox="1"/>
          <p:nvPr/>
        </p:nvSpPr>
        <p:spPr>
          <a:xfrm>
            <a:off x="6309360" y="1627632"/>
            <a:ext cx="2331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số lỗ hổng chưa có trong KEV đạt S từ 70 (2.803 / 209.623)</a:t>
            </a:r>
            <a:endParaRPr lang="en-US" sz="1100" dirty="0"/>
          </a:p>
        </p:txBody>
      </p:sp>
      <p:sp>
        <p:nvSpPr>
          <p:cNvPr id="7" name="Text 4"/>
          <p:cNvSpPr txBox="1"/>
          <p:nvPr/>
        </p:nvSpPr>
        <p:spPr>
          <a:xfrm>
            <a:off x="6309360" y="2468880"/>
            <a:ext cx="2331720" cy="502920"/>
          </a:xfrm>
          <a:prstGeom prst="rect">
            <a:avLst/>
          </a:prstGeom>
          <a:noFill/>
          <a:ln/>
        </p:spPr>
        <p:txBody>
          <a:bodyPr wrap="square" lIns="0" tIns="0" rIns="0" bIns="0" rtlCol="0" anchor="ctr"/>
          <a:lstStyle/>
          <a:p>
            <a:pPr indent="0" marL="0">
              <a:buNone/>
            </a:pPr>
            <a:r>
              <a:rPr lang="en-US" sz="3000" b="1" dirty="0">
                <a:solidFill>
                  <a:srgbClr val="C02034"/>
                </a:solidFill>
                <a:latin typeface="Calibri" pitchFamily="34" charset="0"/>
                <a:ea typeface="Calibri" pitchFamily="34" charset="-122"/>
                <a:cs typeface="Calibri" pitchFamily="34" charset="-120"/>
              </a:rPr>
              <a:t>34 / 91</a:t>
            </a:r>
            <a:endParaRPr lang="en-US" sz="3000" dirty="0"/>
          </a:p>
        </p:txBody>
      </p:sp>
      <p:sp>
        <p:nvSpPr>
          <p:cNvPr id="8" name="Text 5"/>
          <p:cNvSpPr txBox="1"/>
          <p:nvPr/>
        </p:nvSpPr>
        <p:spPr>
          <a:xfrm>
            <a:off x="6309360" y="2999232"/>
            <a:ext cx="2331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lỗ hổng sắp bị khai thác nằm trong nhóm nhỏ này (37,36%)</a:t>
            </a:r>
            <a:endParaRPr lang="en-US" sz="1100" dirty="0"/>
          </a:p>
        </p:txBody>
      </p:sp>
      <p:sp>
        <p:nvSpPr>
          <p:cNvPr id="9" name="Text 6"/>
          <p:cNvSpPr txBox="1"/>
          <p:nvPr/>
        </p:nvSpPr>
        <p:spPr>
          <a:xfrm>
            <a:off x="6309360" y="3840480"/>
            <a:ext cx="2331720" cy="502920"/>
          </a:xfrm>
          <a:prstGeom prst="rect">
            <a:avLst/>
          </a:prstGeom>
          <a:noFill/>
          <a:ln/>
        </p:spPr>
        <p:txBody>
          <a:bodyPr wrap="square" lIns="0" tIns="0" rIns="0" bIns="0" rtlCol="0" anchor="ctr"/>
          <a:lstStyle/>
          <a:p>
            <a:pPr indent="0" marL="0">
              <a:buNone/>
            </a:pPr>
            <a:r>
              <a:rPr lang="en-US" sz="3000" b="1" dirty="0">
                <a:solidFill>
                  <a:srgbClr val="334155"/>
                </a:solidFill>
                <a:latin typeface="Calibri" pitchFamily="34" charset="0"/>
                <a:ea typeface="Calibri" pitchFamily="34" charset="-122"/>
                <a:cs typeface="Calibri" pitchFamily="34" charset="-120"/>
              </a:rPr>
              <a:t>0,043%</a:t>
            </a:r>
            <a:endParaRPr lang="en-US" sz="3000" dirty="0"/>
          </a:p>
        </p:txBody>
      </p:sp>
      <p:sp>
        <p:nvSpPr>
          <p:cNvPr id="10" name="Text 7"/>
          <p:cNvSpPr txBox="1"/>
          <p:nvPr/>
        </p:nvSpPr>
        <p:spPr>
          <a:xfrm>
            <a:off x="6309360" y="4370832"/>
            <a:ext cx="2331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tỷ lệ vào KEV trung bình của 209.623 lỗ hổng</a:t>
            </a:r>
            <a:endParaRPr lang="en-US" sz="1100" dirty="0"/>
          </a:p>
        </p:txBody>
      </p:sp>
      <p:sp>
        <p:nvSpPr>
          <p:cNvPr id="11" name="Text 8"/>
          <p:cNvSpPr txBox="1"/>
          <p:nvPr/>
        </p:nvSpPr>
        <p:spPr>
          <a:xfrm>
            <a:off x="6309360" y="5257800"/>
            <a:ext cx="2331720" cy="685800"/>
          </a:xfrm>
          <a:prstGeom prst="rect">
            <a:avLst/>
          </a:prstGeom>
          <a:noFill/>
          <a:ln/>
        </p:spPr>
        <p:txBody>
          <a:bodyPr wrap="square" lIns="0" tIns="0" rIns="0" bIns="0"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Gấp trung bình: 0,3; 0,6; 2,2; 7; 28 lần.</a:t>
            </a:r>
            <a:endParaRPr lang="en-US" sz="120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S từ 70 hiệu quả gấp 16 đến 34 lần ngẫu nhiên, quy tắc CSA chỉ 1,7 đến 2,3 lần</a:t>
            </a:r>
            <a:endParaRPr lang="en-US" sz="1800" dirty="0"/>
          </a:p>
        </p:txBody>
      </p:sp>
      <p:sp>
        <p:nvSpPr>
          <p:cNvPr id="3" name="Shape 1"/>
          <p:cNvSpPr/>
          <p:nvPr/>
        </p:nvSpPr>
        <p:spPr>
          <a:xfrm>
            <a:off x="548640" y="960120"/>
            <a:ext cx="5486400" cy="5074920"/>
          </a:xfrm>
          <a:prstGeom prst="roundRect">
            <a:avLst>
              <a:gd name="adj" fmla="val 1802"/>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graphicFrame>
        <p:nvGraphicFramePr>
          <p:cNvPr id="4" name="Chart 0" descr=""/>
          <p:cNvGraphicFramePr/>
          <p:nvPr/>
        </p:nvGraphicFramePr>
        <p:xfrm>
          <a:off x="685800" y="1051560"/>
          <a:ext cx="5212080" cy="4846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309360" y="1097280"/>
            <a:ext cx="2331720" cy="502920"/>
          </a:xfrm>
          <a:prstGeom prst="rect">
            <a:avLst/>
          </a:prstGeom>
          <a:noFill/>
          <a:ln/>
        </p:spPr>
        <p:txBody>
          <a:bodyPr wrap="square" lIns="0" tIns="0" rIns="0" bIns="0" rtlCol="0" anchor="ctr"/>
          <a:lstStyle/>
          <a:p>
            <a:pPr indent="0" marL="0">
              <a:buNone/>
            </a:pPr>
            <a:r>
              <a:rPr lang="en-US" sz="2000" b="1" dirty="0">
                <a:solidFill>
                  <a:srgbClr val="C02034"/>
                </a:solidFill>
                <a:latin typeface="Calibri" pitchFamily="34" charset="0"/>
                <a:ea typeface="Calibri" pitchFamily="34" charset="-122"/>
                <a:cs typeface="Calibri" pitchFamily="34" charset="-120"/>
              </a:rPr>
              <a:t>1,34% / 27,73%</a:t>
            </a:r>
            <a:endParaRPr lang="en-US" sz="2000" dirty="0"/>
          </a:p>
        </p:txBody>
      </p:sp>
      <p:sp>
        <p:nvSpPr>
          <p:cNvPr id="6" name="Text 3"/>
          <p:cNvSpPr txBox="1"/>
          <p:nvPr/>
        </p:nvSpPr>
        <p:spPr>
          <a:xfrm>
            <a:off x="6309360" y="1627632"/>
            <a:ext cx="2331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khối lượng vá của S từ 70 so với quy tắc CSA, ngày 30/06/2025</a:t>
            </a:r>
            <a:endParaRPr lang="en-US" sz="1100" dirty="0"/>
          </a:p>
        </p:txBody>
      </p:sp>
      <p:sp>
        <p:nvSpPr>
          <p:cNvPr id="7" name="Text 4"/>
          <p:cNvSpPr txBox="1"/>
          <p:nvPr/>
        </p:nvSpPr>
        <p:spPr>
          <a:xfrm>
            <a:off x="6309360" y="2377440"/>
            <a:ext cx="2331720" cy="502920"/>
          </a:xfrm>
          <a:prstGeom prst="rect">
            <a:avLst/>
          </a:prstGeom>
          <a:noFill/>
          <a:ln/>
        </p:spPr>
        <p:txBody>
          <a:bodyPr wrap="square" lIns="0" tIns="0" rIns="0" bIns="0" rtlCol="0" anchor="ctr"/>
          <a:lstStyle/>
          <a:p>
            <a:pPr indent="0" marL="0">
              <a:buNone/>
            </a:pPr>
            <a:r>
              <a:rPr lang="en-US" sz="2000" b="1" dirty="0">
                <a:solidFill>
                  <a:srgbClr val="C02034"/>
                </a:solidFill>
                <a:latin typeface="Calibri" pitchFamily="34" charset="0"/>
                <a:ea typeface="Calibri" pitchFamily="34" charset="-122"/>
                <a:cs typeface="Calibri" pitchFamily="34" charset="-120"/>
              </a:rPr>
              <a:t>82 / 1.076</a:t>
            </a:r>
            <a:endParaRPr lang="en-US" sz="2000" dirty="0"/>
          </a:p>
        </p:txBody>
      </p:sp>
      <p:sp>
        <p:nvSpPr>
          <p:cNvPr id="8" name="Text 5"/>
          <p:cNvSpPr txBox="1"/>
          <p:nvPr/>
        </p:nvSpPr>
        <p:spPr>
          <a:xfrm>
            <a:off x="6309360" y="2907792"/>
            <a:ext cx="2331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lỗ hổng phải vá cho mỗi lỗ hổng bắt được: S từ 70 so với quy tắc CSA</a:t>
            </a:r>
            <a:endParaRPr lang="en-US" sz="1100" dirty="0"/>
          </a:p>
        </p:txBody>
      </p:sp>
      <p:sp>
        <p:nvSpPr>
          <p:cNvPr id="9" name="Text 6"/>
          <p:cNvSpPr txBox="1"/>
          <p:nvPr/>
        </p:nvSpPr>
        <p:spPr>
          <a:xfrm>
            <a:off x="6309360" y="3657600"/>
            <a:ext cx="2331720" cy="502920"/>
          </a:xfrm>
          <a:prstGeom prst="rect">
            <a:avLst/>
          </a:prstGeom>
          <a:noFill/>
          <a:ln/>
        </p:spPr>
        <p:txBody>
          <a:bodyPr wrap="square" lIns="0" tIns="0" rIns="0" bIns="0" rtlCol="0" anchor="ctr"/>
          <a:lstStyle/>
          <a:p>
            <a:pPr indent="0" marL="0">
              <a:buNone/>
            </a:pPr>
            <a:r>
              <a:rPr lang="en-US" sz="2000" b="1" dirty="0">
                <a:solidFill>
                  <a:srgbClr val="C02034"/>
                </a:solidFill>
                <a:latin typeface="Calibri" pitchFamily="34" charset="0"/>
                <a:ea typeface="Calibri" pitchFamily="34" charset="-122"/>
                <a:cs typeface="Calibri" pitchFamily="34" charset="-120"/>
              </a:rPr>
              <a:t>13 / 15</a:t>
            </a:r>
            <a:endParaRPr lang="en-US" sz="2000" dirty="0"/>
          </a:p>
        </p:txBody>
      </p:sp>
      <p:sp>
        <p:nvSpPr>
          <p:cNvPr id="10" name="Text 7"/>
          <p:cNvSpPr txBox="1"/>
          <p:nvPr/>
        </p:nvSpPr>
        <p:spPr>
          <a:xfrm>
            <a:off x="6309360" y="4187952"/>
            <a:ext cx="2331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trường hợp S bằng hoặc hơn quy tắc khi vá cùng khối lượng với từng cách đọc Q0 đến Q4</a:t>
            </a:r>
            <a:endParaRPr lang="en-US" sz="1100" dirty="0"/>
          </a:p>
        </p:txBody>
      </p:sp>
      <p:sp>
        <p:nvSpPr>
          <p:cNvPr id="11" name="Text 8"/>
          <p:cNvSpPr txBox="1"/>
          <p:nvPr/>
        </p:nvSpPr>
        <p:spPr>
          <a:xfrm>
            <a:off x="6309360" y="5074920"/>
            <a:ext cx="2331720" cy="914400"/>
          </a:xfrm>
          <a:prstGeom prst="rect">
            <a:avLst/>
          </a:prstGeom>
          <a:noFill/>
          <a:ln/>
        </p:spPr>
        <p:txBody>
          <a:bodyPr wrap="square" lIns="0" tIns="0" rIns="0" bIns="0" rtlCol="0" anchor="t"/>
          <a:lstStyle/>
          <a:p>
            <a:pPr indent="0" marL="0">
              <a:buNone/>
            </a:pPr>
            <a:r>
              <a:rPr lang="en-US" sz="1100" b="1" dirty="0">
                <a:solidFill>
                  <a:srgbClr val="334155"/>
                </a:solidFill>
                <a:latin typeface="Calibri" pitchFamily="34" charset="0"/>
                <a:ea typeface="Calibri" pitchFamily="34" charset="-122"/>
                <a:cs typeface="Calibri" pitchFamily="34" charset="-120"/>
              </a:rPr>
              <a:t>Tính cả lỗ hổng KEV, nhóm vá khẩn cấp theo S chỉ 1,44% đến 1,98%, thay vì khoảng 28%.</a:t>
            </a:r>
            <a:endParaRPr lang="en-US" sz="110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Khi chỉ vá 1% đến 5% số lỗ hổng, S bắt được nhiều gấp 2,7 đến 8,9 lần xếp theo CVSS</a:t>
            </a:r>
            <a:endParaRPr lang="en-US" sz="1800" dirty="0"/>
          </a:p>
        </p:txBody>
      </p:sp>
      <p:sp>
        <p:nvSpPr>
          <p:cNvPr id="3" name="Shape 1"/>
          <p:cNvSpPr/>
          <p:nvPr/>
        </p:nvSpPr>
        <p:spPr>
          <a:xfrm>
            <a:off x="548640" y="960120"/>
            <a:ext cx="5486400" cy="5074920"/>
          </a:xfrm>
          <a:prstGeom prst="roundRect">
            <a:avLst>
              <a:gd name="adj" fmla="val 1802"/>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graphicFrame>
        <p:nvGraphicFramePr>
          <p:cNvPr id="4" name="Chart 0" descr=""/>
          <p:cNvGraphicFramePr/>
          <p:nvPr/>
        </p:nvGraphicFramePr>
        <p:xfrm>
          <a:off x="685800" y="1051560"/>
          <a:ext cx="5212080" cy="48463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63640" y="960120"/>
            <a:ext cx="2377440" cy="1554480"/>
          </a:xfrm>
          <a:prstGeom prst="roundRect">
            <a:avLst>
              <a:gd name="adj" fmla="val 5882"/>
            </a:avLst>
          </a:prstGeom>
          <a:solidFill>
            <a:srgbClr val="FDECEE"/>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6" name="Text 3"/>
          <p:cNvSpPr txBox="1"/>
          <p:nvPr/>
        </p:nvSpPr>
        <p:spPr>
          <a:xfrm>
            <a:off x="6446520" y="1097280"/>
            <a:ext cx="2103120" cy="237744"/>
          </a:xfrm>
          <a:prstGeom prst="rect">
            <a:avLst/>
          </a:prstGeom>
          <a:noFill/>
          <a:ln/>
        </p:spPr>
        <p:txBody>
          <a:bodyPr wrap="square" lIns="0" tIns="0" rIns="0" bIns="0" rtlCol="0" anchor="ctr"/>
          <a:lstStyle/>
          <a:p>
            <a:pPr indent="0" marL="0">
              <a:buNone/>
            </a:pPr>
            <a:r>
              <a:rPr lang="en-US" sz="1000" b="1" spc="100" kern="0" dirty="0">
                <a:solidFill>
                  <a:srgbClr val="C02034"/>
                </a:solidFill>
                <a:latin typeface="Calibri" pitchFamily="34" charset="0"/>
                <a:ea typeface="Calibri" pitchFamily="34" charset="-122"/>
                <a:cs typeface="Calibri" pitchFamily="34" charset="-120"/>
              </a:rPr>
              <a:t>ĐÃ CHỨNG MINH</a:t>
            </a:r>
            <a:endParaRPr lang="en-US" sz="1000" dirty="0"/>
          </a:p>
        </p:txBody>
      </p:sp>
      <p:sp>
        <p:nvSpPr>
          <p:cNvPr id="7" name="Text 4"/>
          <p:cNvSpPr txBox="1"/>
          <p:nvPr/>
        </p:nvSpPr>
        <p:spPr>
          <a:xfrm>
            <a:off x="6446520" y="1371600"/>
            <a:ext cx="2057400" cy="1097280"/>
          </a:xfrm>
          <a:prstGeom prst="rect">
            <a:avLst/>
          </a:prstGeom>
          <a:noFill/>
          <a:ln/>
        </p:spPr>
        <p:txBody>
          <a:bodyPr wrap="square" lIns="0" tIns="0" rIns="0" bIns="0" rtlCol="0" anchor="t"/>
          <a:lstStyle/>
          <a:p>
            <a:pPr indent="0" marL="0">
              <a:buNone/>
            </a:pPr>
            <a:r>
              <a:rPr lang="en-US" sz="1150" dirty="0">
                <a:solidFill>
                  <a:srgbClr val="0F172A"/>
                </a:solidFill>
                <a:latin typeface="Calibri" pitchFamily="34" charset="0"/>
                <a:ea typeface="Calibri" pitchFamily="34" charset="-122"/>
                <a:cs typeface="Calibri" pitchFamily="34" charset="-120"/>
              </a:rPr>
              <a:t>Vá 1% hoặc 5%: khoảng tin cậy 95% nằm trên 0; qua 11 ngày S không kém CVSS ngày nào</a:t>
            </a:r>
            <a:endParaRPr lang="en-US" sz="1150" dirty="0"/>
          </a:p>
        </p:txBody>
      </p:sp>
      <p:sp>
        <p:nvSpPr>
          <p:cNvPr id="8" name="Shape 5"/>
          <p:cNvSpPr/>
          <p:nvPr/>
        </p:nvSpPr>
        <p:spPr>
          <a:xfrm>
            <a:off x="6263640" y="2697480"/>
            <a:ext cx="2377440" cy="1691640"/>
          </a:xfrm>
          <a:prstGeom prst="roundRect">
            <a:avLst>
              <a:gd name="adj" fmla="val 5405"/>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9" name="Text 6"/>
          <p:cNvSpPr txBox="1"/>
          <p:nvPr/>
        </p:nvSpPr>
        <p:spPr>
          <a:xfrm>
            <a:off x="6446520" y="2834640"/>
            <a:ext cx="210312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H1 CHƯA ĐẠT</a:t>
            </a:r>
            <a:endParaRPr lang="en-US" sz="1000" dirty="0"/>
          </a:p>
        </p:txBody>
      </p:sp>
      <p:sp>
        <p:nvSpPr>
          <p:cNvPr id="10" name="Text 7"/>
          <p:cNvSpPr txBox="1"/>
          <p:nvPr/>
        </p:nvSpPr>
        <p:spPr>
          <a:xfrm>
            <a:off x="6446520" y="3108960"/>
            <a:ext cx="2057400" cy="1188720"/>
          </a:xfrm>
          <a:prstGeom prst="rect">
            <a:avLst/>
          </a:prstGeom>
          <a:noFill/>
          <a:ln/>
        </p:spPr>
        <p:txBody>
          <a:bodyPr wrap="square" lIns="0" tIns="0" rIns="0" bIns="0" rtlCol="0" anchor="t"/>
          <a:lstStyle/>
          <a:p>
            <a:pPr indent="0" marL="0">
              <a:buNone/>
            </a:pPr>
            <a:r>
              <a:rPr lang="en-US" sz="1150" dirty="0">
                <a:solidFill>
                  <a:srgbClr val="0F172A"/>
                </a:solidFill>
                <a:latin typeface="Calibri" pitchFamily="34" charset="0"/>
                <a:ea typeface="Calibri" pitchFamily="34" charset="-122"/>
                <a:cs typeface="Calibri" pitchFamily="34" charset="-120"/>
              </a:rPr>
              <a:t>Ở khối lượng CSA: hơn CVSS 6,0 ca, khoảng tin cậy từ -2,0 đến +15,0 có chứa 0</a:t>
            </a:r>
            <a:endParaRPr lang="en-US" sz="1150" dirty="0"/>
          </a:p>
        </p:txBody>
      </p:sp>
      <p:sp>
        <p:nvSpPr>
          <p:cNvPr id="11" name="Shape 8"/>
          <p:cNvSpPr/>
          <p:nvPr/>
        </p:nvSpPr>
        <p:spPr>
          <a:xfrm>
            <a:off x="6263640" y="4572000"/>
            <a:ext cx="2377440" cy="1463040"/>
          </a:xfrm>
          <a:prstGeom prst="roundRect">
            <a:avLst>
              <a:gd name="adj" fmla="val 6250"/>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2" name="Text 9"/>
          <p:cNvSpPr txBox="1"/>
          <p:nvPr/>
        </p:nvSpPr>
        <p:spPr>
          <a:xfrm>
            <a:off x="6446520" y="4709160"/>
            <a:ext cx="210312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SO VỚI EPSS</a:t>
            </a:r>
            <a:endParaRPr lang="en-US" sz="1000" dirty="0"/>
          </a:p>
        </p:txBody>
      </p:sp>
      <p:sp>
        <p:nvSpPr>
          <p:cNvPr id="13" name="Text 10"/>
          <p:cNvSpPr txBox="1"/>
          <p:nvPr/>
        </p:nvSpPr>
        <p:spPr>
          <a:xfrm>
            <a:off x="6446520" y="4983480"/>
            <a:ext cx="2057400" cy="960120"/>
          </a:xfrm>
          <a:prstGeom prst="rect">
            <a:avLst/>
          </a:prstGeom>
          <a:noFill/>
          <a:ln/>
        </p:spPr>
        <p:txBody>
          <a:bodyPr wrap="square" lIns="0" tIns="0" rIns="0" bIns="0" rtlCol="0" anchor="t"/>
          <a:lstStyle/>
          <a:p>
            <a:pPr indent="0" marL="0">
              <a:buNone/>
            </a:pPr>
            <a:r>
              <a:rPr lang="en-US" sz="1150" dirty="0">
                <a:solidFill>
                  <a:srgbClr val="0F172A"/>
                </a:solidFill>
                <a:latin typeface="Calibri" pitchFamily="34" charset="0"/>
                <a:ea typeface="Calibri" pitchFamily="34" charset="-122"/>
                <a:cs typeface="Calibri" pitchFamily="34" charset="-120"/>
              </a:rPr>
              <a:t>Gần như ngang: khả năng dự đoán chủ yếu đến từ EPSS</a:t>
            </a:r>
            <a:endParaRPr lang="en-US" sz="115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CSA bỏ qua 24 lỗ hổng KEV mà S đã xếp ưu tiên trước khi CISA xác nhận</a:t>
            </a:r>
            <a:endParaRPr lang="en-US" sz="1800" dirty="0"/>
          </a:p>
        </p:txBody>
      </p:sp>
      <p:sp>
        <p:nvSpPr>
          <p:cNvPr id="3" name="Shape 1"/>
          <p:cNvSpPr/>
          <p:nvPr/>
        </p:nvSpPr>
        <p:spPr>
          <a:xfrm>
            <a:off x="548640" y="1005840"/>
            <a:ext cx="2560320" cy="2240280"/>
          </a:xfrm>
          <a:prstGeom prst="roundRect">
            <a:avLst>
              <a:gd name="adj" fmla="val 4082"/>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4" name="Text 2"/>
          <p:cNvSpPr txBox="1"/>
          <p:nvPr/>
        </p:nvSpPr>
        <p:spPr>
          <a:xfrm>
            <a:off x="731520" y="1143000"/>
            <a:ext cx="2240280" cy="320040"/>
          </a:xfrm>
          <a:prstGeom prst="rect">
            <a:avLst/>
          </a:prstGeom>
          <a:noFill/>
          <a:ln/>
        </p:spPr>
        <p:txBody>
          <a:bodyPr wrap="square" lIns="0" tIns="0" rIns="0" bIns="0" rtlCol="0" anchor="t"/>
          <a:lstStyle/>
          <a:p>
            <a:pPr indent="0" marL="0">
              <a:buNone/>
            </a:pPr>
            <a:r>
              <a:rPr lang="en-US" sz="1350" b="1" dirty="0">
                <a:solidFill>
                  <a:srgbClr val="C02034"/>
                </a:solidFill>
                <a:latin typeface="Calibri" pitchFamily="34" charset="0"/>
                <a:ea typeface="Calibri" pitchFamily="34" charset="-122"/>
                <a:cs typeface="Calibri" pitchFamily="34" charset="-120"/>
              </a:rPr>
              <a:t>CVE-2021-26086</a:t>
            </a:r>
            <a:endParaRPr lang="en-US" sz="1350" dirty="0"/>
          </a:p>
        </p:txBody>
      </p:sp>
      <p:sp>
        <p:nvSpPr>
          <p:cNvPr id="5" name="Text 3"/>
          <p:cNvSpPr txBox="1"/>
          <p:nvPr/>
        </p:nvSpPr>
        <p:spPr>
          <a:xfrm>
            <a:off x="731520" y="1481328"/>
            <a:ext cx="2240280" cy="292608"/>
          </a:xfrm>
          <a:prstGeom prst="rect">
            <a:avLst/>
          </a:prstGeom>
          <a:noFill/>
          <a:ln/>
        </p:spPr>
        <p:txBody>
          <a:bodyPr wrap="square" lIns="0" tIns="0" rIns="0" bIns="0" rtlCol="0" anchor="t"/>
          <a:lstStyle/>
          <a:p>
            <a:pPr indent="0" marL="0">
              <a:buNone/>
            </a:pPr>
            <a:r>
              <a:rPr lang="en-US" sz="1150" b="1" dirty="0">
                <a:solidFill>
                  <a:srgbClr val="334155"/>
                </a:solidFill>
                <a:latin typeface="Calibri" pitchFamily="34" charset="0"/>
                <a:ea typeface="Calibri" pitchFamily="34" charset="-122"/>
                <a:cs typeface="Calibri" pitchFamily="34" charset="-120"/>
              </a:rPr>
              <a:t>Atlassian Jira, CVSS 5,3</a:t>
            </a:r>
            <a:endParaRPr lang="en-US" sz="1150" dirty="0"/>
          </a:p>
        </p:txBody>
      </p:sp>
      <p:sp>
        <p:nvSpPr>
          <p:cNvPr id="6" name="Text 4"/>
          <p:cNvSpPr txBox="1"/>
          <p:nvPr/>
        </p:nvSpPr>
        <p:spPr>
          <a:xfrm>
            <a:off x="731520" y="1828800"/>
            <a:ext cx="2240280" cy="132588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S khoảng 50 liên tục từ 02/2024, 8 tháng trước khi vào KEV (12/11/2024)</a:t>
            </a:r>
            <a:endParaRPr lang="en-US" sz="1300" dirty="0"/>
          </a:p>
        </p:txBody>
      </p:sp>
      <p:sp>
        <p:nvSpPr>
          <p:cNvPr id="7" name="Shape 5"/>
          <p:cNvSpPr/>
          <p:nvPr/>
        </p:nvSpPr>
        <p:spPr>
          <a:xfrm>
            <a:off x="3291840" y="1005840"/>
            <a:ext cx="2560320" cy="2240280"/>
          </a:xfrm>
          <a:prstGeom prst="roundRect">
            <a:avLst>
              <a:gd name="adj" fmla="val 4082"/>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8" name="Text 6"/>
          <p:cNvSpPr txBox="1"/>
          <p:nvPr/>
        </p:nvSpPr>
        <p:spPr>
          <a:xfrm>
            <a:off x="3474720" y="1143000"/>
            <a:ext cx="2240280" cy="320040"/>
          </a:xfrm>
          <a:prstGeom prst="rect">
            <a:avLst/>
          </a:prstGeom>
          <a:noFill/>
          <a:ln/>
        </p:spPr>
        <p:txBody>
          <a:bodyPr wrap="square" lIns="0" tIns="0" rIns="0" bIns="0" rtlCol="0" anchor="t"/>
          <a:lstStyle/>
          <a:p>
            <a:pPr indent="0" marL="0">
              <a:buNone/>
            </a:pPr>
            <a:r>
              <a:rPr lang="en-US" sz="1350" b="1" dirty="0">
                <a:solidFill>
                  <a:srgbClr val="C02034"/>
                </a:solidFill>
                <a:latin typeface="Calibri" pitchFamily="34" charset="0"/>
                <a:ea typeface="Calibri" pitchFamily="34" charset="-122"/>
                <a:cs typeface="Calibri" pitchFamily="34" charset="-120"/>
              </a:rPr>
              <a:t>CVE-2023-32315</a:t>
            </a:r>
            <a:endParaRPr lang="en-US" sz="1350" dirty="0"/>
          </a:p>
        </p:txBody>
      </p:sp>
      <p:sp>
        <p:nvSpPr>
          <p:cNvPr id="9" name="Text 7"/>
          <p:cNvSpPr txBox="1"/>
          <p:nvPr/>
        </p:nvSpPr>
        <p:spPr>
          <a:xfrm>
            <a:off x="3474720" y="1481328"/>
            <a:ext cx="2240280" cy="292608"/>
          </a:xfrm>
          <a:prstGeom prst="rect">
            <a:avLst/>
          </a:prstGeom>
          <a:noFill/>
          <a:ln/>
        </p:spPr>
        <p:txBody>
          <a:bodyPr wrap="square" lIns="0" tIns="0" rIns="0" bIns="0" rtlCol="0" anchor="t"/>
          <a:lstStyle/>
          <a:p>
            <a:pPr indent="0" marL="0">
              <a:buNone/>
            </a:pPr>
            <a:r>
              <a:rPr lang="en-US" sz="1150" b="1" dirty="0">
                <a:solidFill>
                  <a:srgbClr val="334155"/>
                </a:solidFill>
                <a:latin typeface="Calibri" pitchFamily="34" charset="0"/>
                <a:ea typeface="Calibri" pitchFamily="34" charset="-122"/>
                <a:cs typeface="Calibri" pitchFamily="34" charset="-120"/>
              </a:rPr>
              <a:t>Openfire, CVSS 7,5</a:t>
            </a:r>
            <a:endParaRPr lang="en-US" sz="1150" dirty="0"/>
          </a:p>
        </p:txBody>
      </p:sp>
      <p:sp>
        <p:nvSpPr>
          <p:cNvPr id="10" name="Text 8"/>
          <p:cNvSpPr txBox="1"/>
          <p:nvPr/>
        </p:nvSpPr>
        <p:spPr>
          <a:xfrm>
            <a:off x="3474720" y="1828800"/>
            <a:ext cx="2240280" cy="132588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S tăng 7, 34, 62 trong hai tháng sau công bố, gần 1 tháng trước khi vào KEV (24/08/2023)</a:t>
            </a:r>
            <a:endParaRPr lang="en-US" sz="1300" dirty="0"/>
          </a:p>
        </p:txBody>
      </p:sp>
      <p:sp>
        <p:nvSpPr>
          <p:cNvPr id="11" name="Shape 9"/>
          <p:cNvSpPr/>
          <p:nvPr/>
        </p:nvSpPr>
        <p:spPr>
          <a:xfrm>
            <a:off x="6035040" y="1005840"/>
            <a:ext cx="2560320" cy="2240280"/>
          </a:xfrm>
          <a:prstGeom prst="roundRect">
            <a:avLst>
              <a:gd name="adj" fmla="val 4082"/>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2" name="Text 10"/>
          <p:cNvSpPr txBox="1"/>
          <p:nvPr/>
        </p:nvSpPr>
        <p:spPr>
          <a:xfrm>
            <a:off x="6217920" y="1143000"/>
            <a:ext cx="2240280" cy="320040"/>
          </a:xfrm>
          <a:prstGeom prst="rect">
            <a:avLst/>
          </a:prstGeom>
          <a:noFill/>
          <a:ln/>
        </p:spPr>
        <p:txBody>
          <a:bodyPr wrap="square" lIns="0" tIns="0" rIns="0" bIns="0" rtlCol="0" anchor="t"/>
          <a:lstStyle/>
          <a:p>
            <a:pPr indent="0" marL="0">
              <a:buNone/>
            </a:pPr>
            <a:r>
              <a:rPr lang="en-US" sz="1350" b="1" dirty="0">
                <a:solidFill>
                  <a:srgbClr val="C02034"/>
                </a:solidFill>
                <a:latin typeface="Calibri" pitchFamily="34" charset="0"/>
                <a:ea typeface="Calibri" pitchFamily="34" charset="-122"/>
                <a:cs typeface="Calibri" pitchFamily="34" charset="-120"/>
              </a:rPr>
              <a:t>CVE-2015-5477</a:t>
            </a:r>
            <a:endParaRPr lang="en-US" sz="1350" dirty="0"/>
          </a:p>
        </p:txBody>
      </p:sp>
      <p:sp>
        <p:nvSpPr>
          <p:cNvPr id="13" name="Text 11"/>
          <p:cNvSpPr txBox="1"/>
          <p:nvPr/>
        </p:nvSpPr>
        <p:spPr>
          <a:xfrm>
            <a:off x="6217920" y="1481328"/>
            <a:ext cx="2240280" cy="292608"/>
          </a:xfrm>
          <a:prstGeom prst="rect">
            <a:avLst/>
          </a:prstGeom>
          <a:noFill/>
          <a:ln/>
        </p:spPr>
        <p:txBody>
          <a:bodyPr wrap="square" lIns="0" tIns="0" rIns="0" bIns="0" rtlCol="0" anchor="t"/>
          <a:lstStyle/>
          <a:p>
            <a:pPr indent="0" marL="0">
              <a:buNone/>
            </a:pPr>
            <a:r>
              <a:rPr lang="en-US" sz="1150" b="1" dirty="0">
                <a:solidFill>
                  <a:srgbClr val="334155"/>
                </a:solidFill>
                <a:latin typeface="Calibri" pitchFamily="34" charset="0"/>
                <a:ea typeface="Calibri" pitchFamily="34" charset="-122"/>
                <a:cs typeface="Calibri" pitchFamily="34" charset="-120"/>
              </a:rPr>
              <a:t>ISC BIND, CVSS 7,5</a:t>
            </a:r>
            <a:endParaRPr lang="en-US" sz="1150" dirty="0"/>
          </a:p>
        </p:txBody>
      </p:sp>
      <p:sp>
        <p:nvSpPr>
          <p:cNvPr id="14" name="Text 12"/>
          <p:cNvSpPr txBox="1"/>
          <p:nvPr/>
        </p:nvSpPr>
        <p:spPr>
          <a:xfrm>
            <a:off x="6217920" y="1828800"/>
            <a:ext cx="2240280" cy="132588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S khoảng 73 liên tục từ 02/2022; CISA xác nhận ngày 08/10/2026, tức 55 tháng sau</a:t>
            </a:r>
            <a:endParaRPr lang="en-US" sz="1300" dirty="0"/>
          </a:p>
        </p:txBody>
      </p:sp>
      <p:sp>
        <p:nvSpPr>
          <p:cNvPr id="15" name="Shape 13"/>
          <p:cNvSpPr/>
          <p:nvPr/>
        </p:nvSpPr>
        <p:spPr>
          <a:xfrm>
            <a:off x="548640" y="3474720"/>
            <a:ext cx="3931920" cy="2514600"/>
          </a:xfrm>
          <a:prstGeom prst="roundRect">
            <a:avLst>
              <a:gd name="adj" fmla="val 3636"/>
            </a:avLst>
          </a:prstGeom>
          <a:solidFill>
            <a:srgbClr val="FDECEE"/>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6" name="Text 14"/>
          <p:cNvSpPr txBox="1"/>
          <p:nvPr/>
        </p:nvSpPr>
        <p:spPr>
          <a:xfrm>
            <a:off x="777240" y="3657600"/>
            <a:ext cx="3520440" cy="502920"/>
          </a:xfrm>
          <a:prstGeom prst="rect">
            <a:avLst/>
          </a:prstGeom>
          <a:noFill/>
          <a:ln/>
        </p:spPr>
        <p:txBody>
          <a:bodyPr wrap="square" lIns="0" tIns="0" rIns="0" bIns="0" rtlCol="0" anchor="ctr"/>
          <a:lstStyle/>
          <a:p>
            <a:pPr indent="0" marL="0">
              <a:buNone/>
            </a:pPr>
            <a:r>
              <a:rPr lang="en-US" sz="2600" b="1" dirty="0">
                <a:solidFill>
                  <a:srgbClr val="C02034"/>
                </a:solidFill>
                <a:latin typeface="Calibri" pitchFamily="34" charset="0"/>
                <a:ea typeface="Calibri" pitchFamily="34" charset="-122"/>
                <a:cs typeface="Calibri" pitchFamily="34" charset="-120"/>
              </a:rPr>
              <a:t>24 / 156</a:t>
            </a:r>
            <a:endParaRPr lang="en-US" sz="2600" dirty="0"/>
          </a:p>
        </p:txBody>
      </p:sp>
      <p:sp>
        <p:nvSpPr>
          <p:cNvPr id="17" name="Text 15"/>
          <p:cNvSpPr txBox="1"/>
          <p:nvPr/>
        </p:nvSpPr>
        <p:spPr>
          <a:xfrm>
            <a:off x="777240" y="4187952"/>
            <a:ext cx="352044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lỗ hổng KEV có CVSS dưới 8,0, có EPSS, đạt S từ 50 vào 30 ngày trước khi vào KEV (15,38%)</a:t>
            </a:r>
            <a:endParaRPr lang="en-US" sz="1100" dirty="0"/>
          </a:p>
        </p:txBody>
      </p:sp>
      <p:sp>
        <p:nvSpPr>
          <p:cNvPr id="18" name="Text 16"/>
          <p:cNvSpPr txBox="1"/>
          <p:nvPr/>
        </p:nvSpPr>
        <p:spPr>
          <a:xfrm>
            <a:off x="777240" y="4846320"/>
            <a:ext cx="3520440" cy="502920"/>
          </a:xfrm>
          <a:prstGeom prst="rect">
            <a:avLst/>
          </a:prstGeom>
          <a:noFill/>
          <a:ln/>
        </p:spPr>
        <p:txBody>
          <a:bodyPr wrap="square" lIns="0" tIns="0" rIns="0" bIns="0" rtlCol="0" anchor="ctr"/>
          <a:lstStyle/>
          <a:p>
            <a:pPr indent="0" marL="0">
              <a:buNone/>
            </a:pPr>
            <a:r>
              <a:rPr lang="en-US" sz="2200" b="1" dirty="0">
                <a:solidFill>
                  <a:srgbClr val="C02034"/>
                </a:solidFill>
                <a:latin typeface="Calibri" pitchFamily="34" charset="0"/>
                <a:ea typeface="Calibri" pitchFamily="34" charset="-122"/>
                <a:cs typeface="Calibri" pitchFamily="34" charset="-120"/>
              </a:rPr>
              <a:t>14,3 tháng</a:t>
            </a:r>
            <a:endParaRPr lang="en-US" sz="2200" dirty="0"/>
          </a:p>
        </p:txBody>
      </p:sp>
      <p:sp>
        <p:nvSpPr>
          <p:cNvPr id="19" name="Text 17"/>
          <p:cNvSpPr txBox="1"/>
          <p:nvPr/>
        </p:nvSpPr>
        <p:spPr>
          <a:xfrm>
            <a:off x="777240" y="5376672"/>
            <a:ext cx="352044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trung vị thời gian S giữ liên tục lỗ hổng trong nhóm ưu tiên trước khi CISA xác nhận</a:t>
            </a:r>
            <a:endParaRPr lang="en-US" sz="1100" dirty="0"/>
          </a:p>
        </p:txBody>
      </p:sp>
      <p:sp>
        <p:nvSpPr>
          <p:cNvPr id="20" name="Shape 18"/>
          <p:cNvSpPr/>
          <p:nvPr/>
        </p:nvSpPr>
        <p:spPr>
          <a:xfrm>
            <a:off x="4709160" y="3474720"/>
            <a:ext cx="3931920" cy="2514600"/>
          </a:xfrm>
          <a:prstGeom prst="roundRect">
            <a:avLst>
              <a:gd name="adj" fmla="val 3636"/>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21" name="Text 19"/>
          <p:cNvSpPr txBox="1"/>
          <p:nvPr/>
        </p:nvSpPr>
        <p:spPr>
          <a:xfrm>
            <a:off x="4892040" y="3639312"/>
            <a:ext cx="356616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ĐỌC ĐÚNG TÌNH HUỐNG</a:t>
            </a:r>
            <a:endParaRPr lang="en-US" sz="1000" dirty="0"/>
          </a:p>
        </p:txBody>
      </p:sp>
      <p:sp>
        <p:nvSpPr>
          <p:cNvPr id="22" name="Text 20"/>
          <p:cNvSpPr txBox="1"/>
          <p:nvPr/>
        </p:nvSpPr>
        <p:spPr>
          <a:xfrm>
            <a:off x="4892040" y="3977640"/>
            <a:ext cx="3566160" cy="1920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0F172A"/>
                </a:solidFill>
                <a:latin typeface="Calibri" pitchFamily="34" charset="0"/>
                <a:ea typeface="Calibri" pitchFamily="34" charset="-122"/>
                <a:cs typeface="Calibri" pitchFamily="34" charset="-120"/>
              </a:rPr>
              <a:t>Báo trước là trước khi CISA xác nhận, chưa chắc trước khi bị khai thác</a:t>
            </a:r>
            <a:endParaRPr lang="en-US" sz="1250" dirty="0"/>
          </a:p>
          <a:p>
            <a:pPr marL="177800" indent="-177800">
              <a:spcAft>
                <a:spcPts val="500"/>
              </a:spcAft>
              <a:buSzPct val="100000"/>
              <a:buChar char="•"/>
            </a:pPr>
            <a:r>
              <a:rPr lang="en-US" sz="1250" dirty="0">
                <a:solidFill>
                  <a:srgbClr val="0F172A"/>
                </a:solidFill>
                <a:latin typeface="Calibri" pitchFamily="34" charset="0"/>
                <a:ea typeface="Calibri" pitchFamily="34" charset="-122"/>
                <a:cs typeface="Calibri" pitchFamily="34" charset="-120"/>
              </a:rPr>
              <a:t>12 / 24 lỗ hổng đạt 50 lần đầu đúng tháng EPSS đổi mô hình</a:t>
            </a:r>
            <a:endParaRPr lang="en-US" sz="1250" dirty="0"/>
          </a:p>
          <a:p>
            <a:pPr marL="177800" indent="-177800">
              <a:spcAft>
                <a:spcPts val="500"/>
              </a:spcAft>
              <a:buSzPct val="100000"/>
              <a:buChar char="•"/>
            </a:pPr>
            <a:r>
              <a:rPr lang="en-US" sz="1250" dirty="0">
                <a:solidFill>
                  <a:srgbClr val="0F172A"/>
                </a:solidFill>
                <a:latin typeface="Calibri" pitchFamily="34" charset="0"/>
                <a:ea typeface="Calibri" pitchFamily="34" charset="-122"/>
                <a:cs typeface="Calibri" pitchFamily="34" charset="-120"/>
              </a:rPr>
              <a:t>119 / 156 = 76,28% vẫn dưới 30 điểm trước khi vào KEV</a:t>
            </a:r>
            <a:endParaRPr lang="en-US" sz="125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Danh sách 24 lỗ hổng: phần lớn được giữ trong nhóm ưu tiên trên 12 tháng</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3931920" cy="914400"/>
        </p:xfrm>
        <a:graphic>
          <a:graphicData uri="http://schemas.openxmlformats.org/drawingml/2006/table">
            <a:tbl>
              <a:tblPr/>
              <a:tblGrid>
                <a:gridCol w="1188720"/>
                <a:gridCol w="438912"/>
                <a:gridCol w="658368"/>
                <a:gridCol w="749808"/>
                <a:gridCol w="896112"/>
              </a:tblGrid>
              <a:tr h="31089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Mã CVE</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CVSS</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 trước 30 ngày</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Giữ liên tục (tháng)</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Lần đầu đạt 50</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CVE-2015-5477</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73,0</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55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CVE-2019-9621</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73,1</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49</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Tháng đầu</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CVE-2019-5418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73,7</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49</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Tháng đầu</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CVE-2021-43798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73,7</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45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Tháng đầu</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CVE-2020-17519</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74,3</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36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Tháng đầu</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CVE-2021-22054</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72,4</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35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CVE-2018-9276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7,2</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59,3</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35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CVE-2020-9715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65,6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34</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Tăng dần</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CVE-2020-25078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73,6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CVE-2017-3506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7,4</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73,3</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27</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CVE-2016-9079</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74,4</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CVE-2016-6415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74,4</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4709160" y="960120"/>
          <a:ext cx="3931920" cy="914400"/>
        </p:xfrm>
        <a:graphic>
          <a:graphicData uri="http://schemas.openxmlformats.org/drawingml/2006/table">
            <a:tbl>
              <a:tblPr/>
              <a:tblGrid>
                <a:gridCol w="1188720"/>
                <a:gridCol w="438912"/>
                <a:gridCol w="658368"/>
                <a:gridCol w="749808"/>
                <a:gridCol w="896112"/>
              </a:tblGrid>
              <a:tr h="31089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Mã CVE</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CVSS</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 trước 30 ngày</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Giữ liên tục (tháng)</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Lần đầu đạt 50</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02034"/>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CVE-2022-43769</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7,2</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52,8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Tăng dần</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CVE-2024-21182</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72,1</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CVE-2024-27199</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7,3</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71,8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13</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CVE-2021-39935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51,3</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Tăng dần</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CVE-2021-41277</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73,9</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CVE-2021-26086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5,3</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50,6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CVE-2021-22555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73,6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Tăng dần</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CVE-2021-21311</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7,2</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69,2</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Đổi mô hình</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CVE-2023-24955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7,2</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51,9</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Tăng dần</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CVE-2023-27351</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58,9</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Tăng dần</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CVE-2023-32315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61,8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Tăng dần</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CVE-2023-0386</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7,8</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A"/>
                          </a:solidFill>
                          <a:latin typeface="Calibri" pitchFamily="34" charset="0"/>
                          <a:ea typeface="Calibri" pitchFamily="34" charset="-122"/>
                          <a:cs typeface="Calibri" pitchFamily="34" charset="-120"/>
                        </a:rPr>
                        <a:t>50,3</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2034"/>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A"/>
                          </a:solidFill>
                          <a:latin typeface="Calibri" pitchFamily="34" charset="0"/>
                          <a:ea typeface="Calibri" pitchFamily="34" charset="-122"/>
                          <a:cs typeface="Calibri" pitchFamily="34" charset="-120"/>
                        </a:rPr>
                        <a:t>Tăng dần</a:t>
                      </a:r>
                      <a:endParaRPr lang="en-US" sz="950" dirty="0">
                        <a:latin typeface="Calibri" charset="0"/>
                        <a:ea typeface="Calibri" charset="0"/>
                        <a:cs typeface="Calibri" charset="0"/>
                      </a:endParaRPr>
                    </a:p>
                  </a:txBody>
                  <a:tcPr marL="63500" marR="63500" marT="38100" marB="381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257800"/>
            <a:ext cx="2578608" cy="777240"/>
          </a:xfrm>
          <a:prstGeom prst="roundRect">
            <a:avLst>
              <a:gd name="adj" fmla="val 11765"/>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6" name="Text 2"/>
          <p:cNvSpPr txBox="1"/>
          <p:nvPr/>
        </p:nvSpPr>
        <p:spPr>
          <a:xfrm>
            <a:off x="685800" y="5330952"/>
            <a:ext cx="502920" cy="64008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12</a:t>
            </a:r>
            <a:endParaRPr lang="en-US" sz="2400" dirty="0"/>
          </a:p>
        </p:txBody>
      </p:sp>
      <p:sp>
        <p:nvSpPr>
          <p:cNvPr id="7" name="Text 3"/>
          <p:cNvSpPr txBox="1"/>
          <p:nvPr/>
        </p:nvSpPr>
        <p:spPr>
          <a:xfrm>
            <a:off x="1207008" y="5330952"/>
            <a:ext cx="1828800" cy="64008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Đổi mô hình</a:t>
            </a:r>
            <a:endParaRPr lang="en-US" sz="1050" dirty="0"/>
          </a:p>
          <a:p>
            <a:pPr indent="0" marL="0">
              <a:buNone/>
            </a:pPr>
            <a:r>
              <a:rPr lang="en-US" sz="1050" dirty="0">
                <a:solidFill>
                  <a:srgbClr val="0F172A"/>
                </a:solidFill>
                <a:latin typeface="Calibri" pitchFamily="34" charset="0"/>
                <a:ea typeface="Calibri" pitchFamily="34" charset="-122"/>
                <a:cs typeface="Calibri" pitchFamily="34" charset="-120"/>
              </a:rPr>
              <a:t>lần đầu đạt 50 trùng tháng EPSS đổi mô hình</a:t>
            </a:r>
            <a:endParaRPr lang="en-US" sz="1050" dirty="0"/>
          </a:p>
        </p:txBody>
      </p:sp>
      <p:sp>
        <p:nvSpPr>
          <p:cNvPr id="8" name="Shape 4"/>
          <p:cNvSpPr/>
          <p:nvPr/>
        </p:nvSpPr>
        <p:spPr>
          <a:xfrm>
            <a:off x="3273552" y="5257800"/>
            <a:ext cx="2578608" cy="777240"/>
          </a:xfrm>
          <a:prstGeom prst="roundRect">
            <a:avLst>
              <a:gd name="adj" fmla="val 11765"/>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9" name="Text 5"/>
          <p:cNvSpPr txBox="1"/>
          <p:nvPr/>
        </p:nvSpPr>
        <p:spPr>
          <a:xfrm>
            <a:off x="3410712" y="5330952"/>
            <a:ext cx="502920" cy="64008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4</a:t>
            </a:r>
            <a:endParaRPr lang="en-US" sz="2400" dirty="0"/>
          </a:p>
        </p:txBody>
      </p:sp>
      <p:sp>
        <p:nvSpPr>
          <p:cNvPr id="10" name="Text 6"/>
          <p:cNvSpPr txBox="1"/>
          <p:nvPr/>
        </p:nvSpPr>
        <p:spPr>
          <a:xfrm>
            <a:off x="3931920" y="5330952"/>
            <a:ext cx="1828800" cy="64008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Tháng đầu</a:t>
            </a:r>
            <a:endParaRPr lang="en-US" sz="1050" dirty="0"/>
          </a:p>
          <a:p>
            <a:pPr indent="0" marL="0">
              <a:buNone/>
            </a:pPr>
            <a:r>
              <a:rPr lang="en-US" sz="1050" dirty="0">
                <a:solidFill>
                  <a:srgbClr val="0F172A"/>
                </a:solidFill>
                <a:latin typeface="Calibri" pitchFamily="34" charset="0"/>
                <a:ea typeface="Calibri" pitchFamily="34" charset="-122"/>
                <a:cs typeface="Calibri" pitchFamily="34" charset="-120"/>
              </a:rPr>
              <a:t>đạt 50 ngay tháng đầu có điểm</a:t>
            </a:r>
            <a:endParaRPr lang="en-US" sz="1050" dirty="0"/>
          </a:p>
        </p:txBody>
      </p:sp>
      <p:sp>
        <p:nvSpPr>
          <p:cNvPr id="11" name="Shape 7"/>
          <p:cNvSpPr/>
          <p:nvPr/>
        </p:nvSpPr>
        <p:spPr>
          <a:xfrm>
            <a:off x="5998464" y="5257800"/>
            <a:ext cx="2578608" cy="777240"/>
          </a:xfrm>
          <a:prstGeom prst="roundRect">
            <a:avLst>
              <a:gd name="adj" fmla="val 11765"/>
            </a:avLst>
          </a:prstGeom>
          <a:solidFill>
            <a:srgbClr val="FDECEE"/>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2" name="Text 8"/>
          <p:cNvSpPr txBox="1"/>
          <p:nvPr/>
        </p:nvSpPr>
        <p:spPr>
          <a:xfrm>
            <a:off x="6135624" y="5330952"/>
            <a:ext cx="502920" cy="64008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8</a:t>
            </a:r>
            <a:endParaRPr lang="en-US" sz="2400" dirty="0"/>
          </a:p>
        </p:txBody>
      </p:sp>
      <p:sp>
        <p:nvSpPr>
          <p:cNvPr id="13" name="Text 9"/>
          <p:cNvSpPr txBox="1"/>
          <p:nvPr/>
        </p:nvSpPr>
        <p:spPr>
          <a:xfrm>
            <a:off x="6656832" y="5330952"/>
            <a:ext cx="1828800" cy="64008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Tăng dần</a:t>
            </a:r>
            <a:endParaRPr lang="en-US" sz="1050" dirty="0"/>
          </a:p>
          <a:p>
            <a:pPr indent="0" marL="0">
              <a:buNone/>
            </a:pPr>
            <a:r>
              <a:rPr lang="en-US" sz="1050" dirty="0">
                <a:solidFill>
                  <a:srgbClr val="0F172A"/>
                </a:solidFill>
                <a:latin typeface="Calibri" pitchFamily="34" charset="0"/>
                <a:ea typeface="Calibri" pitchFamily="34" charset="-122"/>
                <a:cs typeface="Calibri" pitchFamily="34" charset="-120"/>
              </a:rPr>
              <a:t>điểm tăng dần theo EPSS giữa hai lần đổi mô hình</a:t>
            </a:r>
            <a:endParaRPr lang="en-US" sz="105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CVSS từ 9,0: nhóm S từ 70 chỉ 6,2% khối lượng nhưng chứa 52% ca bị khai thác</a:t>
            </a:r>
            <a:endParaRPr lang="en-US" sz="1800" dirty="0"/>
          </a:p>
        </p:txBody>
      </p:sp>
      <p:sp>
        <p:nvSpPr>
          <p:cNvPr id="3" name="Shape 1"/>
          <p:cNvSpPr/>
          <p:nvPr/>
        </p:nvSpPr>
        <p:spPr>
          <a:xfrm>
            <a:off x="548640" y="960120"/>
            <a:ext cx="5486400" cy="5074920"/>
          </a:xfrm>
          <a:prstGeom prst="roundRect">
            <a:avLst>
              <a:gd name="adj" fmla="val 1802"/>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graphicFrame>
        <p:nvGraphicFramePr>
          <p:cNvPr id="4" name="Chart 0" descr=""/>
          <p:cNvGraphicFramePr/>
          <p:nvPr/>
        </p:nvGraphicFramePr>
        <p:xfrm>
          <a:off x="685800" y="1051560"/>
          <a:ext cx="5212080" cy="4846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309360" y="1097280"/>
            <a:ext cx="2331720" cy="502920"/>
          </a:xfrm>
          <a:prstGeom prst="rect">
            <a:avLst/>
          </a:prstGeom>
          <a:noFill/>
          <a:ln/>
        </p:spPr>
        <p:txBody>
          <a:bodyPr wrap="square" lIns="0" tIns="0" rIns="0" bIns="0" rtlCol="0" anchor="ctr"/>
          <a:lstStyle/>
          <a:p>
            <a:pPr indent="0" marL="0">
              <a:buNone/>
            </a:pPr>
            <a:r>
              <a:rPr lang="en-US" sz="2200" b="1" dirty="0">
                <a:solidFill>
                  <a:srgbClr val="C02034"/>
                </a:solidFill>
                <a:latin typeface="Calibri" pitchFamily="34" charset="0"/>
                <a:ea typeface="Calibri" pitchFamily="34" charset="-122"/>
                <a:cs typeface="Calibri" pitchFamily="34" charset="-120"/>
              </a:rPr>
              <a:t>25 / 30.308</a:t>
            </a:r>
            <a:endParaRPr lang="en-US" sz="2200" dirty="0"/>
          </a:p>
        </p:txBody>
      </p:sp>
      <p:sp>
        <p:nvSpPr>
          <p:cNvPr id="6" name="Text 3"/>
          <p:cNvSpPr txBox="1"/>
          <p:nvPr/>
        </p:nvSpPr>
        <p:spPr>
          <a:xfrm>
            <a:off x="6309360" y="1627632"/>
            <a:ext cx="2331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lỗ hổng CSA yêu cầu vá trong 48 giờ thực sự vào KEV trong 12 tháng (0,082%)</a:t>
            </a:r>
            <a:endParaRPr lang="en-US" sz="1100" dirty="0"/>
          </a:p>
        </p:txBody>
      </p:sp>
      <p:sp>
        <p:nvSpPr>
          <p:cNvPr id="7" name="Text 4"/>
          <p:cNvSpPr txBox="1"/>
          <p:nvPr/>
        </p:nvSpPr>
        <p:spPr>
          <a:xfrm>
            <a:off x="6309360" y="2468880"/>
            <a:ext cx="2331720" cy="502920"/>
          </a:xfrm>
          <a:prstGeom prst="rect">
            <a:avLst/>
          </a:prstGeom>
          <a:noFill/>
          <a:ln/>
        </p:spPr>
        <p:txBody>
          <a:bodyPr wrap="square" lIns="0" tIns="0" rIns="0" bIns="0" rtlCol="0" anchor="ctr"/>
          <a:lstStyle/>
          <a:p>
            <a:pPr indent="0" marL="0">
              <a:buNone/>
            </a:pPr>
            <a:r>
              <a:rPr lang="en-US" sz="3000" b="1" dirty="0">
                <a:solidFill>
                  <a:srgbClr val="C02034"/>
                </a:solidFill>
                <a:latin typeface="Calibri" pitchFamily="34" charset="0"/>
                <a:ea typeface="Calibri" pitchFamily="34" charset="-122"/>
                <a:cs typeface="Calibri" pitchFamily="34" charset="-120"/>
              </a:rPr>
              <a:t>73,40%</a:t>
            </a:r>
            <a:endParaRPr lang="en-US" sz="3000" dirty="0"/>
          </a:p>
        </p:txBody>
      </p:sp>
      <p:sp>
        <p:nvSpPr>
          <p:cNvPr id="8" name="Text 5"/>
          <p:cNvSpPr txBox="1"/>
          <p:nvPr/>
        </p:nvSpPr>
        <p:spPr>
          <a:xfrm>
            <a:off x="6309360" y="2999232"/>
            <a:ext cx="2331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khối lượng này được S hạ ưu tiên xuống dưới 30 điểm</a:t>
            </a:r>
            <a:endParaRPr lang="en-US" sz="1100" dirty="0"/>
          </a:p>
        </p:txBody>
      </p:sp>
      <p:sp>
        <p:nvSpPr>
          <p:cNvPr id="9" name="Text 6"/>
          <p:cNvSpPr txBox="1"/>
          <p:nvPr/>
        </p:nvSpPr>
        <p:spPr>
          <a:xfrm>
            <a:off x="6309360" y="3749040"/>
            <a:ext cx="2331720" cy="502920"/>
          </a:xfrm>
          <a:prstGeom prst="rect">
            <a:avLst/>
          </a:prstGeom>
          <a:noFill/>
          <a:ln/>
        </p:spPr>
        <p:txBody>
          <a:bodyPr wrap="square" lIns="0" tIns="0" rIns="0" bIns="0" rtlCol="0" anchor="ctr"/>
          <a:lstStyle/>
          <a:p>
            <a:pPr indent="0" marL="0">
              <a:buNone/>
            </a:pPr>
            <a:r>
              <a:rPr lang="en-US" sz="3000" b="1" dirty="0">
                <a:solidFill>
                  <a:srgbClr val="C02034"/>
                </a:solidFill>
                <a:latin typeface="Calibri" pitchFamily="34" charset="0"/>
                <a:ea typeface="Calibri" pitchFamily="34" charset="-122"/>
                <a:cs typeface="Calibri" pitchFamily="34" charset="-120"/>
              </a:rPr>
              <a:t>22 lần</a:t>
            </a:r>
            <a:endParaRPr lang="en-US" sz="3000" dirty="0"/>
          </a:p>
        </p:txBody>
      </p:sp>
      <p:sp>
        <p:nvSpPr>
          <p:cNvPr id="10" name="Text 7"/>
          <p:cNvSpPr txBox="1"/>
          <p:nvPr/>
        </p:nvSpPr>
        <p:spPr>
          <a:xfrm>
            <a:off x="6309360" y="4279392"/>
            <a:ext cx="2331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tỷ lệ bị khai thác của nhóm S từ 70 (0,692%) so với nhóm dưới 30 (0,031%)</a:t>
            </a:r>
            <a:endParaRPr lang="en-US" sz="1100" dirty="0"/>
          </a:p>
        </p:txBody>
      </p:sp>
      <p:sp>
        <p:nvSpPr>
          <p:cNvPr id="11" name="Text 8"/>
          <p:cNvSpPr txBox="1"/>
          <p:nvPr/>
        </p:nvSpPr>
        <p:spPr>
          <a:xfrm>
            <a:off x="6309360" y="5120640"/>
            <a:ext cx="2331720" cy="868680"/>
          </a:xfrm>
          <a:prstGeom prst="rect">
            <a:avLst/>
          </a:prstGeom>
          <a:noFill/>
          <a:ln/>
        </p:spPr>
        <p:txBody>
          <a:bodyPr wrap="square" lIns="0" tIns="0" rIns="0" bIns="0" rtlCol="0" anchor="t"/>
          <a:lstStyle/>
          <a:p>
            <a:pPr indent="0" marL="0">
              <a:buNone/>
            </a:pPr>
            <a:r>
              <a:rPr lang="en-US" sz="1150" b="1" dirty="0">
                <a:solidFill>
                  <a:srgbClr val="334155"/>
                </a:solidFill>
                <a:latin typeface="Calibri" pitchFamily="34" charset="0"/>
                <a:ea typeface="Calibri" pitchFamily="34" charset="-122"/>
                <a:cs typeface="Calibri" pitchFamily="34" charset="-120"/>
              </a:rPr>
              <a:t>Cái giá: nhóm bị hạ vẫn chứa 7 / 25 = 28% số ca bị khai thác.</a:t>
            </a:r>
            <a:endParaRPr lang="en-US" sz="115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Thay ngưỡng CVSS cố định bằng thang điểm S có hạn vá theo từng mức</a:t>
            </a:r>
            <a:endParaRPr lang="en-US" sz="1800" dirty="0"/>
          </a:p>
        </p:txBody>
      </p:sp>
      <p:sp>
        <p:nvSpPr>
          <p:cNvPr id="3" name="Shape 1"/>
          <p:cNvSpPr/>
          <p:nvPr/>
        </p:nvSpPr>
        <p:spPr>
          <a:xfrm>
            <a:off x="548640" y="1005840"/>
            <a:ext cx="5120640" cy="548640"/>
          </a:xfrm>
          <a:prstGeom prst="roundRect">
            <a:avLst>
              <a:gd name="adj" fmla="val 10000"/>
            </a:avLst>
          </a:prstGeom>
          <a:solidFill>
            <a:srgbClr val="C02034"/>
          </a:solidFill>
          <a:ln w="6350">
            <a:solidFill>
              <a:srgbClr val="E2E8F0"/>
            </a:solidFill>
            <a:prstDash val="solid"/>
          </a:ln>
        </p:spPr>
      </p:sp>
      <p:sp>
        <p:nvSpPr>
          <p:cNvPr id="4" name="Text 2"/>
          <p:cNvSpPr txBox="1"/>
          <p:nvPr/>
        </p:nvSpPr>
        <p:spPr>
          <a:xfrm>
            <a:off x="685800" y="1051560"/>
            <a:ext cx="132588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Khẩn cấp</a:t>
            </a:r>
            <a:endParaRPr lang="en-US" sz="1250" dirty="0"/>
          </a:p>
        </p:txBody>
      </p:sp>
      <p:sp>
        <p:nvSpPr>
          <p:cNvPr id="5" name="Text 3"/>
          <p:cNvSpPr txBox="1"/>
          <p:nvPr/>
        </p:nvSpPr>
        <p:spPr>
          <a:xfrm>
            <a:off x="2011680" y="1051560"/>
            <a:ext cx="233172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KEV hoặc tự động hóa được, trên tài sản phơi ra Internet</a:t>
            </a:r>
            <a:endParaRPr lang="en-US" sz="1100" dirty="0"/>
          </a:p>
        </p:txBody>
      </p:sp>
      <p:sp>
        <p:nvSpPr>
          <p:cNvPr id="6" name="Text 4"/>
          <p:cNvSpPr txBox="1"/>
          <p:nvPr/>
        </p:nvSpPr>
        <p:spPr>
          <a:xfrm>
            <a:off x="4343400" y="1051560"/>
            <a:ext cx="1234440" cy="457200"/>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3 ngày</a:t>
            </a:r>
            <a:endParaRPr lang="en-US" sz="1250" dirty="0"/>
          </a:p>
        </p:txBody>
      </p:sp>
      <p:sp>
        <p:nvSpPr>
          <p:cNvPr id="7" name="Shape 5"/>
          <p:cNvSpPr/>
          <p:nvPr/>
        </p:nvSpPr>
        <p:spPr>
          <a:xfrm>
            <a:off x="548640" y="1645920"/>
            <a:ext cx="5120640" cy="548640"/>
          </a:xfrm>
          <a:prstGeom prst="roundRect">
            <a:avLst>
              <a:gd name="adj" fmla="val 10000"/>
            </a:avLst>
          </a:prstGeom>
          <a:solidFill>
            <a:srgbClr val="D9485B"/>
          </a:solidFill>
          <a:ln w="6350">
            <a:solidFill>
              <a:srgbClr val="E2E8F0"/>
            </a:solidFill>
            <a:prstDash val="solid"/>
          </a:ln>
        </p:spPr>
      </p:sp>
      <p:sp>
        <p:nvSpPr>
          <p:cNvPr id="8" name="Text 6"/>
          <p:cNvSpPr txBox="1"/>
          <p:nvPr/>
        </p:nvSpPr>
        <p:spPr>
          <a:xfrm>
            <a:off x="685800" y="1691640"/>
            <a:ext cx="132588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Nghiêm trọng</a:t>
            </a:r>
            <a:endParaRPr lang="en-US" sz="1250" dirty="0"/>
          </a:p>
        </p:txBody>
      </p:sp>
      <p:sp>
        <p:nvSpPr>
          <p:cNvPr id="9" name="Text 7"/>
          <p:cNvSpPr txBox="1"/>
          <p:nvPr/>
        </p:nvSpPr>
        <p:spPr>
          <a:xfrm>
            <a:off x="2011680" y="1691640"/>
            <a:ext cx="233172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 từ 70 đến 100: gấp 28 lần trung bình</a:t>
            </a:r>
            <a:endParaRPr lang="en-US" sz="1100" dirty="0"/>
          </a:p>
        </p:txBody>
      </p:sp>
      <p:sp>
        <p:nvSpPr>
          <p:cNvPr id="10" name="Text 8"/>
          <p:cNvSpPr txBox="1"/>
          <p:nvPr/>
        </p:nvSpPr>
        <p:spPr>
          <a:xfrm>
            <a:off x="4343400" y="1691640"/>
            <a:ext cx="1234440" cy="457200"/>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7 ngày</a:t>
            </a:r>
            <a:endParaRPr lang="en-US" sz="1250" dirty="0"/>
          </a:p>
        </p:txBody>
      </p:sp>
      <p:sp>
        <p:nvSpPr>
          <p:cNvPr id="11" name="Shape 9"/>
          <p:cNvSpPr/>
          <p:nvPr/>
        </p:nvSpPr>
        <p:spPr>
          <a:xfrm>
            <a:off x="548640" y="2286000"/>
            <a:ext cx="5120640" cy="548640"/>
          </a:xfrm>
          <a:prstGeom prst="roundRect">
            <a:avLst>
              <a:gd name="adj" fmla="val 10000"/>
            </a:avLst>
          </a:prstGeom>
          <a:solidFill>
            <a:srgbClr val="EE8C99"/>
          </a:solidFill>
          <a:ln w="6350">
            <a:solidFill>
              <a:srgbClr val="E2E8F0"/>
            </a:solidFill>
            <a:prstDash val="solid"/>
          </a:ln>
        </p:spPr>
      </p:sp>
      <p:sp>
        <p:nvSpPr>
          <p:cNvPr id="12" name="Text 10"/>
          <p:cNvSpPr txBox="1"/>
          <p:nvPr/>
        </p:nvSpPr>
        <p:spPr>
          <a:xfrm>
            <a:off x="685800" y="2331720"/>
            <a:ext cx="1325880" cy="45720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Cao</a:t>
            </a:r>
            <a:endParaRPr lang="en-US" sz="1250" dirty="0"/>
          </a:p>
        </p:txBody>
      </p:sp>
      <p:sp>
        <p:nvSpPr>
          <p:cNvPr id="13" name="Text 11"/>
          <p:cNvSpPr txBox="1"/>
          <p:nvPr/>
        </p:nvSpPr>
        <p:spPr>
          <a:xfrm>
            <a:off x="2011680" y="2331720"/>
            <a:ext cx="2331720" cy="45720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 từ 50 đến 69: gấp 7 lần</a:t>
            </a:r>
            <a:endParaRPr lang="en-US" sz="1100" dirty="0"/>
          </a:p>
        </p:txBody>
      </p:sp>
      <p:sp>
        <p:nvSpPr>
          <p:cNvPr id="14" name="Text 12"/>
          <p:cNvSpPr txBox="1"/>
          <p:nvPr/>
        </p:nvSpPr>
        <p:spPr>
          <a:xfrm>
            <a:off x="4343400" y="2331720"/>
            <a:ext cx="1234440" cy="457200"/>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14 ngày</a:t>
            </a:r>
            <a:endParaRPr lang="en-US" sz="1250" dirty="0"/>
          </a:p>
        </p:txBody>
      </p:sp>
      <p:sp>
        <p:nvSpPr>
          <p:cNvPr id="15" name="Shape 13"/>
          <p:cNvSpPr/>
          <p:nvPr/>
        </p:nvSpPr>
        <p:spPr>
          <a:xfrm>
            <a:off x="548640" y="2926080"/>
            <a:ext cx="5120640" cy="548640"/>
          </a:xfrm>
          <a:prstGeom prst="roundRect">
            <a:avLst>
              <a:gd name="adj" fmla="val 10000"/>
            </a:avLst>
          </a:prstGeom>
          <a:solidFill>
            <a:srgbClr val="F6C3CA"/>
          </a:solidFill>
          <a:ln w="6350">
            <a:solidFill>
              <a:srgbClr val="E2E8F0"/>
            </a:solidFill>
            <a:prstDash val="solid"/>
          </a:ln>
        </p:spPr>
      </p:sp>
      <p:sp>
        <p:nvSpPr>
          <p:cNvPr id="16" name="Text 14"/>
          <p:cNvSpPr txBox="1"/>
          <p:nvPr/>
        </p:nvSpPr>
        <p:spPr>
          <a:xfrm>
            <a:off x="685800" y="2971800"/>
            <a:ext cx="1325880" cy="45720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Trung bình</a:t>
            </a:r>
            <a:endParaRPr lang="en-US" sz="1250" dirty="0"/>
          </a:p>
        </p:txBody>
      </p:sp>
      <p:sp>
        <p:nvSpPr>
          <p:cNvPr id="17" name="Text 15"/>
          <p:cNvSpPr txBox="1"/>
          <p:nvPr/>
        </p:nvSpPr>
        <p:spPr>
          <a:xfrm>
            <a:off x="2011680" y="2971800"/>
            <a:ext cx="2331720" cy="45720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 từ 30 đến 49: gấp 2,2 lần</a:t>
            </a:r>
            <a:endParaRPr lang="en-US" sz="1100" dirty="0"/>
          </a:p>
        </p:txBody>
      </p:sp>
      <p:sp>
        <p:nvSpPr>
          <p:cNvPr id="18" name="Text 16"/>
          <p:cNvSpPr txBox="1"/>
          <p:nvPr/>
        </p:nvSpPr>
        <p:spPr>
          <a:xfrm>
            <a:off x="4343400" y="2971800"/>
            <a:ext cx="1234440" cy="457200"/>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30 ngày</a:t>
            </a:r>
            <a:endParaRPr lang="en-US" sz="1250" dirty="0"/>
          </a:p>
        </p:txBody>
      </p:sp>
      <p:sp>
        <p:nvSpPr>
          <p:cNvPr id="19" name="Shape 17"/>
          <p:cNvSpPr/>
          <p:nvPr/>
        </p:nvSpPr>
        <p:spPr>
          <a:xfrm>
            <a:off x="548640" y="3566160"/>
            <a:ext cx="5120640" cy="548640"/>
          </a:xfrm>
          <a:prstGeom prst="roundRect">
            <a:avLst>
              <a:gd name="adj" fmla="val 10000"/>
            </a:avLst>
          </a:prstGeom>
          <a:solidFill>
            <a:srgbClr val="FBE3E6"/>
          </a:solidFill>
          <a:ln w="6350">
            <a:solidFill>
              <a:srgbClr val="E2E8F0"/>
            </a:solidFill>
            <a:prstDash val="solid"/>
          </a:ln>
        </p:spPr>
      </p:sp>
      <p:sp>
        <p:nvSpPr>
          <p:cNvPr id="20" name="Text 18"/>
          <p:cNvSpPr txBox="1"/>
          <p:nvPr/>
        </p:nvSpPr>
        <p:spPr>
          <a:xfrm>
            <a:off x="685800" y="3611880"/>
            <a:ext cx="1325880" cy="45720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Thấp</a:t>
            </a:r>
            <a:endParaRPr lang="en-US" sz="1250" dirty="0"/>
          </a:p>
        </p:txBody>
      </p:sp>
      <p:sp>
        <p:nvSpPr>
          <p:cNvPr id="21" name="Text 19"/>
          <p:cNvSpPr txBox="1"/>
          <p:nvPr/>
        </p:nvSpPr>
        <p:spPr>
          <a:xfrm>
            <a:off x="2011680" y="3611880"/>
            <a:ext cx="2331720" cy="45720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 từ 10 đến 29: 0,6 lần</a:t>
            </a:r>
            <a:endParaRPr lang="en-US" sz="1100" dirty="0"/>
          </a:p>
        </p:txBody>
      </p:sp>
      <p:sp>
        <p:nvSpPr>
          <p:cNvPr id="22" name="Text 20"/>
          <p:cNvSpPr txBox="1"/>
          <p:nvPr/>
        </p:nvSpPr>
        <p:spPr>
          <a:xfrm>
            <a:off x="4343400" y="3611880"/>
            <a:ext cx="1234440" cy="457200"/>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60 ngày</a:t>
            </a:r>
            <a:endParaRPr lang="en-US" sz="1250" dirty="0"/>
          </a:p>
        </p:txBody>
      </p:sp>
      <p:sp>
        <p:nvSpPr>
          <p:cNvPr id="23" name="Shape 21"/>
          <p:cNvSpPr/>
          <p:nvPr/>
        </p:nvSpPr>
        <p:spPr>
          <a:xfrm>
            <a:off x="548640" y="4206240"/>
            <a:ext cx="5120640" cy="548640"/>
          </a:xfrm>
          <a:prstGeom prst="roundRect">
            <a:avLst>
              <a:gd name="adj" fmla="val 10000"/>
            </a:avLst>
          </a:prstGeom>
          <a:solidFill>
            <a:srgbClr val="F8FAFC"/>
          </a:solidFill>
          <a:ln w="6350">
            <a:solidFill>
              <a:srgbClr val="E2E8F0"/>
            </a:solidFill>
            <a:prstDash val="solid"/>
          </a:ln>
        </p:spPr>
      </p:sp>
      <p:sp>
        <p:nvSpPr>
          <p:cNvPr id="24" name="Text 22"/>
          <p:cNvSpPr txBox="1"/>
          <p:nvPr/>
        </p:nvSpPr>
        <p:spPr>
          <a:xfrm>
            <a:off x="685800" y="4251960"/>
            <a:ext cx="1325880" cy="45720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Rất thấp</a:t>
            </a:r>
            <a:endParaRPr lang="en-US" sz="1250" dirty="0"/>
          </a:p>
        </p:txBody>
      </p:sp>
      <p:sp>
        <p:nvSpPr>
          <p:cNvPr id="25" name="Text 23"/>
          <p:cNvSpPr txBox="1"/>
          <p:nvPr/>
        </p:nvSpPr>
        <p:spPr>
          <a:xfrm>
            <a:off x="2011680" y="4251960"/>
            <a:ext cx="2331720" cy="45720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 từ 0 đến 9: 0,3 lần</a:t>
            </a:r>
            <a:endParaRPr lang="en-US" sz="1100" dirty="0"/>
          </a:p>
        </p:txBody>
      </p:sp>
      <p:sp>
        <p:nvSpPr>
          <p:cNvPr id="26" name="Text 24"/>
          <p:cNvSpPr txBox="1"/>
          <p:nvPr/>
        </p:nvSpPr>
        <p:spPr>
          <a:xfrm>
            <a:off x="4343400" y="4251960"/>
            <a:ext cx="1234440" cy="457200"/>
          </a:xfrm>
          <a:prstGeom prst="rect">
            <a:avLst/>
          </a:prstGeom>
          <a:noFill/>
          <a:ln/>
        </p:spPr>
        <p:txBody>
          <a:bodyPr wrap="square" lIns="0" tIns="0" rIns="0" bIns="0" rtlCol="0" anchor="ctr"/>
          <a:lstStyle/>
          <a:p>
            <a:pPr algn="r" indent="0" marL="0">
              <a:buNone/>
            </a:pPr>
            <a:r>
              <a:rPr lang="en-US" sz="1250" b="1" dirty="0">
                <a:solidFill>
                  <a:srgbClr val="0F172A"/>
                </a:solidFill>
                <a:latin typeface="Calibri" pitchFamily="34" charset="0"/>
                <a:ea typeface="Calibri" pitchFamily="34" charset="-122"/>
                <a:cs typeface="Calibri" pitchFamily="34" charset="-120"/>
              </a:rPr>
              <a:t>Lần nâng cấp kế tiếp</a:t>
            </a:r>
            <a:endParaRPr lang="en-US" sz="1250" dirty="0"/>
          </a:p>
        </p:txBody>
      </p:sp>
      <p:sp>
        <p:nvSpPr>
          <p:cNvPr id="27" name="Text 25"/>
          <p:cNvSpPr txBox="1"/>
          <p:nvPr/>
        </p:nvSpPr>
        <p:spPr>
          <a:xfrm>
            <a:off x="548640" y="4892040"/>
            <a:ext cx="512064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Tài sản nội bộ (S = 0) vẫn có hạn theo BOD 26-04: lỗ hổng KEV 14 ngày, hoặc 3 ngày kèm điều tra nếu tự động hóa được và chiếm toàn quyền; tự động hóa được 60 ngày</a:t>
            </a:r>
            <a:endParaRPr lang="en-US" sz="1100" dirty="0"/>
          </a:p>
        </p:txBody>
      </p:sp>
      <p:sp>
        <p:nvSpPr>
          <p:cNvPr id="28" name="Shape 26"/>
          <p:cNvSpPr/>
          <p:nvPr/>
        </p:nvSpPr>
        <p:spPr>
          <a:xfrm>
            <a:off x="5943600" y="1005840"/>
            <a:ext cx="2697480" cy="4526280"/>
          </a:xfrm>
          <a:prstGeom prst="roundRect">
            <a:avLst>
              <a:gd name="adj" fmla="val 3390"/>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29" name="Text 27"/>
          <p:cNvSpPr txBox="1"/>
          <p:nvPr/>
        </p:nvSpPr>
        <p:spPr>
          <a:xfrm>
            <a:off x="6126480" y="1170432"/>
            <a:ext cx="237744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CĂN CỨ SỐ LIỆU</a:t>
            </a:r>
            <a:endParaRPr lang="en-US" sz="1000" dirty="0"/>
          </a:p>
        </p:txBody>
      </p:sp>
      <p:sp>
        <p:nvSpPr>
          <p:cNvPr id="30" name="Text 28"/>
          <p:cNvSpPr txBox="1"/>
          <p:nvPr/>
        </p:nvSpPr>
        <p:spPr>
          <a:xfrm>
            <a:off x="6126480" y="1463040"/>
            <a:ext cx="2331720" cy="502920"/>
          </a:xfrm>
          <a:prstGeom prst="rect">
            <a:avLst/>
          </a:prstGeom>
          <a:noFill/>
          <a:ln/>
        </p:spPr>
        <p:txBody>
          <a:bodyPr wrap="square" lIns="0" tIns="0" rIns="0" bIns="0" rtlCol="0" anchor="ctr"/>
          <a:lstStyle/>
          <a:p>
            <a:pPr indent="0" marL="0">
              <a:buNone/>
            </a:pPr>
            <a:r>
              <a:rPr lang="en-US" sz="3000" b="1" dirty="0">
                <a:solidFill>
                  <a:srgbClr val="C02034"/>
                </a:solidFill>
                <a:latin typeface="Calibri" pitchFamily="34" charset="0"/>
                <a:ea typeface="Calibri" pitchFamily="34" charset="-122"/>
                <a:cs typeface="Calibri" pitchFamily="34" charset="-120"/>
              </a:rPr>
              <a:t>1,34%</a:t>
            </a:r>
            <a:endParaRPr lang="en-US" sz="3000" dirty="0"/>
          </a:p>
        </p:txBody>
      </p:sp>
      <p:sp>
        <p:nvSpPr>
          <p:cNvPr id="31" name="Text 29"/>
          <p:cNvSpPr txBox="1"/>
          <p:nvPr/>
        </p:nvSpPr>
        <p:spPr>
          <a:xfrm>
            <a:off x="6126480" y="1993392"/>
            <a:ext cx="2331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khối lượng vá của mức Nghiêm trọng</a:t>
            </a:r>
            <a:endParaRPr lang="en-US" sz="1100" dirty="0"/>
          </a:p>
        </p:txBody>
      </p:sp>
      <p:sp>
        <p:nvSpPr>
          <p:cNvPr id="32" name="Text 30"/>
          <p:cNvSpPr txBox="1"/>
          <p:nvPr/>
        </p:nvSpPr>
        <p:spPr>
          <a:xfrm>
            <a:off x="6126480" y="2697480"/>
            <a:ext cx="2331720" cy="502920"/>
          </a:xfrm>
          <a:prstGeom prst="rect">
            <a:avLst/>
          </a:prstGeom>
          <a:noFill/>
          <a:ln/>
        </p:spPr>
        <p:txBody>
          <a:bodyPr wrap="square" lIns="0" tIns="0" rIns="0" bIns="0" rtlCol="0" anchor="ctr"/>
          <a:lstStyle/>
          <a:p>
            <a:pPr indent="0" marL="0">
              <a:buNone/>
            </a:pPr>
            <a:r>
              <a:rPr lang="en-US" sz="3000" b="1" dirty="0">
                <a:solidFill>
                  <a:srgbClr val="C02034"/>
                </a:solidFill>
                <a:latin typeface="Calibri" pitchFamily="34" charset="0"/>
                <a:ea typeface="Calibri" pitchFamily="34" charset="-122"/>
                <a:cs typeface="Calibri" pitchFamily="34" charset="-120"/>
              </a:rPr>
              <a:t>37,36%</a:t>
            </a:r>
            <a:endParaRPr lang="en-US" sz="3000" dirty="0"/>
          </a:p>
        </p:txBody>
      </p:sp>
      <p:sp>
        <p:nvSpPr>
          <p:cNvPr id="33" name="Text 31"/>
          <p:cNvSpPr txBox="1"/>
          <p:nvPr/>
        </p:nvSpPr>
        <p:spPr>
          <a:xfrm>
            <a:off x="6126480" y="3227832"/>
            <a:ext cx="2331720" cy="64008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lỗ hổng sắp bị khai thác nằm trong mức này</a:t>
            </a:r>
            <a:endParaRPr lang="en-US" sz="1100" dirty="0"/>
          </a:p>
        </p:txBody>
      </p:sp>
      <p:sp>
        <p:nvSpPr>
          <p:cNvPr id="34" name="Text 32"/>
          <p:cNvSpPr txBox="1"/>
          <p:nvPr/>
        </p:nvSpPr>
        <p:spPr>
          <a:xfrm>
            <a:off x="6126480" y="3931920"/>
            <a:ext cx="2377440" cy="15087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Hạn 7, 14, 30, 60 ngày theo mức điểm là đề xuất của nhóm, chưa kiểm chứng; hạn 3, 14, 60 ngày lấy theo BOD 26-04. Hiệu chỉnh ngưỡng khi EPSS đổi mô hình.</a:t>
            </a:r>
            <a:endParaRPr lang="en-US" sz="1100" dirty="0"/>
          </a:p>
        </p:txBody>
      </p:sp>
      <p:sp>
        <p:nvSpPr>
          <p:cNvPr id="35" name="Text 33"/>
          <p:cNvSpPr txBox="1"/>
          <p:nvPr/>
        </p:nvSpPr>
        <p:spPr>
          <a:xfrm>
            <a:off x="548640" y="5577840"/>
            <a:ext cx="8092440" cy="411480"/>
          </a:xfrm>
          <a:prstGeom prst="rect">
            <a:avLst/>
          </a:prstGeom>
          <a:noFill/>
          <a:ln/>
        </p:spPr>
        <p:txBody>
          <a:bodyPr wrap="square" lIns="0" tIns="0" rIns="0" bIns="0" rtlCol="0" anchor="t"/>
          <a:lstStyle/>
          <a:p>
            <a:pPr indent="0" marL="0">
              <a:buNone/>
            </a:pPr>
            <a:r>
              <a:rPr lang="en-US" sz="1250" b="1" dirty="0">
                <a:solidFill>
                  <a:srgbClr val="C02034"/>
                </a:solidFill>
                <a:latin typeface="Calibri" pitchFamily="34" charset="0"/>
                <a:ea typeface="Calibri" pitchFamily="34" charset="-122"/>
                <a:cs typeface="Calibri" pitchFamily="34" charset="-120"/>
              </a:rPr>
              <a:t>Xét điều kiện khẩn cấp trước, xét điểm sau.</a:t>
            </a:r>
            <a:endParaRPr lang="en-US" sz="125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Giới hạn: S gần như ngang EPSS và chưa cảnh báo được lỗ hổng mới công bố</a:t>
            </a:r>
            <a:endParaRPr lang="en-US" sz="1800" dirty="0"/>
          </a:p>
        </p:txBody>
      </p:sp>
      <p:sp>
        <p:nvSpPr>
          <p:cNvPr id="3" name="Shape 1"/>
          <p:cNvSpPr/>
          <p:nvPr/>
        </p:nvSpPr>
        <p:spPr>
          <a:xfrm>
            <a:off x="548640" y="1005840"/>
            <a:ext cx="4846320" cy="1325880"/>
          </a:xfrm>
          <a:prstGeom prst="roundRect">
            <a:avLst>
              <a:gd name="adj" fmla="val 6897"/>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4" name="Text 2"/>
          <p:cNvSpPr txBox="1"/>
          <p:nvPr/>
        </p:nvSpPr>
        <p:spPr>
          <a:xfrm>
            <a:off x="731520" y="1188720"/>
            <a:ext cx="1417320" cy="91440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27,15%</a:t>
            </a:r>
            <a:endParaRPr lang="en-US" sz="2400" dirty="0"/>
          </a:p>
        </p:txBody>
      </p:sp>
      <p:sp>
        <p:nvSpPr>
          <p:cNvPr id="5" name="Text 3"/>
          <p:cNvSpPr txBox="1"/>
          <p:nvPr/>
        </p:nvSpPr>
        <p:spPr>
          <a:xfrm>
            <a:off x="2194560" y="1143000"/>
            <a:ext cx="3063240" cy="105156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lỗ hổng vào KEV từ 01/04/2023 chưa có EPSS trước khi vào KEV (227 / 836): zero-day, chỉ thành phần KEV xử lý được</a:t>
            </a:r>
            <a:endParaRPr lang="en-US" sz="1150" dirty="0"/>
          </a:p>
        </p:txBody>
      </p:sp>
      <p:sp>
        <p:nvSpPr>
          <p:cNvPr id="6" name="Shape 4"/>
          <p:cNvSpPr/>
          <p:nvPr/>
        </p:nvSpPr>
        <p:spPr>
          <a:xfrm>
            <a:off x="548640" y="2487168"/>
            <a:ext cx="4846320" cy="1325880"/>
          </a:xfrm>
          <a:prstGeom prst="roundRect">
            <a:avLst>
              <a:gd name="adj" fmla="val 6897"/>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7" name="Text 5"/>
          <p:cNvSpPr txBox="1"/>
          <p:nvPr/>
        </p:nvSpPr>
        <p:spPr>
          <a:xfrm>
            <a:off x="731520" y="2670048"/>
            <a:ext cx="1417320" cy="91440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4,46%</a:t>
            </a:r>
            <a:endParaRPr lang="en-US" sz="2400" dirty="0"/>
          </a:p>
        </p:txBody>
      </p:sp>
      <p:sp>
        <p:nvSpPr>
          <p:cNvPr id="8" name="Text 6"/>
          <p:cNvSpPr txBox="1"/>
          <p:nvPr/>
        </p:nvSpPr>
        <p:spPr>
          <a:xfrm>
            <a:off x="2194560" y="2624328"/>
            <a:ext cx="3063240" cy="105156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lỗ hổng công bố tối đa 30 ngày trước khi vào KEV đạt S từ 70 một ngày trước đó</a:t>
            </a:r>
            <a:endParaRPr lang="en-US" sz="1150" dirty="0"/>
          </a:p>
        </p:txBody>
      </p:sp>
      <p:sp>
        <p:nvSpPr>
          <p:cNvPr id="9" name="Shape 7"/>
          <p:cNvSpPr/>
          <p:nvPr/>
        </p:nvSpPr>
        <p:spPr>
          <a:xfrm>
            <a:off x="548640" y="3968496"/>
            <a:ext cx="4846320" cy="1325880"/>
          </a:xfrm>
          <a:prstGeom prst="roundRect">
            <a:avLst>
              <a:gd name="adj" fmla="val 6897"/>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0" name="Text 8"/>
          <p:cNvSpPr txBox="1"/>
          <p:nvPr/>
        </p:nvSpPr>
        <p:spPr>
          <a:xfrm>
            <a:off x="731520" y="4151376"/>
            <a:ext cx="1417320" cy="914400"/>
          </a:xfrm>
          <a:prstGeom prst="rect">
            <a:avLst/>
          </a:prstGeom>
          <a:noFill/>
          <a:ln/>
        </p:spPr>
        <p:txBody>
          <a:bodyPr wrap="square" lIns="0" tIns="0" rIns="0" bIns="0" rtlCol="0" anchor="ctr"/>
          <a:lstStyle/>
          <a:p>
            <a:pPr indent="0" marL="0">
              <a:buNone/>
            </a:pPr>
            <a:r>
              <a:rPr lang="en-US" sz="2400" b="1" dirty="0">
                <a:solidFill>
                  <a:srgbClr val="C02034"/>
                </a:solidFill>
                <a:latin typeface="Calibri" pitchFamily="34" charset="0"/>
                <a:ea typeface="Calibri" pitchFamily="34" charset="-122"/>
                <a:cs typeface="Calibri" pitchFamily="34" charset="-120"/>
              </a:rPr>
              <a:t>45,8%</a:t>
            </a:r>
            <a:endParaRPr lang="en-US" sz="2400" dirty="0"/>
          </a:p>
        </p:txBody>
      </p:sp>
      <p:sp>
        <p:nvSpPr>
          <p:cNvPr id="11" name="Text 9"/>
          <p:cNvSpPr txBox="1"/>
          <p:nvPr/>
        </p:nvSpPr>
        <p:spPr>
          <a:xfrm>
            <a:off x="2194560" y="4105656"/>
            <a:ext cx="3063240" cy="105156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độ phủ ước tính của dữ liệu Vulnrichment (Securin), nguồn của biến tự động hóa EA</a:t>
            </a:r>
            <a:endParaRPr lang="en-US" sz="1150" dirty="0"/>
          </a:p>
        </p:txBody>
      </p:sp>
      <p:sp>
        <p:nvSpPr>
          <p:cNvPr id="12" name="Shape 10"/>
          <p:cNvSpPr/>
          <p:nvPr/>
        </p:nvSpPr>
        <p:spPr>
          <a:xfrm>
            <a:off x="5669280" y="1005840"/>
            <a:ext cx="2971800" cy="4288536"/>
          </a:xfrm>
          <a:prstGeom prst="roundRect">
            <a:avLst>
              <a:gd name="adj" fmla="val 3077"/>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3" name="Text 11"/>
          <p:cNvSpPr txBox="1"/>
          <p:nvPr/>
        </p:nvSpPr>
        <p:spPr>
          <a:xfrm>
            <a:off x="5852160" y="1170432"/>
            <a:ext cx="265176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CHƯA CHỨNG MINH ĐƯỢC</a:t>
            </a:r>
            <a:endParaRPr lang="en-US" sz="1000" dirty="0"/>
          </a:p>
        </p:txBody>
      </p:sp>
      <p:sp>
        <p:nvSpPr>
          <p:cNvPr id="14" name="Text 12"/>
          <p:cNvSpPr txBox="1"/>
          <p:nvPr/>
        </p:nvSpPr>
        <p:spPr>
          <a:xfrm>
            <a:off x="5852160" y="1508760"/>
            <a:ext cx="2651760" cy="36576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0F172A"/>
                </a:solidFill>
                <a:latin typeface="Calibri" pitchFamily="34" charset="0"/>
                <a:ea typeface="Calibri" pitchFamily="34" charset="-122"/>
                <a:cs typeface="Calibri" pitchFamily="34" charset="-120"/>
              </a:rPr>
              <a:t>So với EPSS dùng riêng: gần như ngang</a:t>
            </a:r>
            <a:endParaRPr lang="en-US" sz="1150" dirty="0"/>
          </a:p>
          <a:p>
            <a:pPr marL="177800" indent="-177800">
              <a:spcAft>
                <a:spcPts val="500"/>
              </a:spcAft>
              <a:buSzPct val="100000"/>
              <a:buChar char="•"/>
            </a:pPr>
            <a:r>
              <a:rPr lang="en-US" sz="1150" dirty="0">
                <a:solidFill>
                  <a:srgbClr val="0F172A"/>
                </a:solidFill>
                <a:latin typeface="Calibri" pitchFamily="34" charset="0"/>
                <a:ea typeface="Calibri" pitchFamily="34" charset="-122"/>
                <a:cs typeface="Calibri" pitchFamily="34" charset="-120"/>
              </a:rPr>
              <a:t>AC và PE: cần danh mục tài sản của tổ chức</a:t>
            </a:r>
            <a:endParaRPr lang="en-US" sz="1150" dirty="0"/>
          </a:p>
          <a:p>
            <a:pPr marL="177800" indent="-177800">
              <a:spcAft>
                <a:spcPts val="500"/>
              </a:spcAft>
              <a:buSzPct val="100000"/>
              <a:buChar char="•"/>
            </a:pPr>
            <a:r>
              <a:rPr lang="en-US" sz="1150" dirty="0">
                <a:solidFill>
                  <a:srgbClr val="0F172A"/>
                </a:solidFill>
                <a:latin typeface="Calibri" pitchFamily="34" charset="0"/>
                <a:ea typeface="Calibri" pitchFamily="34" charset="-122"/>
                <a:cs typeface="Calibri" pitchFamily="34" charset="-120"/>
              </a:rPr>
              <a:t>Căn cứ KEV chậm, nghiêng về sản phẩm phổ biến ở Mỹ</a:t>
            </a:r>
            <a:endParaRPr lang="en-US" sz="1150" dirty="0"/>
          </a:p>
          <a:p>
            <a:pPr marL="177800" indent="-177800">
              <a:spcAft>
                <a:spcPts val="500"/>
              </a:spcAft>
              <a:buSzPct val="100000"/>
              <a:buChar char="•"/>
            </a:pPr>
            <a:r>
              <a:rPr lang="en-US" sz="1150" dirty="0">
                <a:solidFill>
                  <a:srgbClr val="0F172A"/>
                </a:solidFill>
                <a:latin typeface="Calibri" pitchFamily="34" charset="0"/>
                <a:ea typeface="Calibri" pitchFamily="34" charset="-122"/>
                <a:cs typeface="Calibri" pitchFamily="34" charset="-120"/>
              </a:rPr>
              <a:t>Điểm CVSS của NVD thường được chấm sau ngày công bố</a:t>
            </a:r>
            <a:endParaRPr lang="en-US" sz="1150" dirty="0"/>
          </a:p>
          <a:p>
            <a:pPr marL="177800" indent="-177800">
              <a:spcAft>
                <a:spcPts val="500"/>
              </a:spcAft>
              <a:buSzPct val="100000"/>
              <a:buChar char="•"/>
            </a:pPr>
            <a:r>
              <a:rPr lang="en-US" sz="1150" dirty="0">
                <a:solidFill>
                  <a:srgbClr val="0F172A"/>
                </a:solidFill>
                <a:latin typeface="Calibri" pitchFamily="34" charset="0"/>
                <a:ea typeface="Calibri" pitchFamily="34" charset="-122"/>
                <a:cs typeface="Calibri" pitchFamily="34" charset="-120"/>
              </a:rPr>
              <a:t>Số mũ 0,3 không tối ưu chung; 0,2 đến 1,0 gần như nhau</a:t>
            </a:r>
            <a:endParaRPr lang="en-US" sz="1150" dirty="0"/>
          </a:p>
        </p:txBody>
      </p:sp>
      <p:sp>
        <p:nvSpPr>
          <p:cNvPr id="15" name="Text 13"/>
          <p:cNvSpPr txBox="1"/>
          <p:nvPr/>
        </p:nvSpPr>
        <p:spPr>
          <a:xfrm>
            <a:off x="548640" y="5486400"/>
            <a:ext cx="8092440" cy="502920"/>
          </a:xfrm>
          <a:prstGeom prst="rect">
            <a:avLst/>
          </a:prstGeom>
          <a:noFill/>
          <a:ln/>
        </p:spPr>
        <p:txBody>
          <a:bodyPr wrap="square" lIns="0" tIns="0" rIns="0" bIns="0" rtlCol="0" anchor="t"/>
          <a:lstStyle/>
          <a:p>
            <a:pPr indent="0" marL="0">
              <a:buNone/>
            </a:pPr>
            <a:r>
              <a:rPr lang="en-US" sz="1250" b="1" dirty="0">
                <a:solidFill>
                  <a:srgbClr val="334155"/>
                </a:solidFill>
                <a:latin typeface="Calibri" pitchFamily="34" charset="0"/>
                <a:ea typeface="Calibri" pitchFamily="34" charset="-122"/>
                <a:cs typeface="Calibri" pitchFamily="34" charset="-120"/>
              </a:rPr>
              <a:t>Với lỗ hổng mới, chính sách vẫn cần quy tắc KEV, cảnh báo nhà cung cấp và tình báo mối đe dọa.</a:t>
            </a:r>
            <a:endParaRPr lang="en-US" sz="125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4864"/>
            <a:ext cx="80924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Thay ngưỡng CVSS bằng điểm S đặt bằng chứng khai thác vào trung tâm</a:t>
            </a:r>
            <a:endParaRPr lang="en-US" sz="1800" dirty="0"/>
          </a:p>
        </p:txBody>
      </p:sp>
      <p:sp>
        <p:nvSpPr>
          <p:cNvPr id="3" name="Text 1"/>
          <p:cNvSpPr txBox="1"/>
          <p:nvPr/>
        </p:nvSpPr>
        <p:spPr>
          <a:xfrm>
            <a:off x="548640" y="960120"/>
            <a:ext cx="393192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KẾT LUẬN</a:t>
            </a:r>
            <a:endParaRPr lang="en-US" sz="1000" dirty="0"/>
          </a:p>
        </p:txBody>
      </p:sp>
      <p:sp>
        <p:nvSpPr>
          <p:cNvPr id="4" name="Shape 2"/>
          <p:cNvSpPr/>
          <p:nvPr/>
        </p:nvSpPr>
        <p:spPr>
          <a:xfrm>
            <a:off x="548640" y="1280160"/>
            <a:ext cx="3931920" cy="1280160"/>
          </a:xfrm>
          <a:prstGeom prst="roundRect">
            <a:avLst>
              <a:gd name="adj" fmla="val 7143"/>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5" name="Shape 3"/>
          <p:cNvSpPr/>
          <p:nvPr/>
        </p:nvSpPr>
        <p:spPr>
          <a:xfrm>
            <a:off x="731520" y="1463040"/>
            <a:ext cx="384048" cy="384048"/>
          </a:xfrm>
          <a:prstGeom prst="ellipse">
            <a:avLst/>
          </a:prstGeom>
          <a:solidFill>
            <a:srgbClr val="C02034"/>
          </a:solidFill>
          <a:ln w="12700">
            <a:solidFill>
              <a:srgbClr val="C02034"/>
            </a:solidFill>
            <a:prstDash val="solid"/>
          </a:ln>
        </p:spPr>
      </p:sp>
      <p:sp>
        <p:nvSpPr>
          <p:cNvPr id="6" name="Text 4"/>
          <p:cNvSpPr/>
          <p:nvPr/>
        </p:nvSpPr>
        <p:spPr>
          <a:xfrm>
            <a:off x="731520" y="1463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0160" y="1417320"/>
            <a:ext cx="3063240" cy="10058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Ngưỡng CVSS 8,0 vá thừa 98,69% và bỏ sót 21% đến 44%; đổi ngưỡng không giải quyết được</a:t>
            </a:r>
            <a:endParaRPr lang="en-US" sz="1250" dirty="0"/>
          </a:p>
        </p:txBody>
      </p:sp>
      <p:sp>
        <p:nvSpPr>
          <p:cNvPr id="8" name="Shape 6"/>
          <p:cNvSpPr/>
          <p:nvPr/>
        </p:nvSpPr>
        <p:spPr>
          <a:xfrm>
            <a:off x="548640" y="2743200"/>
            <a:ext cx="3931920" cy="1280160"/>
          </a:xfrm>
          <a:prstGeom prst="roundRect">
            <a:avLst>
              <a:gd name="adj" fmla="val 7143"/>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9" name="Shape 7"/>
          <p:cNvSpPr/>
          <p:nvPr/>
        </p:nvSpPr>
        <p:spPr>
          <a:xfrm>
            <a:off x="731520" y="2926080"/>
            <a:ext cx="384048" cy="384048"/>
          </a:xfrm>
          <a:prstGeom prst="ellipse">
            <a:avLst/>
          </a:prstGeom>
          <a:solidFill>
            <a:srgbClr val="C02034"/>
          </a:solidFill>
          <a:ln w="12700">
            <a:solidFill>
              <a:srgbClr val="C02034"/>
            </a:solidFill>
            <a:prstDash val="solid"/>
          </a:ln>
        </p:spPr>
      </p:sp>
      <p:sp>
        <p:nvSpPr>
          <p:cNvPr id="10" name="Text 8"/>
          <p:cNvSpPr/>
          <p:nvPr/>
        </p:nvSpPr>
        <p:spPr>
          <a:xfrm>
            <a:off x="73152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80160" y="2880360"/>
            <a:ext cx="3063240" cy="10058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Nhóm vá khẩn cấp theo S chỉ 1,4% đến 2% số lỗ hổng, hiệu suất 16 đến 34 lần so với 1,7 đến 2,3 lần của CSA</a:t>
            </a:r>
            <a:endParaRPr lang="en-US" sz="1250" dirty="0"/>
          </a:p>
        </p:txBody>
      </p:sp>
      <p:sp>
        <p:nvSpPr>
          <p:cNvPr id="12" name="Shape 10"/>
          <p:cNvSpPr/>
          <p:nvPr/>
        </p:nvSpPr>
        <p:spPr>
          <a:xfrm>
            <a:off x="548640" y="4206240"/>
            <a:ext cx="3931920" cy="1280160"/>
          </a:xfrm>
          <a:prstGeom prst="roundRect">
            <a:avLst>
              <a:gd name="adj" fmla="val 7143"/>
            </a:avLst>
          </a:prstGeom>
          <a:solidFill>
            <a:srgbClr val="FFFFFF"/>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3" name="Shape 11"/>
          <p:cNvSpPr/>
          <p:nvPr/>
        </p:nvSpPr>
        <p:spPr>
          <a:xfrm>
            <a:off x="731520" y="4389120"/>
            <a:ext cx="384048" cy="384048"/>
          </a:xfrm>
          <a:prstGeom prst="ellipse">
            <a:avLst/>
          </a:prstGeom>
          <a:solidFill>
            <a:srgbClr val="C02034"/>
          </a:solidFill>
          <a:ln w="12700">
            <a:solidFill>
              <a:srgbClr val="C02034"/>
            </a:solidFill>
            <a:prstDash val="solid"/>
          </a:ln>
        </p:spPr>
      </p:sp>
      <p:sp>
        <p:nvSpPr>
          <p:cNvPr id="14" name="Text 12"/>
          <p:cNvSpPr/>
          <p:nvPr/>
        </p:nvSpPr>
        <p:spPr>
          <a:xfrm>
            <a:off x="731520"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280160" y="4343400"/>
            <a:ext cx="3063240" cy="10058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Khuyến nghị thang điểm S thay ngưỡng cố định, cùng hướng với BOD 26-04</a:t>
            </a:r>
            <a:endParaRPr lang="en-US" sz="1250" dirty="0"/>
          </a:p>
        </p:txBody>
      </p:sp>
      <p:sp>
        <p:nvSpPr>
          <p:cNvPr id="16" name="Text 14"/>
          <p:cNvSpPr txBox="1"/>
          <p:nvPr/>
        </p:nvSpPr>
        <p:spPr>
          <a:xfrm>
            <a:off x="4709160" y="960120"/>
            <a:ext cx="3931920" cy="237744"/>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HƯỚNG PHÁT TRIỂN</a:t>
            </a:r>
            <a:endParaRPr lang="en-US" sz="1000" dirty="0"/>
          </a:p>
        </p:txBody>
      </p:sp>
      <p:sp>
        <p:nvSpPr>
          <p:cNvPr id="17" name="Shape 15"/>
          <p:cNvSpPr/>
          <p:nvPr/>
        </p:nvSpPr>
        <p:spPr>
          <a:xfrm>
            <a:off x="4709160" y="1280160"/>
            <a:ext cx="3931920" cy="1280160"/>
          </a:xfrm>
          <a:prstGeom prst="roundRect">
            <a:avLst>
              <a:gd name="adj" fmla="val 7143"/>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18" name="Shape 16"/>
          <p:cNvSpPr/>
          <p:nvPr/>
        </p:nvSpPr>
        <p:spPr>
          <a:xfrm>
            <a:off x="4892040" y="1664208"/>
            <a:ext cx="502920" cy="502920"/>
          </a:xfrm>
          <a:prstGeom prst="ellipse">
            <a:avLst/>
          </a:prstGeom>
          <a:solidFill>
            <a:srgbClr val="FFFFFF"/>
          </a:solidFill>
          <a:ln w="12700">
            <a:solidFill>
              <a:srgbClr val="FFFFFF"/>
            </a:solidFill>
            <a:prstDash val="solid"/>
          </a:ln>
        </p:spPr>
      </p:sp>
      <p:pic>
        <p:nvPicPr>
          <p:cNvPr id="19" name="Image 0" descr="preencoded.png">    </p:cNvPr>
          <p:cNvPicPr>
            <a:picLocks noChangeAspect="1"/>
          </p:cNvPicPr>
          <p:nvPr/>
        </p:nvPicPr>
        <p:blipFill>
          <a:blip r:embed="rId1"/>
          <a:stretch>
            <a:fillRect/>
          </a:stretch>
        </p:blipFill>
        <p:spPr>
          <a:xfrm>
            <a:off x="5002682" y="1774850"/>
            <a:ext cx="281635" cy="281635"/>
          </a:xfrm>
          <a:prstGeom prst="rect">
            <a:avLst/>
          </a:prstGeom>
        </p:spPr>
      </p:pic>
      <p:sp>
        <p:nvSpPr>
          <p:cNvPr id="20" name="Text 17"/>
          <p:cNvSpPr txBox="1"/>
          <p:nvPr/>
        </p:nvSpPr>
        <p:spPr>
          <a:xfrm>
            <a:off x="5577840" y="1417320"/>
            <a:ext cx="2926080" cy="10058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Thêm tín hiệu sớm cho lỗ hổng mới công bố: PoC, cảnh báo nhà cung cấp</a:t>
            </a:r>
            <a:endParaRPr lang="en-US" sz="1250" dirty="0"/>
          </a:p>
        </p:txBody>
      </p:sp>
      <p:sp>
        <p:nvSpPr>
          <p:cNvPr id="21" name="Shape 18"/>
          <p:cNvSpPr/>
          <p:nvPr/>
        </p:nvSpPr>
        <p:spPr>
          <a:xfrm>
            <a:off x="4709160" y="2743200"/>
            <a:ext cx="3931920" cy="1280160"/>
          </a:xfrm>
          <a:prstGeom prst="roundRect">
            <a:avLst>
              <a:gd name="adj" fmla="val 7143"/>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22" name="Shape 19"/>
          <p:cNvSpPr/>
          <p:nvPr/>
        </p:nvSpPr>
        <p:spPr>
          <a:xfrm>
            <a:off x="4892040" y="3127248"/>
            <a:ext cx="502920" cy="502920"/>
          </a:xfrm>
          <a:prstGeom prst="ellipse">
            <a:avLst/>
          </a:prstGeom>
          <a:solidFill>
            <a:srgbClr val="FFFFFF"/>
          </a:solidFill>
          <a:ln w="12700">
            <a:solidFill>
              <a:srgbClr val="FFFFFF"/>
            </a:solidFill>
            <a:prstDash val="solid"/>
          </a:ln>
        </p:spPr>
      </p:sp>
      <p:pic>
        <p:nvPicPr>
          <p:cNvPr id="23" name="Image 1" descr="preencoded.png">    </p:cNvPr>
          <p:cNvPicPr>
            <a:picLocks noChangeAspect="1"/>
          </p:cNvPicPr>
          <p:nvPr/>
        </p:nvPicPr>
        <p:blipFill>
          <a:blip r:embed="rId2"/>
          <a:stretch>
            <a:fillRect/>
          </a:stretch>
        </p:blipFill>
        <p:spPr>
          <a:xfrm>
            <a:off x="5002682" y="3237890"/>
            <a:ext cx="281635" cy="281635"/>
          </a:xfrm>
          <a:prstGeom prst="rect">
            <a:avLst/>
          </a:prstGeom>
        </p:spPr>
      </p:pic>
      <p:sp>
        <p:nvSpPr>
          <p:cNvPr id="24" name="Text 20"/>
          <p:cNvSpPr txBox="1"/>
          <p:nvPr/>
        </p:nvSpPr>
        <p:spPr>
          <a:xfrm>
            <a:off x="5577840" y="2880360"/>
            <a:ext cx="2926080" cy="10058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Kiểm chứng biến EA bằng dữ liệu Vulnrichment</a:t>
            </a:r>
            <a:endParaRPr lang="en-US" sz="1250" dirty="0"/>
          </a:p>
        </p:txBody>
      </p:sp>
      <p:sp>
        <p:nvSpPr>
          <p:cNvPr id="25" name="Shape 21"/>
          <p:cNvSpPr/>
          <p:nvPr/>
        </p:nvSpPr>
        <p:spPr>
          <a:xfrm>
            <a:off x="4709160" y="4206240"/>
            <a:ext cx="3931920" cy="1280160"/>
          </a:xfrm>
          <a:prstGeom prst="roundRect">
            <a:avLst>
              <a:gd name="adj" fmla="val 7143"/>
            </a:avLst>
          </a:prstGeom>
          <a:solidFill>
            <a:srgbClr val="F1F5F9"/>
          </a:solidFill>
          <a:ln w="9525">
            <a:solidFill>
              <a:srgbClr val="E2E8F0"/>
            </a:solidFill>
            <a:prstDash val="solid"/>
          </a:ln>
          <a:effectLst>
            <a:outerShdw sx="100000" sy="100000" kx="0" ky="0" algn="bl" rotWithShape="0" blurRad="76200" dist="25400" dir="5400000">
              <a:srgbClr val="0F172A">
                <a:alpha val="8000"/>
              </a:srgbClr>
            </a:outerShdw>
          </a:effectLst>
        </p:spPr>
      </p:sp>
      <p:sp>
        <p:nvSpPr>
          <p:cNvPr id="26" name="Shape 22"/>
          <p:cNvSpPr/>
          <p:nvPr/>
        </p:nvSpPr>
        <p:spPr>
          <a:xfrm>
            <a:off x="4892040" y="4590288"/>
            <a:ext cx="502920" cy="502920"/>
          </a:xfrm>
          <a:prstGeom prst="ellipse">
            <a:avLst/>
          </a:prstGeom>
          <a:solidFill>
            <a:srgbClr val="FFFFFF"/>
          </a:solidFill>
          <a:ln w="12700">
            <a:solidFill>
              <a:srgbClr val="FFFFFF"/>
            </a:solidFill>
            <a:prstDash val="solid"/>
          </a:ln>
        </p:spPr>
      </p:sp>
      <p:pic>
        <p:nvPicPr>
          <p:cNvPr id="27" name="Image 2" descr="preencoded.png">    </p:cNvPr>
          <p:cNvPicPr>
            <a:picLocks noChangeAspect="1"/>
          </p:cNvPicPr>
          <p:nvPr/>
        </p:nvPicPr>
        <p:blipFill>
          <a:blip r:embed="rId3"/>
          <a:stretch>
            <a:fillRect/>
          </a:stretch>
        </p:blipFill>
        <p:spPr>
          <a:xfrm>
            <a:off x="5002682" y="4700930"/>
            <a:ext cx="281635" cy="281635"/>
          </a:xfrm>
          <a:prstGeom prst="rect">
            <a:avLst/>
          </a:prstGeom>
        </p:spPr>
      </p:pic>
      <p:sp>
        <p:nvSpPr>
          <p:cNvPr id="28" name="Text 23"/>
          <p:cNvSpPr txBox="1"/>
          <p:nvPr/>
        </p:nvSpPr>
        <p:spPr>
          <a:xfrm>
            <a:off x="5577840" y="4343400"/>
            <a:ext cx="2926080" cy="100584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Kiểm chứng PE và AC trên dữ liệu tài sản của một tổ chức cụ thể</a:t>
            </a:r>
            <a:endParaRPr lang="en-US" sz="1250" dirty="0"/>
          </a:p>
        </p:txBody>
      </p:sp>
      <p:sp>
        <p:nvSpPr>
          <p:cNvPr id="25" name="Slide Number Placeholder 0"/>
          <p:cNvSpPr>
            <a:spLocks noGrp="1"/>
          </p:cNvSpPr>
          <p:nvPr>
            <p:ph type="sldNum" sz="quarter" idx="4294967295"/>
          </p:nvPr>
        </p:nvSpPr>
        <p:spPr>
          <a:xfrm>
            <a:off x="8229600" y="649224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178808" y="3017520"/>
            <a:ext cx="4197096" cy="813816"/>
          </a:xfrm>
          <a:prstGeom prst="rect">
            <a:avLst/>
          </a:prstGeom>
          <a:noFill/>
          <a:ln/>
        </p:spPr>
        <p:txBody>
          <a:bodyPr wrap="square" lIns="0" tIns="0" rIns="0" bIns="0" rtlCol="0" anchor="ctr"/>
          <a:lstStyle/>
          <a:p>
            <a:pPr algn="ctr" indent="0" marL="0">
              <a:buNone/>
            </a:pPr>
            <a:r>
              <a:rPr lang="en-US" sz="4800" b="1" dirty="0">
                <a:solidFill>
                  <a:srgbClr val="C00000"/>
                </a:solidFill>
                <a:latin typeface="Calibri" pitchFamily="34" charset="0"/>
                <a:ea typeface="Calibri" pitchFamily="34" charset="-122"/>
                <a:cs typeface="Calibri" pitchFamily="34" charset="-120"/>
              </a:rPr>
              <a:t>THANK YOU !</a:t>
            </a:r>
            <a:endParaRPr lang="en-US" sz="4800" dirty="0"/>
          </a:p>
        </p:txBody>
      </p:sp>
      <p:sp>
        <p:nvSpPr>
          <p:cNvPr id="3" name="Text 1"/>
          <p:cNvSpPr txBox="1"/>
          <p:nvPr/>
        </p:nvSpPr>
        <p:spPr>
          <a:xfrm>
            <a:off x="3931920" y="3886200"/>
            <a:ext cx="4709160" cy="3200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Trường Công nghệ Thông tin và Truyền thông, Đại học Bách khoa Hà Nội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Kiểm chứng ngưỡng CVSS 8,0 của CSA và công thức ưu tiên vá lỗ hổng</dc:title>
  <dc:subject>PptxGenJS Presentation</dc:subject>
  <dc:creator>Trần Minh Vương, Vũ Thành Huy, Nguyễn Hoà Khiêm</dc:creator>
  <cp:lastModifiedBy>Trần Minh Vương, Vũ Thành Huy, Nguyễn Hoà Khiêm</cp:lastModifiedBy>
  <cp:revision>1</cp:revision>
  <dcterms:created xsi:type="dcterms:W3CDTF">2026-10-17T02:35:38Z</dcterms:created>
  <dcterms:modified xsi:type="dcterms:W3CDTF">2026-10-17T02:35:38Z</dcterms:modified>
</cp:coreProperties>
</file>