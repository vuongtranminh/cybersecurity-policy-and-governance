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4155"/>
                </a:solidFill>
                <a:latin typeface="Calibri"/>
              </a:defRPr>
            </a:pPr>
            <a:r>
              <a:rPr sz="1100" b="0" i="0" u="none" strike="noStrike">
                <a:solidFill>
                  <a:srgbClr val="334155"/>
                </a:solidFill>
                <a:latin typeface="Calibri"/>
              </a:rPr>
              <a:t>Lỗ hổng CVSS từ 8,0 theo năm</a:t>
            </a:r>
          </a:p>
        </c:rich>
      </c:tx>
      <c:layout/>
      <c:overlay val="0"/>
    </c:title>
    <c:autoTitleDeleted val="0"/>
    <c:plotArea>
      <c:layout/>
      <c:barChart>
        <c:barDir val="col"/>
        <c:grouping val="stacked"/>
        <c:varyColors val="0"/>
        <c:ser>
          <c:idx val="0"/>
          <c:order val="0"/>
          <c:tx>
            <c:strRef>
              <c:f>Sheet1!$B$1</c:f>
              <c:strCache>
                <c:ptCount val="1"/>
                <c:pt idx="0">
                  <c:v>Chưa ghi nhận bị khai thác</c:v>
                </c:pt>
              </c:strCache>
            </c:strRef>
          </c:tx>
          <c:spPr>
            <a:solidFill>
              <a:srgbClr val="94A3B8"/>
            </a:solidFill>
            <a:effectLst/>
          </c:spPr>
          <c:invertIfNegative val="0"/>
          <c:dLbls>
            <c:numFmt formatCode="#,##0" sourceLinked="0"/>
            <c:txPr>
              <a:bodyPr/>
              <a:lstStyle/>
              <a:p>
                <a:pPr>
                  <a:defRPr b="0" i="0" strike="noStrike" sz="900" u="none">
                    <a:solidFill>
                      <a:srgbClr val="0F172A"/>
                    </a:solidFill>
                    <a:latin typeface="Calibri"/>
                  </a:defRPr>
                </a:pPr>
              </a:p>
            </c:txPr>
            <c:showLegendKey val="0"/>
            <c:showVal val="0"/>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5444</c:v>
                </c:pt>
                <c:pt idx="1">
                  <c:v>5491</c:v>
                </c:pt>
                <c:pt idx="2">
                  <c:v>6801</c:v>
                </c:pt>
                <c:pt idx="3">
                  <c:v>8331</c:v>
                </c:pt>
                <c:pt idx="4">
                  <c:v>9597</c:v>
                </c:pt>
                <c:pt idx="5">
                  <c:v>11056</c:v>
                </c:pt>
              </c:numCache>
            </c:numRef>
          </c:val>
        </c:ser>
        <c:ser>
          <c:idx val="1"/>
          <c:order val="1"/>
          <c:tx>
            <c:strRef>
              <c:f>Sheet1!$C$1</c:f>
              <c:strCache>
                <c:ptCount val="1"/>
                <c:pt idx="0">
                  <c:v>Đã bị khai thác (KEV)</c:v>
                </c:pt>
              </c:strCache>
            </c:strRef>
          </c:tx>
          <c:spPr>
            <a:solidFill>
              <a:srgbClr val="C02034"/>
            </a:solidFill>
            <a:effectLst/>
          </c:spPr>
          <c:invertIfNegative val="0"/>
          <c:dLbls>
            <c:numFmt formatCode="#,##0" sourceLinked="0"/>
            <c:txPr>
              <a:bodyPr/>
              <a:lstStyle/>
              <a:p>
                <a:pPr>
                  <a:defRPr b="0" i="0" strike="noStrike" sz="900" u="none">
                    <a:solidFill>
                      <a:srgbClr val="0F172A"/>
                    </a:solidFill>
                    <a:latin typeface="Calibri"/>
                  </a:defRPr>
                </a:pPr>
              </a:p>
            </c:txPr>
            <c:showLegendKey val="0"/>
            <c:showVal val="0"/>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Sheet1!$C$2:$C$7</c:f>
              <c:numCache>
                <c:formatCode>General</c:formatCode>
                <c:ptCount val="6"/>
                <c:pt idx="0">
                  <c:v>88</c:v>
                </c:pt>
                <c:pt idx="1">
                  <c:v>112</c:v>
                </c:pt>
                <c:pt idx="2">
                  <c:v>78</c:v>
                </c:pt>
                <c:pt idx="3">
                  <c:v>85</c:v>
                </c:pt>
                <c:pt idx="4">
                  <c:v>96</c:v>
                </c:pt>
                <c:pt idx="5">
                  <c:v>114</c:v>
                </c:pt>
              </c:numCache>
            </c:numRef>
          </c:val>
        </c:ser>
        <c:dLbls>
          <c:numFmt formatCode="#,##0" sourceLinked="0"/>
          <c:txPr>
            <a:bodyPr/>
            <a:lstStyle/>
            <a:p>
              <a:pPr>
                <a:defRPr b="0" i="0" strike="noStrike" sz="900" u="none">
                  <a:solidFill>
                    <a:srgbClr val="0F172A"/>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4155"/>
                </a:solidFill>
                <a:latin typeface="Calibri"/>
              </a:defRPr>
            </a:pPr>
            <a:r>
              <a:rPr sz="1100" b="0" i="0" u="none" strike="noStrike">
                <a:solidFill>
                  <a:srgbClr val="334155"/>
                </a:solidFill>
                <a:latin typeface="Calibri"/>
              </a:rPr>
              <a:t>1.570 lỗ hổng KEV theo khoảng điểm CVSS</a:t>
            </a:r>
          </a:p>
        </c:rich>
      </c:tx>
      <c:layout/>
      <c:overlay val="0"/>
    </c:title>
    <c:autoTitleDeleted val="0"/>
    <c:plotArea>
      <c:layout/>
      <c:barChart>
        <c:barDir val="col"/>
        <c:grouping val="stacked"/>
        <c:varyColors val="0"/>
        <c:ser>
          <c:idx val="0"/>
          <c:order val="0"/>
          <c:tx>
            <c:strRef>
              <c:f>Sheet1!$B$1</c:f>
              <c:strCache>
                <c:ptCount val="1"/>
                <c:pt idx="0">
                  <c:v>Bị bỏ qua (CVSS dưới 8,0)</c:v>
                </c:pt>
              </c:strCache>
            </c:strRef>
          </c:tx>
          <c:spPr>
            <a:solidFill>
              <a:srgbClr val="C02034"/>
            </a:solidFill>
            <a:effectLst/>
          </c:spPr>
          <c:invertIfNegative val="0"/>
          <c:dLbls>
            <c:numFmt formatCode="#,##0;;" sourceLinked="0"/>
            <c:txPr>
              <a:bodyPr/>
              <a:lstStyle/>
              <a:p>
                <a:pPr>
                  <a:defRPr b="0" i="0" strike="noStrike" sz="900" u="none">
                    <a:solidFill>
                      <a:srgbClr val="0F172A"/>
                    </a:solidFill>
                    <a:latin typeface="Calibri"/>
                  </a:defRPr>
                </a:pPr>
              </a:p>
            </c:txPr>
            <c:dLblPos val="inEnd"/>
            <c:showLegendKey val="0"/>
            <c:showVal val="1"/>
            <c:showCatName val="0"/>
            <c:showSerName val="0"/>
            <c:showPercent val="0"/>
            <c:showBubbleSize val="0"/>
            <c:showLeaderLines val="0"/>
          </c:dLbls>
          <c:cat>
            <c:multiLvlStrRef>
              <c:f>Sheet1!$A$2:$A$6</c:f>
              <c:multiLvlStrCache>
                <c:ptCount val="5"/>
                <c:lvl>
                  <c:pt idx="0">
                    <c:v>Dưới 4,0</c:v>
                  </c:pt>
                  <c:pt idx="1">
                    <c:v>4,0 đến 6,9</c:v>
                  </c:pt>
                  <c:pt idx="2">
                    <c:v>7,0 đến 7,9</c:v>
                  </c:pt>
                  <c:pt idx="3">
                    <c:v>8,0 đến 8,9</c:v>
                  </c:pt>
                  <c:pt idx="4">
                    <c:v>9,0 đến 10</c:v>
                  </c:pt>
                </c:lvl>
              </c:multiLvlStrCache>
            </c:multiLvlStrRef>
          </c:cat>
          <c:val>
            <c:numRef>
              <c:f>Sheet1!$B$2:$B$6</c:f>
              <c:numCache>
                <c:formatCode>General</c:formatCode>
                <c:ptCount val="5"/>
                <c:pt idx="0">
                  <c:v>5</c:v>
                </c:pt>
                <c:pt idx="1">
                  <c:v>174</c:v>
                </c:pt>
                <c:pt idx="2">
                  <c:v>514</c:v>
                </c:pt>
                <c:pt idx="3">
                  <c:v>0</c:v>
                </c:pt>
                <c:pt idx="4">
                  <c:v>0</c:v>
                </c:pt>
              </c:numCache>
            </c:numRef>
          </c:val>
        </c:ser>
        <c:ser>
          <c:idx val="1"/>
          <c:order val="1"/>
          <c:tx>
            <c:strRef>
              <c:f>Sheet1!$C$1</c:f>
              <c:strCache>
                <c:ptCount val="1"/>
                <c:pt idx="0">
                  <c:v>Được vá trong 48 giờ</c:v>
                </c:pt>
              </c:strCache>
            </c:strRef>
          </c:tx>
          <c:spPr>
            <a:solidFill>
              <a:srgbClr val="94A3B8"/>
            </a:solidFill>
            <a:effectLst/>
          </c:spPr>
          <c:invertIfNegative val="0"/>
          <c:dLbls>
            <c:numFmt formatCode="#,##0;;" sourceLinked="0"/>
            <c:txPr>
              <a:bodyPr/>
              <a:lstStyle/>
              <a:p>
                <a:pPr>
                  <a:defRPr b="0" i="0" strike="noStrike" sz="900" u="none">
                    <a:solidFill>
                      <a:srgbClr val="0F172A"/>
                    </a:solidFill>
                    <a:latin typeface="Calibri"/>
                  </a:defRPr>
                </a:pPr>
              </a:p>
            </c:txPr>
            <c:dLblPos val="inEnd"/>
            <c:showLegendKey val="0"/>
            <c:showVal val="1"/>
            <c:showCatName val="0"/>
            <c:showSerName val="0"/>
            <c:showPercent val="0"/>
            <c:showBubbleSize val="0"/>
            <c:showLeaderLines val="0"/>
          </c:dLbls>
          <c:cat>
            <c:multiLvlStrRef>
              <c:f>Sheet1!$A$2:$A$6</c:f>
              <c:multiLvlStrCache>
                <c:ptCount val="5"/>
                <c:lvl>
                  <c:pt idx="0">
                    <c:v>Dưới 4,0</c:v>
                  </c:pt>
                  <c:pt idx="1">
                    <c:v>4,0 đến 6,9</c:v>
                  </c:pt>
                  <c:pt idx="2">
                    <c:v>7,0 đến 7,9</c:v>
                  </c:pt>
                  <c:pt idx="3">
                    <c:v>8,0 đến 8,9</c:v>
                  </c:pt>
                  <c:pt idx="4">
                    <c:v>9,0 đến 10</c:v>
                  </c:pt>
                </c:lvl>
              </c:multiLvlStrCache>
            </c:multiLvlStrRef>
          </c:cat>
          <c:val>
            <c:numRef>
              <c:f>Sheet1!$C$2:$C$6</c:f>
              <c:numCache>
                <c:formatCode>General</c:formatCode>
                <c:ptCount val="5"/>
                <c:pt idx="0">
                  <c:v>0</c:v>
                </c:pt>
                <c:pt idx="1">
                  <c:v>0</c:v>
                </c:pt>
                <c:pt idx="2">
                  <c:v>0</c:v>
                </c:pt>
                <c:pt idx="3">
                  <c:v>343</c:v>
                </c:pt>
                <c:pt idx="4">
                  <c:v>534</c:v>
                </c:pt>
              </c:numCache>
            </c:numRef>
          </c:val>
        </c:ser>
        <c:dLbls>
          <c:numFmt formatCode="#,##0;;" sourceLinked="0"/>
          <c:txPr>
            <a:bodyPr/>
            <a:lstStyle/>
            <a:p>
              <a:pPr>
                <a:defRPr b="0" i="0" strike="noStrike" sz="900" u="none">
                  <a:solidFill>
                    <a:srgbClr val="0F172A"/>
                  </a:solidFill>
                  <a:latin typeface="Calibri"/>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4155"/>
                </a:solidFill>
                <a:latin typeface="Calibri"/>
              </a:defRPr>
            </a:pPr>
            <a:r>
              <a:rPr sz="1100" b="0" i="0" u="none" strike="noStrike">
                <a:solidFill>
                  <a:srgbClr val="334155"/>
                </a:solidFill>
                <a:latin typeface="Calibri"/>
              </a:rPr>
              <a:t>Tỷ lệ vào KEV trong 12 tháng theo mức S, ngày 30/06/2025 (%)</a:t>
            </a:r>
          </a:p>
        </c:rich>
      </c:tx>
      <c:layout/>
      <c:overlay val="0"/>
    </c:title>
    <c:autoTitleDeleted val="0"/>
    <c:plotArea>
      <c:layout/>
      <c:barChart>
        <c:barDir val="col"/>
        <c:grouping val="clustered"/>
        <c:varyColors val="0"/>
        <c:ser>
          <c:idx val="0"/>
          <c:order val="0"/>
          <c:tx>
            <c:strRef>
              <c:f>Sheet1!$B$1</c:f>
              <c:strCache>
                <c:ptCount val="1"/>
                <c:pt idx="0">
                  <c:v>Tỷ lệ vào KEV trong 12 tháng (%)</c:v>
                </c:pt>
              </c:strCache>
            </c:strRef>
          </c:tx>
          <c:spPr>
            <a:solidFill>
              <a:srgbClr val="C02034"/>
            </a:solidFill>
            <a:effectLst/>
          </c:spPr>
          <c:invertIfNegative val="0"/>
          <c:dLbls>
            <c:numFmt formatCode="0.00" sourceLinked="0"/>
            <c:txPr>
              <a:bodyPr/>
              <a:lstStyle/>
              <a:p>
                <a:pPr>
                  <a:defRPr b="0" i="0" strike="noStrike" sz="900" u="none">
                    <a:solidFill>
                      <a:srgbClr val="0F172A"/>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0-9</c:v>
                  </c:pt>
                  <c:pt idx="1">
                    <c:v>10-19</c:v>
                  </c:pt>
                  <c:pt idx="2">
                    <c:v>20-29</c:v>
                  </c:pt>
                  <c:pt idx="3">
                    <c:v>30-39</c:v>
                  </c:pt>
                  <c:pt idx="4">
                    <c:v>40-49</c:v>
                  </c:pt>
                  <c:pt idx="5">
                    <c:v>50-59</c:v>
                  </c:pt>
                  <c:pt idx="6">
                    <c:v>60-69</c:v>
                  </c:pt>
                  <c:pt idx="7">
                    <c:v>70-79</c:v>
                  </c:pt>
                  <c:pt idx="8">
                    <c:v>80-89</c:v>
                  </c:pt>
                  <c:pt idx="9">
                    <c:v>90-100</c:v>
                  </c:pt>
                </c:lvl>
              </c:multiLvlStrCache>
            </c:multiLvlStrRef>
          </c:cat>
          <c:val>
            <c:numRef>
              <c:f>Sheet1!$B$2:$B$11</c:f>
              <c:numCache>
                <c:formatCode>General</c:formatCode>
                <c:ptCount val="10"/>
                <c:pt idx="0">
                  <c:v>0.011</c:v>
                </c:pt>
                <c:pt idx="1">
                  <c:v>0.028</c:v>
                </c:pt>
                <c:pt idx="2">
                  <c:v>0.017</c:v>
                </c:pt>
                <c:pt idx="3">
                  <c:v>0.093</c:v>
                </c:pt>
                <c:pt idx="4">
                  <c:v>0.11</c:v>
                </c:pt>
                <c:pt idx="5">
                  <c:v>0.21</c:v>
                </c:pt>
                <c:pt idx="6">
                  <c:v>0.41</c:v>
                </c:pt>
                <c:pt idx="7">
                  <c:v>1.16</c:v>
                </c:pt>
                <c:pt idx="8">
                  <c:v>1.29</c:v>
                </c:pt>
                <c:pt idx="9">
                  <c:v>1.22</c:v>
                </c:pt>
              </c:numCache>
            </c:numRef>
          </c:val>
        </c:ser>
        <c:dLbls>
          <c:numFmt formatCode="0.00" sourceLinked="0"/>
          <c:txPr>
            <a:bodyPr/>
            <a:lstStyle/>
            <a:p>
              <a:pPr>
                <a:defRPr b="0" i="0" strike="noStrike" sz="900" u="none">
                  <a:solidFill>
                    <a:srgbClr val="0F17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4748B"/>
                    </a:solidFill>
                    <a:latin typeface="Arial"/>
                  </a:defRPr>
                </a:pPr>
                <a:r>
                  <a:rPr sz="1000" b="0" i="0" u="none" strike="noStrike">
                    <a:solidFill>
                      <a:srgbClr val="64748B"/>
                    </a:solidFill>
                    <a:latin typeface="Arial"/>
                  </a:rPr>
                  <a:t>Mức điểm 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4155"/>
                </a:solidFill>
                <a:latin typeface="Calibri"/>
              </a:defRPr>
            </a:pPr>
            <a:r>
              <a:rPr sz="1100" b="0" i="0" u="none" strike="noStrike">
                <a:solidFill>
                  <a:srgbClr val="334155"/>
                </a:solidFill>
                <a:latin typeface="Calibri"/>
              </a:rPr>
              <a:t>Số lỗ hổng sắp bị khai thác bắt được (trên 91), ngày 30/06/2025</a:t>
            </a:r>
          </a:p>
        </c:rich>
      </c:tx>
      <c:layout/>
      <c:overlay val="0"/>
    </c:title>
    <c:autoTitleDeleted val="0"/>
    <c:plotArea>
      <c:layout/>
      <c:barChart>
        <c:barDir val="col"/>
        <c:grouping val="clustered"/>
        <c:varyColors val="0"/>
        <c:ser>
          <c:idx val="0"/>
          <c:order val="0"/>
          <c:tx>
            <c:strRef>
              <c:f>Sheet1!$B$1</c:f>
              <c:strCache>
                <c:ptCount val="1"/>
                <c:pt idx="0">
                  <c:v>Theo CVSS</c:v>
                </c:pt>
              </c:strCache>
            </c:strRef>
          </c:tx>
          <c:spPr>
            <a:solidFill>
              <a:srgbClr val="94A3B8"/>
            </a:solidFill>
            <a:effectLst/>
          </c:spPr>
          <c:invertIfNegative val="0"/>
          <c:dLbls>
            <c:numFmt formatCode="General" sourceLinked="0"/>
            <c:txPr>
              <a:bodyPr/>
              <a:lstStyle/>
              <a:p>
                <a:pPr>
                  <a:defRPr b="0" i="0" strike="noStrike" sz="900" u="none">
                    <a:solidFill>
                      <a:srgbClr val="0F17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Vá 1%</c:v>
                  </c:pt>
                  <c:pt idx="1">
                    <c:v>Vá 5%</c:v>
                  </c:pt>
                  <c:pt idx="2">
                    <c:v>Bằng khối lượng CSA</c:v>
                  </c:pt>
                </c:lvl>
              </c:multiLvlStrCache>
            </c:multiLvlStrRef>
          </c:cat>
          <c:val>
            <c:numRef>
              <c:f>Sheet1!$B$2:$B$4</c:f>
              <c:numCache>
                <c:formatCode>General</c:formatCode>
                <c:ptCount val="3"/>
                <c:pt idx="0">
                  <c:v>4.8</c:v>
                </c:pt>
                <c:pt idx="1">
                  <c:v>11.3</c:v>
                </c:pt>
                <c:pt idx="2">
                  <c:v>54</c:v>
                </c:pt>
              </c:numCache>
            </c:numRef>
          </c:val>
        </c:ser>
        <c:ser>
          <c:idx val="1"/>
          <c:order val="1"/>
          <c:tx>
            <c:strRef>
              <c:f>Sheet1!$C$1</c:f>
              <c:strCache>
                <c:ptCount val="1"/>
                <c:pt idx="0">
                  <c:v>Theo EPSS</c:v>
                </c:pt>
              </c:strCache>
            </c:strRef>
          </c:tx>
          <c:spPr>
            <a:solidFill>
              <a:srgbClr val="334155"/>
            </a:solidFill>
            <a:effectLst/>
          </c:spPr>
          <c:invertIfNegative val="0"/>
          <c:dLbls>
            <c:numFmt formatCode="General" sourceLinked="0"/>
            <c:txPr>
              <a:bodyPr/>
              <a:lstStyle/>
              <a:p>
                <a:pPr>
                  <a:defRPr b="0" i="0" strike="noStrike" sz="900" u="none">
                    <a:solidFill>
                      <a:srgbClr val="0F17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Vá 1%</c:v>
                  </c:pt>
                  <c:pt idx="1">
                    <c:v>Vá 5%</c:v>
                  </c:pt>
                  <c:pt idx="2">
                    <c:v>Bằng khối lượng CSA</c:v>
                  </c:pt>
                </c:lvl>
              </c:multiLvlStrCache>
            </c:multiLvlStrRef>
          </c:cat>
          <c:val>
            <c:numRef>
              <c:f>Sheet1!$C$2:$C$4</c:f>
              <c:numCache>
                <c:formatCode>General</c:formatCode>
                <c:ptCount val="3"/>
                <c:pt idx="0">
                  <c:v>30</c:v>
                </c:pt>
                <c:pt idx="1">
                  <c:v>51</c:v>
                </c:pt>
                <c:pt idx="2">
                  <c:v>65</c:v>
                </c:pt>
              </c:numCache>
            </c:numRef>
          </c:val>
        </c:ser>
        <c:ser>
          <c:idx val="2"/>
          <c:order val="2"/>
          <c:tx>
            <c:strRef>
              <c:f>Sheet1!$D$1</c:f>
              <c:strCache>
                <c:ptCount val="1"/>
                <c:pt idx="0">
                  <c:v>Theo công thức S</c:v>
                </c:pt>
              </c:strCache>
            </c:strRef>
          </c:tx>
          <c:spPr>
            <a:solidFill>
              <a:srgbClr val="C02034"/>
            </a:solidFill>
            <a:effectLst/>
          </c:spPr>
          <c:invertIfNegative val="0"/>
          <c:dLbls>
            <c:numFmt formatCode="General" sourceLinked="0"/>
            <c:txPr>
              <a:bodyPr/>
              <a:lstStyle/>
              <a:p>
                <a:pPr>
                  <a:defRPr b="0" i="0" strike="noStrike" sz="900" u="none">
                    <a:solidFill>
                      <a:srgbClr val="0F17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Vá 1%</c:v>
                  </c:pt>
                  <c:pt idx="1">
                    <c:v>Vá 5%</c:v>
                  </c:pt>
                  <c:pt idx="2">
                    <c:v>Bằng khối lượng CSA</c:v>
                  </c:pt>
                </c:lvl>
              </c:multiLvlStrCache>
            </c:multiLvlStrRef>
          </c:cat>
          <c:val>
            <c:numRef>
              <c:f>Sheet1!$D$2:$D$4</c:f>
              <c:numCache>
                <c:formatCode>General</c:formatCode>
                <c:ptCount val="3"/>
                <c:pt idx="0">
                  <c:v>25</c:v>
                </c:pt>
                <c:pt idx="1">
                  <c:v>50</c:v>
                </c:pt>
                <c:pt idx="2">
                  <c:v>65</c:v>
                </c:pt>
              </c:numCache>
            </c:numRef>
          </c:val>
        </c:ser>
        <c:dLbls>
          <c:numFmt formatCode="General" sourceLinked="0"/>
          <c:txPr>
            <a:bodyPr/>
            <a:lstStyle/>
            <a:p>
              <a:pPr>
                <a:defRPr b="0" i="0" strike="noStrike" sz="900" u="none">
                  <a:solidFill>
                    <a:srgbClr val="0F17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4155"/>
                </a:solidFill>
                <a:latin typeface="Calibri"/>
              </a:defRPr>
            </a:pPr>
            <a:r>
              <a:rPr sz="1100" b="0" i="0" u="none" strike="noStrike">
                <a:solidFill>
                  <a:srgbClr val="334155"/>
                </a:solidFill>
                <a:latin typeface="Calibri"/>
              </a:rPr>
              <a:t>Hiệu quả so với chọn ngẫu nhiên (lần), 11 ngày cuối quý</a:t>
            </a:r>
          </a:p>
        </c:rich>
      </c:tx>
      <c:layout/>
      <c:overlay val="0"/>
    </c:title>
    <c:autoTitleDeleted val="0"/>
    <c:plotArea>
      <c:layout/>
      <c:lineChart>
        <c:varyColors val="0"/>
        <c:ser>
          <c:idx val="0"/>
          <c:order val="0"/>
          <c:tx>
            <c:strRef>
              <c:f>Sheet1!$B$1</c:f>
              <c:strCache>
                <c:ptCount val="1"/>
                <c:pt idx="0">
                  <c:v>S từ 70</c:v>
                </c:pt>
              </c:strCache>
            </c:strRef>
          </c:tx>
          <c:spPr>
            <a:solidFill>
              <a:srgbClr val="C02034"/>
            </a:solidFill>
            <a:ln w="31750" cap="flat">
              <a:solidFill>
                <a:srgbClr val="C02034"/>
              </a:solidFill>
              <a:prstDash val="solid"/>
              <a:round/>
            </a:ln>
            <a:effectLst/>
          </c:spPr>
          <c:invertIfNegative val="0"/>
          <c:dLbls>
            <c:numFmt formatCode="#,##0" sourceLinked="0"/>
            <c:txPr>
              <a:bodyPr/>
              <a:lstStyle/>
              <a:p>
                <a:pPr>
                  <a:defRPr b="0" i="0" strike="noStrike" sz="900" u="none">
                    <a:solidFill>
                      <a:srgbClr val="0F172A"/>
                    </a:solidFill>
                    <a:latin typeface="Calibri"/>
                  </a:defRPr>
                </a:pPr>
              </a:p>
            </c:txPr>
            <c:showLegendKey val="0"/>
            <c:showVal val="0"/>
            <c:showCatName val="0"/>
            <c:showSerName val="0"/>
            <c:showPercent val="0"/>
            <c:showBubbleSize val="0"/>
            <c:showLeaderLines val="0"/>
          </c:dLbls>
          <c:marker>
            <c:symbol val="circle"/>
            <c:size val="6"/>
            <c:spPr>
              <a:solidFill>
                <a:srgbClr val="C02034"/>
              </a:solidFill>
              <a:ln w="9525" cap="flat">
                <a:solidFill>
                  <a:srgbClr val="C02034"/>
                </a:solidFill>
                <a:prstDash val="solid"/>
                <a:round/>
              </a:ln>
              <a:effectLst/>
            </c:spPr>
          </c:marker>
          <c:cat>
            <c:multiLvlStrRef>
              <c:f>Sheet1!$A$2:$A$12</c:f>
              <c:multiLvlStrCache>
                <c:ptCount val="11"/>
                <c:lvl>
                  <c:pt idx="0">
                    <c:v>03/23</c:v>
                  </c:pt>
                  <c:pt idx="1">
                    <c:v>06/23</c:v>
                  </c:pt>
                  <c:pt idx="2">
                    <c:v>09/23</c:v>
                  </c:pt>
                  <c:pt idx="3">
                    <c:v>12/23</c:v>
                  </c:pt>
                  <c:pt idx="4">
                    <c:v>03/24</c:v>
                  </c:pt>
                  <c:pt idx="5">
                    <c:v>06/24</c:v>
                  </c:pt>
                  <c:pt idx="6">
                    <c:v>09/24</c:v>
                  </c:pt>
                  <c:pt idx="7">
                    <c:v>12/24</c:v>
                  </c:pt>
                  <c:pt idx="8">
                    <c:v>03/25</c:v>
                  </c:pt>
                  <c:pt idx="9">
                    <c:v>06/25</c:v>
                  </c:pt>
                  <c:pt idx="10">
                    <c:v>09/25</c:v>
                  </c:pt>
                </c:lvl>
              </c:multiLvlStrCache>
            </c:multiLvlStrRef>
          </c:cat>
          <c:val>
            <c:numRef>
              <c:f>Sheet1!$B$2:$B$12</c:f>
              <c:numCache>
                <c:formatCode>General</c:formatCode>
                <c:ptCount val="11"/>
                <c:pt idx="0">
                  <c:v>21.4</c:v>
                </c:pt>
                <c:pt idx="1">
                  <c:v>34.2</c:v>
                </c:pt>
                <c:pt idx="2">
                  <c:v>24.6</c:v>
                </c:pt>
                <c:pt idx="3">
                  <c:v>22.6</c:v>
                </c:pt>
                <c:pt idx="4">
                  <c:v>21.6</c:v>
                </c:pt>
                <c:pt idx="5">
                  <c:v>15.9</c:v>
                </c:pt>
                <c:pt idx="6">
                  <c:v>20.4</c:v>
                </c:pt>
                <c:pt idx="7">
                  <c:v>25.5</c:v>
                </c:pt>
                <c:pt idx="8">
                  <c:v>31.5</c:v>
                </c:pt>
                <c:pt idx="9">
                  <c:v>27.9</c:v>
                </c:pt>
                <c:pt idx="10">
                  <c:v>29.1</c:v>
                </c:pt>
              </c:numCache>
            </c:numRef>
          </c:val>
          <c:smooth val="0"/>
        </c:ser>
        <c:ser>
          <c:idx val="1"/>
          <c:order val="1"/>
          <c:tx>
            <c:strRef>
              <c:f>Sheet1!$C$1</c:f>
              <c:strCache>
                <c:ptCount val="1"/>
                <c:pt idx="0">
                  <c:v>Quy tắc CSA</c:v>
                </c:pt>
              </c:strCache>
            </c:strRef>
          </c:tx>
          <c:spPr>
            <a:solidFill>
              <a:srgbClr val="94A3B8"/>
            </a:solidFill>
            <a:ln w="31750" cap="flat">
              <a:solidFill>
                <a:srgbClr val="94A3B8"/>
              </a:solidFill>
              <a:prstDash val="solid"/>
              <a:round/>
            </a:ln>
            <a:effectLst/>
          </c:spPr>
          <c:invertIfNegative val="0"/>
          <c:dLbls>
            <c:numFmt formatCode="#,##0" sourceLinked="0"/>
            <c:txPr>
              <a:bodyPr/>
              <a:lstStyle/>
              <a:p>
                <a:pPr>
                  <a:defRPr b="0" i="0" strike="noStrike" sz="900" u="none">
                    <a:solidFill>
                      <a:srgbClr val="0F172A"/>
                    </a:solidFill>
                    <a:latin typeface="Calibri"/>
                  </a:defRPr>
                </a:pPr>
              </a:p>
            </c:txPr>
            <c:showLegendKey val="0"/>
            <c:showVal val="0"/>
            <c:showCatName val="0"/>
            <c:showSerName val="0"/>
            <c:showPercent val="0"/>
            <c:showBubbleSize val="0"/>
            <c:showLeaderLines val="0"/>
          </c:dLbls>
          <c:marker>
            <c:symbol val="circle"/>
            <c:size val="6"/>
            <c:spPr>
              <a:solidFill>
                <a:srgbClr val="94A3B8"/>
              </a:solidFill>
              <a:ln w="9525" cap="flat">
                <a:solidFill>
                  <a:srgbClr val="94A3B8"/>
                </a:solidFill>
                <a:prstDash val="solid"/>
                <a:round/>
              </a:ln>
              <a:effectLst/>
            </c:spPr>
          </c:marker>
          <c:cat>
            <c:multiLvlStrRef>
              <c:f>Sheet1!$A$2:$A$12</c:f>
              <c:multiLvlStrCache>
                <c:ptCount val="11"/>
                <c:lvl>
                  <c:pt idx="0">
                    <c:v>03/23</c:v>
                  </c:pt>
                  <c:pt idx="1">
                    <c:v>06/23</c:v>
                  </c:pt>
                  <c:pt idx="2">
                    <c:v>09/23</c:v>
                  </c:pt>
                  <c:pt idx="3">
                    <c:v>12/23</c:v>
                  </c:pt>
                  <c:pt idx="4">
                    <c:v>03/24</c:v>
                  </c:pt>
                  <c:pt idx="5">
                    <c:v>06/24</c:v>
                  </c:pt>
                  <c:pt idx="6">
                    <c:v>09/24</c:v>
                  </c:pt>
                  <c:pt idx="7">
                    <c:v>12/24</c:v>
                  </c:pt>
                  <c:pt idx="8">
                    <c:v>03/25</c:v>
                  </c:pt>
                  <c:pt idx="9">
                    <c:v>06/25</c:v>
                  </c:pt>
                  <c:pt idx="10">
                    <c:v>09/25</c:v>
                  </c:pt>
                </c:lvl>
              </c:multiLvlStrCache>
            </c:multiLvlStrRef>
          </c:cat>
          <c:val>
            <c:numRef>
              <c:f>Sheet1!$C$2:$C$12</c:f>
              <c:numCache>
                <c:formatCode>General</c:formatCode>
                <c:ptCount val="11"/>
                <c:pt idx="0">
                  <c:v>1.7</c:v>
                </c:pt>
                <c:pt idx="1">
                  <c:v>2</c:v>
                </c:pt>
                <c:pt idx="2">
                  <c:v>2</c:v>
                </c:pt>
                <c:pt idx="3">
                  <c:v>2.1</c:v>
                </c:pt>
                <c:pt idx="4">
                  <c:v>2</c:v>
                </c:pt>
                <c:pt idx="5">
                  <c:v>2.1</c:v>
                </c:pt>
                <c:pt idx="6">
                  <c:v>2</c:v>
                </c:pt>
                <c:pt idx="7">
                  <c:v>2.1</c:v>
                </c:pt>
                <c:pt idx="8">
                  <c:v>2.3</c:v>
                </c:pt>
                <c:pt idx="9">
                  <c:v>2.1</c:v>
                </c:pt>
                <c:pt idx="10">
                  <c:v>2.2</c:v>
                </c:pt>
              </c:numCache>
            </c:numRef>
          </c:val>
          <c:smooth val="0"/>
        </c:ser>
        <c:dLbls>
          <c:numFmt formatCode="#,##0" sourceLinked="0"/>
          <c:txPr>
            <a:bodyPr/>
            <a:lstStyle/>
            <a:p>
              <a:pPr>
                <a:defRPr b="0" i="0" strike="noStrike" sz="900" u="none">
                  <a:solidFill>
                    <a:srgbClr val="0F172A"/>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(khoảng 30 giây).
Kính chào thầy và các bạn. Nhóm 14 gồm Trần Minh Vương, Vũ Thành Huy và Nguyễn Hoà Khiêm xin trình bày đề tài: kiểm chứng ngưỡng CVSS 8,0 trong khuyến nghị của Cloud Security Alliance, viết tắt CSA, và đề xuất một công thức ưu tiên vá lỗ hổng.
Câu hỏi xuyên suốt bài: nếu chỉ dựa vào điểm CVSS để quyết định vá lỗ hổng nào trước, tổ chức có đang vá đúng chỗ không. Nhóm trả lời bằng dữ liệu thật của NVD, danh mục lỗ hổng đã bị khai thác CISA KEV và điểm dự báo khai thác EPSS, sau đó đề xuất công thức kết hợp các nguồn này, có tham chiếu Chỉ thị BOD 26-04 mới của 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toàn bài (khoảng 1 phút 30 giây).
Ba con số cần nhớ.
Thứ nhất, 98,69 phần trăm lỗ hổng mà quy tắc CVSS 8,0 bắt vá trong 48 giờ chưa từng bị khai thác, tức 65.845 trên 66.722 lỗ hổng. Đó là vá thừa.
Thứ hai, 44,14 phần trăm lỗ hổng đã thực sự bị khai thác lại bị bỏ qua vì CVSS dưới 8,0, tức 693 trên 1.570 lỗ hổng trong KEV. Đó là bỏ sót.
Thứ ba, khi xếp theo công thức S của nhóm, mức điểm từ 70 có tỷ lệ bị khai thác cao gấp khoảng 28 lần mức trung bình.
Phía dưới là mạch của bài: đề xuất công thức, cách kiểm chứng, kết quả chính và giới hạn. Nhóm sẽ nói rõ cả phần đã chứng minh được và phần chưa chứng minh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Bối cảnh (khoảng 1 phút 30 giây).
Bài báo của CSA ngày 02/04/2026 lập luận rằng mô hình ngôn ngữ lớn đã rút ngắn khoảng thời gian từ khi lỗ hổng được công bố tới khi có mã khai thác. Ba bằng chứng chính bài báo dẫn ở bên trái: GPT-4 khai thác được 87 phần trăm trong 15 lỗ hổng một ngày khi có mô tả CVE, nhưng chỉ 7 phần trăm khi không có mô tả; các hệ thống tại DARPA AIxCC 2025 tìm ra 86 phần trăm lỗ hổng tổng hợp và 18 lỗ hổng thật; Incalmo chiếm được tài sản quan trọng ở 37 trên 40 môi trường mô phỏng.
Từ đó CSA đưa ra khuyến nghị bên phải: CVE có CVSS trên 8,0 ảnh hưởng tới hệ thống phơi ra Internet phải được vá trong 48 giờ.
Điểm nhóm đặt câu hỏi: CVSS chỉ cho biết lỗ hổng nặng đến đâu nếu bị khai thác, không cho biết kẻ tấn công có đang nhắm tới nó hay không. Vì vậy cần kiểm chứng quy tắc này trên dữ liệu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và câu hỏi (khoảng 1 phút).
Toàn bộ dữ liệu là công khai và miễn phí. NVD của NIST cho điểm CVSS: nhóm dùng 240.409 lỗ hổng có CVSS 3.x, mã CVE từ 1999 đến 2025. CISA KEV là danh mục lỗ hổng đã được xác nhận bị khai thác thực tế, nhóm dùng làm căn cứ đúng; trong phạm vi có 1.570 lỗ hổng. FIRST EPSS cho xác suất bị khai thác trong 30 ngày tới, có lưu lịch sử theo ngày nên dùng được cho kiểm thử ngược.
Bài trả lời ba câu hỏi: quy tắc CVSS 8,0 vá thừa và bỏ sót bao nhiêu; công thức kết hợp có ưu tiên tốt hơn không khi chỉ dùng thông tin có tại thời điểm quyết định; và công thức có khả thi không, giới hạn ở đâu.
Nhóm chỉ dùng dữ liệu mô tả lỗ hổng, không tạo mã khai thác và không quét hệ thống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1: vá thừa (khoảng 1 phút 30 giây).
Biểu đồ cho thấy số lỗ hổng có CVSS từ 8,0 mỗi năm, phần xám là chưa ghi nhận bị khai thác, phần đỏ là đã bị khai thác. Phần đỏ gần như không nhìn thấy.
Tính trên toàn bộ giai đoạn 1999 đến 2025, có 66.722 lỗ hổng thuộc diện vá trong 48 giờ, nhưng 98,69 phần trăm chưa từng bị khai thác. Trung bình phải vá 76,1 lỗ hổng mới trúng một lỗ hổng thực sự bị khai thác.
Khối lượng còn tăng nhanh: năm 2025 có 11.170 lỗ hổng CVSS từ 8,0, tức khoảng 30,6 lỗ hổng mới mỗi ngày, gấp đôi năm 2020, trong khi tỷ lệ bị khai thác vẫn khoảng 1 phần trăm.
Lưu ý: "chưa ghi nhận bị khai thác" không có nghĩa là an toàn tuyệt đối, vì KEV chỉ ghi những gì CISA xác nhận được. Nhưng tỷ lệ 1 trên 76 cho thấy nguồn lực đang bị dàn trải.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2: bỏ sót (khoảng 1 phút 30 giây).
Đây là 1.570 lỗ hổng đã bị khai thác, chia theo khoảng điểm CVSS. Các cột đỏ là phần quy tắc CSA bỏ qua vì điểm dưới 8,0: tổng cộng 693 lỗ hổng, tức 44,14 phần trăm.
Điều đáng chú ý là 74,17 phần trăm số bị bỏ qua nằm ngay sát ngưỡng, điểm từ 7,0 đến 7,9. Khoảng này có 514 lỗ hổng bị khai thác, còn nhiều hơn khoảng 8,0 đến 8,9 với 343 lỗ hổng.
Nhóm bị bỏ qua cũng không kém nguy hiểm: 145 trong 343 lỗ hổng KEV từng được dùng trong mã độc tống tiền thuộc nhóm này. Và vấn đề không giảm: năm 2025 vẫn có 39,4 phần trăm lỗ hổng KEV có CVSS dưới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Độ nhạy (khoảng 1 phút 30 giây).
Có thể phản biện rằng nhóm đọc khuyến nghị quá đơn giản. Vì vậy nhóm thử nhiều cách áp dụng.
Nếu chỉ xét lỗ hổng khai thác được qua mạng, tức vector AV:N, gần với điều kiện "phơi ra Internet", tỷ lệ bỏ sót giảm còn 26,25 phần trăm; thêm điều kiện có mã khai thác minh chứng công khai thì còn 20,73 phần trăm. Như vậy kết luận bỏ sót phụ thuộc cách đọc, từ 21 đến 44 phần trăm.
Nhưng cột cuối không đổi: ở mọi cách, chỉ khoảng 1,1 đến 1,5 phần trăm lỗ hổng trong nhóm phải vá bị khai thác. Vá thừa đúng với mọi cách đọc.
Hai dòng cuối là đổi ngưỡng: hạ xuống 7,0 thì bỏ sót còn 11,40 phần trăm nhưng phải vá hơn một nửa số lỗ hổng; nâng lên 9,0 thì vá ít hơn nhưng bỏ sót tới 65,99 phần trăm. Đổi ngưỡng chỉ chuyển gánh nặng, không giải quyết được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Bối cảnh chính sách mới (khoảng 1 phút 30 giây).
Hai tháng sau bài báo CSA, ngày 10/06/2026, CISA ban hành Chỉ thị BOD 26-04, thu hồi BOD 22-01 và BOD 19-02. Chỉ thị bỏ cách đặt hạn vá theo điểm CVSS, thay bằng bốn câu hỏi có hoặc không cho từng lỗ hổng trên từng tài sản: tài sản có phơi ra Internet không, lỗ hổng có trong KEV không, việc khai thác có tự động hóa được không, và khai thác xong chiếm toàn quyền hay một phần.
Tổ hợp các câu trả lời cho ra hạn vá: cao nhất 3 ngày kèm điều tra xem đã bị xâm nhập chưa, thấp nhất là vá ở lần nâng cấp hệ thống kế tiếp. Mọi lỗ hổng trong KEV đều có hạn 3 hoặc 14 ngày.
Hướng dẫn thực hiện ghi rõ các cơ quan không còn bị yêu cầu dùng CVSS để xếp ưu tiên. CISA cũng dẫn số liệu Verizon: chỉ 26 phần trăm lỗ hổng KEV được khắc phục hoàn toàn năm 2025, giảm từ 38 phần trăm.
Hàm ý: kết luận của nhóm cùng hướng với chính sách mới nhất của CISA. Công thức của nhóm sẽ lấy ba trong bốn biến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đề xuất (khoảng 1 phút 30 giây).
Từ hai vấn đề vừa thấy và từ hướng của BOD 26-04, nhóm đề xuất điểm ưu tiên S cho mỗi cặp lỗ hổng và tài sản.
Đọc công thức từ ngoài vào trong. AC là mức quan trọng của tài sản, do tổ chức tự xác định, ví dụ 1,0 cho hệ thống lõi, 0,2 cho máy thử nghiệm. CVSS giữ vai trò đo mức nghiêm trọng, thay cho biến tác động kỹ thuật của BOD. Nhân 10 để điểm nằm trong thang 0 đến 100.
Phần trong ngoặc vuông gọi là bộ lọc mối đe dọa T, nhận giá trị từ 0 đến 1, dùng ba biến của BOD 26-04 là KEV, tự động hóa EA, phơi ra Internet PE, cộng thêm EPSS để có xác suất liên tục cho những lỗ hổng chưa có bằng chứng khai thác.
Khác BOD 26-04 ở chỗ cho điểm liên tục để sắp thứ tự bên trong từng bậc; khác cây quyết định VMC của Shimizu và Hashimoto ở hai biến EA, PE và hệ số tài sản.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Cắt nghĩa công thức (khoảng 1 phút 30 giây).
Vì KEV, EA và PE chỉ nhận 0 hoặc 1, bộ lọc T tự rẽ thành năm trường hợp như bảng, không cần câu lệnh điều kiện, nên đưa thẳng vào bảng tính được.
Dòng 1: lỗ hổng đã bị khai thác và tài sản phơi ra Internet thì T bằng 1, điểm lên mức cao nhất của lỗ hổng đó. Dòng 3: chưa bị khai thác nhưng tự động hóa được và phơi ra Internet thì cũng lên mức cao nhất, vì không cần chờ bằng chứng khai thác mới hành động. Đây đúng là kịch bản bài báo CSA lo ngại khi LLM tự động hóa việc tạo mã khai thác.
Dòng 2 và 4: nếu nằm trong mạng nội bộ, hai nhánh này bằng 0 để dồn nguồn lực cho bề mặt Internet. Riêng lỗ hổng KEV nội bộ, chính sách vẫn giữ hạn vá tối đa, sẽ nói ở phần khuyến nghị.
Dòng 5: không tự động hóa được thì điểm theo EPSS. Nhóm không nhân PE với phần EPSS vì EPSS phản ánh cả các con đường tấn công không đi trực tiếp từ Internet. Số mũ 0,3 nén thang EPSS vốn rất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(khoảng 1 phút).
Bảy lỗ hổng giả định, coi mọi tài sản quan trọng như nhau. Quy tắc CSA chọn A và D vì CVSS cao, bỏ qua B và C, và không áp dụng cho E, F, G vì nằm trong mạng nội bộ.
Công thức đưa D lên đầu với 90 điểm vì tự động hóa được và phơi ra Internet; cùng lỗ hổng đó nếu không tự động hóa được thì chỉ còn 45,1. E giống D nhưng nằm trong mạng nội bộ nên về 0. B được 72,7 điểm dù CSA bỏ qua, vì EPSS 0,90. A chỉ 12,3 vì gần như không có tín hiệu khai thác. C đã bị khai thác, điểm 65 nhưng vẫn vào nhóm vá khẩn cấp nhờ quy tắc đi kèm. G nằm trong mạng nội bộ nhưng vẫn 54,4 điểm nhờ EPSS.
Thông điệp: thứ tự ưu tiên đi theo bằng chứng khai thác và mức phơi ra, không chỉ theo CVSS.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kiểm chứng (khoảng 1 phút 30 giây).
Lỗi phổ biến khi đánh giá EPSS là dùng điểm hiện tại: lỗ hổng đã bị khai thác thường có EPSS cao chính vì việc khai thác đã xảy ra, nên kết quả đẹp giả tạo. Nhóm dùng kiểm thử ngược bốn bước: chọn một ngày T trong quá khứ; chấm điểm chỉ bằng EPSS và KEV có tại ngày T; theo dõi 12 tháng sau xem lỗ hổng nào thực sự vào KEV; rồi so sánh với CVSS, EPSS và quy tắc CSA khi cùng khối lượng vá.
Cần nói rõ phạm vi: các thực nghiệm kiểm chứng dạng rút gọn S0, tức khi tài sản phơi ra Internet, đúng phạm vi CSA, và chưa dùng thông tin tự động hóa; hệ số tài sản đặt bằng 1. Ba biến EA, PE, AC chưa kiểm chứng được vì thiếu dữ liệu công khai đủ tin cậy.
Quy mô: 7 thực nghiệm, 11 ngày đánh giá cuối quý, 1.000 lần lấy mẫu bootstrap cho khoảng tin cậy, và 836 lỗ hổng vào KEV từ 01/04/2023 cho phép thử điểm trước khi vào KEV.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1: điểm S có phân biệt được không (khoảng 1 phút 30 giây).
Tại ngày 30/06/2025 có 209.623 lỗ hổng chưa có trong KEV. Trong 12 tháng sau, 91 lỗ hổng vào KEV, tức tỷ lệ trung bình 0,043 phần trăm.
Biểu đồ cho thấy tỷ lệ vào KEV theo từng mức 10 điểm của S. Dưới 30 điểm, tỷ lệ chỉ khoảng 0,01 đến 0,03 phần trăm. Từ 70 điểm trở lên, tỷ lệ khoảng 1,2 phần trăm, gấp khoảng 28 lần trung bình. Các mức ở giữa có dao động vì số lỗ hổng vào KEV trong mỗi mức ít.
Về khối lượng: chỉ 1,34 phần trăm lỗ hổng đạt S từ 70, nhưng nhóm nhỏ này chứa 37,36 phần trăm số lỗ hổng sắp bị khai thác. Đây là cơ sở để chọn ngưỡng 70 trong phần khuyến nghị.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2: so sánh khi cùng khối lượng vá (khoảng 1 phút 30 giây).
So sánh công bằng phải cố định cùng số lỗ hổng được vá. Biểu đồ là ngày 30/06/2025, với 91 lỗ hổng sắp bị khai thác.
Khi chỉ đủ nguồn lực vá 1 phần trăm, xếp theo CVSS bắt được khoảng 5 lỗ hổng, công thức S bắt được 25. Khi vá 5 phần trăm: 11 so với 50. Tính trên ba ngày đánh giá đầu, S bắt được nhiều gấp 2,7 đến 8,9 lần CVSS, và ở cả 11 ngày S không kém CVSS; khoảng tin cậy bootstrap nằm hoàn toàn trên 0.
Phải nói rõ hai giới hạn. Khi vá bằng đúng khối lượng của quy tắc CSA, S hơn CVSS ở hai trong ba ngày, giả thuyết H1 đặt trước chưa đạt. Và S gần như ngang EPSS dùng riêng: khả năng dự đoán đến từ EPSS; thừa số CVSS thêm trọng số mức nghiêm trọng chứ không làm dự đoán chính xác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3: độ ổn định (khoảng 1 phút).
Một ngày đánh giá có thể là may mắn, nên nhóm lặp lại thiết kế tại 11 ngày cuối quý, từ tháng 3/2023 đến tháng 9/2025.
Đường đỏ là hiệu quả của ngưỡng S từ 70 so với chọn ngẫu nhiên: luôn từ khoảng 16 đến 34 lần. Đường xám là quy tắc CSA: chỉ 1,7 đến 2,3 lần, gần như phẳng. Trong khi đó nhóm S từ 70 chỉ chiếm 0,78 đến 1,40 phần trăm số lỗ hổng.
Nhóm cũng thử số mũ từ 0,1 đến 1,0: từ 0,2 trở lên kết quả gần như nhau, nên kết luận không phụ thuộc việc chọn 0,3.
Một lưu ý vận hành: khi FIRST đổi mô hình EPSS tháng 3/2025, khối lượng mức 70 tăng từ 0,78 lên 1,40 phần trăm. Ngưỡng cần được hiệu chỉnh lại mỗi khi EPSS đổi phiên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Tình huống điển hình (khoảng 1 phút 30 giây).
Để tránh chọn ví dụ có lợi, nhóm đặt tiêu chí trước: lỗ hổng vào KEV từ 01/04/2023, CVSS dưới 8,0, tức quy tắc CSA không bao giờ ưu tiên, và có S từ 50 vào 30 ngày trước khi vào KEV. Có 24 trong 156 lỗ hổng có điểm EPSS đạt tiêu chí này.
Ba ví dụ chọn theo quy tắc. Jira, CVSS chỉ 5,3: S giữ quanh 50 liên tục từ 02/2024, khoảng 8 tháng trước khi CISA xác nhận. Openfire: S tăng từ 7 lên 34 rồi 62 trong hai tháng sau khi công bố, gần một tháng trước khi vào KEV. BIND: S khoảng 73 liên tục từ 02/2022, trong khi CISA tới 08/10/2026 mới xác nhận.
Ba lưu ý để không nói quá: "báo trước" là trước khi CISA xác nhận, chưa chắc trước khi bị khai thác; một nửa số lần vượt ngưỡng trùng đúng tháng EPSS đổi mô hình; và 76,28 phần trăm vẫn có điểm dưới 30. Tình huống minh họa không thay cho kiểm chứng thống kê.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hạn (khoảng 1 phút 30 giây).
Nhóm nêu thẳng các giới hạn.
Thứ nhất, 27,15 phần trăm lỗ hổng vào KEV từ 01/04/2023 chưa có điểm EPSS trước khi vào KEV, vì được công bố và đưa vào KEV gần như cùng lúc. Với nhóm zero-day này, không công thức nào chấm trước được; chỉ thành phần KEV xử lý được.
Thứ hai, với lỗ hổng mới công bố tối đa 30 ngày, chỉ 4,46 phần trăm đạt S từ 70 trước khi vào KEV. Điểm cao chủ yếu thuộc về lỗ hổng cũ.
Thứ ba, ví dụ CrowdSec: CVE-2025-13956 bị khai thác từ tháng 4/2026 nhưng S cao nhất chỉ 22,9. Dữ liệu theo dõi tấn công trực tiếp phản ứng nhanh hơn EPSS.
Bên phải là những gì chưa kiểm chứng được: hệ số tài sản và biến phơi ra Internet cần dữ liệu nội bộ; biến tự động hóa có trong Vulnrichment nhưng độ phủ chỉ khoảng 45,8 phần trăm theo ước tính của Securin; và công thức chưa hơn EPSS dùng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Khuyến nghị áp dụng (khoảng 1 phút 30 giây).
Từ kết quả, nhóm đề xuất thay ngưỡng CVSS cố định bằng một thang điểm có hạn vá theo từng mức, bám theo các bậc của BOD 26-04.
Cách dùng: xét điều kiện khẩn cấp trước. Lỗ hổng đã có trong KEV hoặc tự động hóa được, trên tài sản phơi ra Internet, vá trong 3 ngày bất kể điểm. Sau đó mới tra điểm: từ 70 là Nghiêm trọng, vá trong 7 ngày; 50 đến 69 là Cao, 14 ngày; 30 đến 49 là Trung bình, 30 ngày; 10 đến 29 là Thấp, 60 ngày; dưới 10 thì vá ở lần nâng cấp hệ thống kế tiếp.
Riêng lỗ hổng KEV trên tài sản nội bộ, công thức cho 0 điểm nhưng vẫn phải vá trong 14 ngày, hoặc 3 ngày kèm điều tra nếu tự động hóa được và chiếm toàn quyền, đúng như Bảng 1 của BOD 26-04, vì kẻ tấn công đã vào được mạng nội bộ thường dùng chính các lỗ hổng này để di chuyển ngang.
Căn cứ chọn ngưỡng 70: mức này chỉ chiếm 1,34 phần trăm khối lượng nhưng chứa 37,36 phần trăm lỗ hổng sắp bị khai thác. Các hạn 7, 14, 30, 60 ngày là đề xuất của nhóm, chưa được kiểm chứng bằng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luận (khoảng 1 phút).
Ba kết luận. Một: ngưỡng CVSS 8,0 vừa vá thừa, 98,69 phần trăm nhóm phải vá chưa từng bị khai thác, vừa bỏ sót từ 21 đến 44 phần trăm lỗ hổng bị khai thác tùy cách đọc khuyến nghị. Hai: công thức S kết hợp CVSS, EPSS, KEV hiệu quả hơn rõ rệt khi nguồn lực vá có hạn, và kết quả ổn định qua 11 ngày đánh giá. Ba: kết luận này cùng hướng với Chỉ thị BOD 26-04 của CISA, bỏ CVSS làm căn cứ chính và đặt bằng chứng khai thác vào trung tâm.
Hướng phát triển: kiểm chứng biến tự động hóa bằng dữ liệu Vulnrichment, chú ý tránh rò rỉ dữ liệu tương lai; kiểm chứng biến phơi ra Internet và hệ số tài sản trên dữ liệu của một tổ chức thực; và bổ sung tín hiệu sớm cho lỗ hổng mới công bố, như mã khai thác công khai, cảnh báo của nhà cung cấp và dữ liệu theo dõi tấn công trực tiếp.
Nhóm xin cảm ơn và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thúc.
Cảm ơn thầy và các bạn đã lắng nghe. Nhóm sẵn sàng trả lời câu hỏi.
Gợi ý chuẩn bị cho câu hỏi thường gặp:
1. Vì sao dùng KEV làm căn cứ: là nguồn công khai, có ngày ghi nhận, được CISA xác nhận; nhược điểm là chậm và chưa đầy đủ, đã nêu ở phần giới hạn.
2. Vì sao không dùng EPSS hiện tại: vì điểm hiện tại đã phản ánh việc khai thác xảy ra, dùng sẽ nhìn trước đáp án.
3. Vì sao chọn số mũ 0,3: nén thang EPSS; thử từ 0,2 đến 1,0 kết quả gần như nhau.
4. Công thức có tốt hơn EPSS không: không, gần như ngang; giá trị thêm là đưa mức nghiêm trọng, mức phơi ra và tầm quan trọng tài sản vào thứ tự ưu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NOI_DUNG-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KET_THUC-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_DAU">
    <p:bg>
      <p:bgPr>
        <a:solidFill>
          <a:srgbClr val="FFFFFF"/>
        </a:solidFill>
      </p:bgPr>
    </p:bg>
    <p:spTree>
      <p:nvGrpSpPr>
        <p:cNvPr id="1" name=""/>
        <p:cNvGrpSpPr/>
        <p:nvPr/>
      </p:nvGrpSpPr>
      <p:grpSpPr>
        <a:xfrm>
          <a:off x="0" y="0"/>
          <a:ext cx="0" cy="0"/>
          <a:chOff x="0" y="0"/>
          <a:chExt cx="0" cy="0"/>
        </a:xfrm>
      </p:grpSpPr>
      <p:pic>
        <p:nvPicPr>
          <p:cNvPr id="2" name="Image 0" descr="/private/tmp/claude-501/-Users-apple-Workspace-personal-courses-Ch-nh-s-ch-v--Qu-n-tr--an-ninh-m-ng-Nh-m-14/817139ab-8bbf-473f-a75f-ddf8e0a9bc11/scratchpad/slide/mau/ppt/media/image3.png">    </p:cNvPr>
          <p:cNvPicPr>
            <a:picLocks noChangeAspect="1"/>
          </p:cNvPicPr>
          <p:nvPr/>
        </p:nvPicPr>
        <p:blipFill>
          <a:blip r:embed="rId1"/>
          <a:stretch>
            <a:fillRect/>
          </a:stretch>
        </p:blipFill>
        <p:spPr>
          <a:xfrm>
            <a:off x="0" y="0"/>
            <a:ext cx="9144000" cy="6858000"/>
          </a:xfrm>
          <a:prstGeom prst="rect">
            <a:avLst/>
          </a:prstGeom>
        </p:spPr>
      </p:pic>
      <p:pic>
        <p:nvPicPr>
          <p:cNvPr id="3" name="Image 1" descr="/private/tmp/claude-501/-Users-apple-Workspace-personal-courses-Ch-nh-s-ch-v--Qu-n-tr--an-ninh-m-ng-Nh-m-14/817139ab-8bbf-473f-a75f-ddf8e0a9bc11/scratchpad/slide/mau/ppt/media/image4.png">    </p:cNvPr>
          <p:cNvPicPr>
            <a:picLocks noChangeAspect="1"/>
          </p:cNvPicPr>
          <p:nvPr/>
        </p:nvPicPr>
        <p:blipFill>
          <a:blip r:embed="rId2"/>
          <a:stretch>
            <a:fillRect/>
          </a:stretch>
        </p:blipFill>
        <p:spPr>
          <a:xfrm>
            <a:off x="530352" y="384048"/>
            <a:ext cx="1399032" cy="42062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rtlCol="0"/>
          <a:lstStyle>
            <a:lvl1pPr algn="l" indent="0" marL="0">
              <a:buNone/>
              <a:defRPr lang="en-US" sz="18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ET_THUC">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30352" y="1691640"/>
            <a:ext cx="5577840" cy="1554480"/>
          </a:xfrm>
          <a:prstGeom prst="rect">
            <a:avLst/>
          </a:prstGeom>
          <a:noFill/>
          <a:ln/>
        </p:spPr>
        <p:txBody>
          <a:bodyPr wrap="square" lIns="0" tIns="0" rIns="0" bIns="0" rtlCol="0" anchor="b"/>
          <a:lstStyle/>
          <a:p>
            <a:pPr indent="0" marL="0">
              <a:buNone/>
            </a:pPr>
            <a:r>
              <a:rPr lang="en-US" sz="2600" b="1" dirty="0">
                <a:solidFill>
                  <a:srgbClr val="C02034"/>
                </a:solidFill>
                <a:latin typeface="Calibri" pitchFamily="34" charset="0"/>
                <a:ea typeface="Calibri" pitchFamily="34" charset="-122"/>
                <a:cs typeface="Calibri" pitchFamily="34" charset="-120"/>
              </a:rPr>
              <a:t>KIỂM CHỨNG NGƯỠNG CVSS 8,0 CỦA CSA VÀ ĐỀ XUẤT CÔNG THỨC ƯU TIÊN VÁ LỖ HỔNG</a:t>
            </a:r>
            <a:endParaRPr lang="en-US" sz="2600" dirty="0"/>
          </a:p>
        </p:txBody>
      </p:sp>
      <p:sp>
        <p:nvSpPr>
          <p:cNvPr id="3" name="Text 1"/>
          <p:cNvSpPr txBox="1"/>
          <p:nvPr/>
        </p:nvSpPr>
        <p:spPr>
          <a:xfrm>
            <a:off x="530352" y="3364992"/>
            <a:ext cx="5760720" cy="292608"/>
          </a:xfrm>
          <a:prstGeom prst="rect">
            <a:avLst/>
          </a:prstGeom>
          <a:noFill/>
          <a:ln/>
        </p:spPr>
        <p:txBody>
          <a:bodyPr wrap="square" lIns="0" tIns="0" rIns="0" bIns="0" rtlCol="0" anchor="ctr"/>
          <a:lstStyle/>
          <a:p>
            <a:pPr indent="0" marL="0">
              <a:buNone/>
            </a:pPr>
            <a:r>
              <a:rPr lang="en-US" sz="1500" b="1" dirty="0">
                <a:solidFill>
                  <a:srgbClr val="C02034"/>
                </a:solidFill>
                <a:latin typeface="Calibri" pitchFamily="34" charset="0"/>
                <a:ea typeface="Calibri" pitchFamily="34" charset="-122"/>
                <a:cs typeface="Calibri" pitchFamily="34" charset="-120"/>
              </a:rPr>
              <a:t>Kết hợp CVSS, EPSS, CISA KEV và Chỉ thị BOD 26-04</a:t>
            </a:r>
            <a:endParaRPr lang="en-US" sz="1500" dirty="0"/>
          </a:p>
        </p:txBody>
      </p:sp>
      <p:sp>
        <p:nvSpPr>
          <p:cNvPr id="4" name="Text 2"/>
          <p:cNvSpPr txBox="1"/>
          <p:nvPr/>
        </p:nvSpPr>
        <p:spPr>
          <a:xfrm>
            <a:off x="530352" y="3712464"/>
            <a:ext cx="5760720" cy="237744"/>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Học phần Chính sách và Quản trị an ninh mạng, Nhóm 14</a:t>
            </a:r>
            <a:endParaRPr lang="en-US" sz="1100" dirty="0"/>
          </a:p>
        </p:txBody>
      </p:sp>
      <p:sp>
        <p:nvSpPr>
          <p:cNvPr id="5" name="Text 3"/>
          <p:cNvSpPr txBox="1"/>
          <p:nvPr/>
        </p:nvSpPr>
        <p:spPr>
          <a:xfrm>
            <a:off x="530352" y="3968496"/>
            <a:ext cx="5760720" cy="237744"/>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Giảng viên: TS. Nguyễn Đức Toàn, TS. Lê Xuân Thành</a:t>
            </a:r>
            <a:endParaRPr lang="en-US" sz="1100" dirty="0"/>
          </a:p>
        </p:txBody>
      </p:sp>
      <p:sp>
        <p:nvSpPr>
          <p:cNvPr id="6" name="Text 4"/>
          <p:cNvSpPr txBox="1"/>
          <p:nvPr/>
        </p:nvSpPr>
        <p:spPr>
          <a:xfrm>
            <a:off x="530352" y="4434840"/>
            <a:ext cx="2011680" cy="237744"/>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Trần Minh Vương</a:t>
            </a:r>
            <a:endParaRPr lang="en-US" sz="1200" dirty="0"/>
          </a:p>
        </p:txBody>
      </p:sp>
      <p:sp>
        <p:nvSpPr>
          <p:cNvPr id="7" name="Text 5"/>
          <p:cNvSpPr txBox="1"/>
          <p:nvPr/>
        </p:nvSpPr>
        <p:spPr>
          <a:xfrm>
            <a:off x="2514600" y="4434840"/>
            <a:ext cx="1188720" cy="237744"/>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 20252023M</a:t>
            </a:r>
            <a:endParaRPr lang="en-US" sz="1200" dirty="0"/>
          </a:p>
        </p:txBody>
      </p:sp>
      <p:sp>
        <p:nvSpPr>
          <p:cNvPr id="8" name="Text 6"/>
          <p:cNvSpPr txBox="1"/>
          <p:nvPr/>
        </p:nvSpPr>
        <p:spPr>
          <a:xfrm>
            <a:off x="530352" y="4727448"/>
            <a:ext cx="2011680" cy="237744"/>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Vũ Thành Huy</a:t>
            </a:r>
            <a:endParaRPr lang="en-US" sz="1200" dirty="0"/>
          </a:p>
        </p:txBody>
      </p:sp>
      <p:sp>
        <p:nvSpPr>
          <p:cNvPr id="9" name="Text 7"/>
          <p:cNvSpPr txBox="1"/>
          <p:nvPr/>
        </p:nvSpPr>
        <p:spPr>
          <a:xfrm>
            <a:off x="2514600" y="4727448"/>
            <a:ext cx="1188720" cy="237744"/>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 20252033M</a:t>
            </a:r>
            <a:endParaRPr lang="en-US" sz="1200" dirty="0"/>
          </a:p>
        </p:txBody>
      </p:sp>
      <p:sp>
        <p:nvSpPr>
          <p:cNvPr id="10" name="Text 8"/>
          <p:cNvSpPr txBox="1"/>
          <p:nvPr/>
        </p:nvSpPr>
        <p:spPr>
          <a:xfrm>
            <a:off x="530352" y="5020056"/>
            <a:ext cx="2011680" cy="237744"/>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Nguyễn Hoà Khiêm</a:t>
            </a:r>
            <a:endParaRPr lang="en-US" sz="1200" dirty="0"/>
          </a:p>
        </p:txBody>
      </p:sp>
      <p:sp>
        <p:nvSpPr>
          <p:cNvPr id="11" name="Text 9"/>
          <p:cNvSpPr txBox="1"/>
          <p:nvPr/>
        </p:nvSpPr>
        <p:spPr>
          <a:xfrm>
            <a:off x="2514600" y="5020056"/>
            <a:ext cx="1188720" cy="237744"/>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 20252031M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Ngưỡng CVSS 8,0 vá thừa và bỏ sót; công thức S dồn nguồn lực đúng chỗ hơn</a:t>
            </a:r>
            <a:endParaRPr lang="en-US" sz="1800" dirty="0"/>
          </a:p>
        </p:txBody>
      </p:sp>
      <p:sp>
        <p:nvSpPr>
          <p:cNvPr id="3" name="Shape 1"/>
          <p:cNvSpPr/>
          <p:nvPr/>
        </p:nvSpPr>
        <p:spPr>
          <a:xfrm>
            <a:off x="548640" y="1005840"/>
            <a:ext cx="251460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4" name="Text 2"/>
          <p:cNvSpPr txBox="1"/>
          <p:nvPr/>
        </p:nvSpPr>
        <p:spPr>
          <a:xfrm>
            <a:off x="749808" y="1143000"/>
            <a:ext cx="214884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98,69%</a:t>
            </a:r>
            <a:endParaRPr lang="en-US" sz="3000" dirty="0"/>
          </a:p>
        </p:txBody>
      </p:sp>
      <p:sp>
        <p:nvSpPr>
          <p:cNvPr id="5" name="Text 3"/>
          <p:cNvSpPr txBox="1"/>
          <p:nvPr/>
        </p:nvSpPr>
        <p:spPr>
          <a:xfrm>
            <a:off x="749808" y="1673352"/>
            <a:ext cx="214884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phải vá trong 48 giờ chưa từng bị khai thác (65.845 / 66.722)</a:t>
            </a:r>
            <a:endParaRPr lang="en-US" sz="1100" dirty="0"/>
          </a:p>
        </p:txBody>
      </p:sp>
      <p:sp>
        <p:nvSpPr>
          <p:cNvPr id="6" name="Shape 4"/>
          <p:cNvSpPr/>
          <p:nvPr/>
        </p:nvSpPr>
        <p:spPr>
          <a:xfrm>
            <a:off x="3337560" y="1005840"/>
            <a:ext cx="251460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7" name="Text 5"/>
          <p:cNvSpPr txBox="1"/>
          <p:nvPr/>
        </p:nvSpPr>
        <p:spPr>
          <a:xfrm>
            <a:off x="3538728" y="1143000"/>
            <a:ext cx="214884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44,14%</a:t>
            </a:r>
            <a:endParaRPr lang="en-US" sz="3000" dirty="0"/>
          </a:p>
        </p:txBody>
      </p:sp>
      <p:sp>
        <p:nvSpPr>
          <p:cNvPr id="8" name="Text 6"/>
          <p:cNvSpPr txBox="1"/>
          <p:nvPr/>
        </p:nvSpPr>
        <p:spPr>
          <a:xfrm>
            <a:off x="3538728" y="1673352"/>
            <a:ext cx="214884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đã bị khai thác bị bỏ qua vì CVSS dưới 8,0 (693 / 1.570)</a:t>
            </a:r>
            <a:endParaRPr lang="en-US" sz="1100" dirty="0"/>
          </a:p>
        </p:txBody>
      </p:sp>
      <p:sp>
        <p:nvSpPr>
          <p:cNvPr id="9" name="Shape 7"/>
          <p:cNvSpPr/>
          <p:nvPr/>
        </p:nvSpPr>
        <p:spPr>
          <a:xfrm>
            <a:off x="6126480" y="1005840"/>
            <a:ext cx="251460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0" name="Text 8"/>
          <p:cNvSpPr txBox="1"/>
          <p:nvPr/>
        </p:nvSpPr>
        <p:spPr>
          <a:xfrm>
            <a:off x="6327648" y="1143000"/>
            <a:ext cx="214884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28 lần</a:t>
            </a:r>
            <a:endParaRPr lang="en-US" sz="3000" dirty="0"/>
          </a:p>
        </p:txBody>
      </p:sp>
      <p:sp>
        <p:nvSpPr>
          <p:cNvPr id="11" name="Text 9"/>
          <p:cNvSpPr txBox="1"/>
          <p:nvPr/>
        </p:nvSpPr>
        <p:spPr>
          <a:xfrm>
            <a:off x="6327648" y="1673352"/>
            <a:ext cx="214884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mức S từ 70 có tỷ lệ bị khai thác cao gấp khoảng 28 lần trung bình</a:t>
            </a:r>
            <a:endParaRPr lang="en-US" sz="1100" dirty="0"/>
          </a:p>
        </p:txBody>
      </p:sp>
      <p:sp>
        <p:nvSpPr>
          <p:cNvPr id="12" name="Shape 10"/>
          <p:cNvSpPr/>
          <p:nvPr/>
        </p:nvSpPr>
        <p:spPr>
          <a:xfrm>
            <a:off x="548640" y="2788920"/>
            <a:ext cx="8092440" cy="3246120"/>
          </a:xfrm>
          <a:prstGeom prst="roundRect">
            <a:avLst>
              <a:gd name="adj" fmla="val 281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3" name="Shape 11"/>
          <p:cNvSpPr/>
          <p:nvPr/>
        </p:nvSpPr>
        <p:spPr>
          <a:xfrm>
            <a:off x="777240" y="3017520"/>
            <a:ext cx="365760" cy="365760"/>
          </a:xfrm>
          <a:prstGeom prst="ellipse">
            <a:avLst/>
          </a:prstGeom>
          <a:solidFill>
            <a:srgbClr val="C02034"/>
          </a:solidFill>
          <a:ln w="12700">
            <a:solidFill>
              <a:srgbClr val="C02034"/>
            </a:solidFill>
            <a:prstDash val="solid"/>
          </a:ln>
        </p:spPr>
      </p:sp>
      <p:sp>
        <p:nvSpPr>
          <p:cNvPr id="14" name="Text 12"/>
          <p:cNvSpPr/>
          <p:nvPr/>
        </p:nvSpPr>
        <p:spPr>
          <a:xfrm>
            <a:off x="777240" y="3017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3"/>
          <p:cNvSpPr txBox="1"/>
          <p:nvPr/>
        </p:nvSpPr>
        <p:spPr>
          <a:xfrm>
            <a:off x="1280160" y="3035808"/>
            <a:ext cx="1371600" cy="365760"/>
          </a:xfrm>
          <a:prstGeom prst="rect">
            <a:avLst/>
          </a:prstGeom>
          <a:noFill/>
          <a:ln/>
        </p:spPr>
        <p:txBody>
          <a:bodyPr wrap="square" lIns="0" tIns="0" rIns="0" bIns="0" rtlCol="0" anchor="ctr"/>
          <a:lstStyle/>
          <a:p>
            <a:pPr indent="0" marL="0">
              <a:buNone/>
            </a:pPr>
            <a:r>
              <a:rPr lang="en-US" sz="1300" b="1" dirty="0">
                <a:solidFill>
                  <a:srgbClr val="C02034"/>
                </a:solidFill>
                <a:latin typeface="Calibri" pitchFamily="34" charset="0"/>
                <a:ea typeface="Calibri" pitchFamily="34" charset="-122"/>
                <a:cs typeface="Calibri" pitchFamily="34" charset="-120"/>
              </a:rPr>
              <a:t>Đề xuất</a:t>
            </a:r>
            <a:endParaRPr lang="en-US" sz="1300" dirty="0"/>
          </a:p>
        </p:txBody>
      </p:sp>
      <p:sp>
        <p:nvSpPr>
          <p:cNvPr id="16" name="Text 14"/>
          <p:cNvSpPr txBox="1"/>
          <p:nvPr/>
        </p:nvSpPr>
        <p:spPr>
          <a:xfrm>
            <a:off x="2651760" y="2971800"/>
            <a:ext cx="5806440" cy="5486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Điểm S kết hợp CVSS, EPSS, KEV, hai biến của BOD 26-04 (tự động hóa, phơi ra Internet) và mức quan trọng tài sản</a:t>
            </a:r>
            <a:endParaRPr lang="en-US" sz="1250" dirty="0"/>
          </a:p>
        </p:txBody>
      </p:sp>
      <p:sp>
        <p:nvSpPr>
          <p:cNvPr id="17" name="Shape 15"/>
          <p:cNvSpPr/>
          <p:nvPr/>
        </p:nvSpPr>
        <p:spPr>
          <a:xfrm>
            <a:off x="777240" y="3749040"/>
            <a:ext cx="365760" cy="365760"/>
          </a:xfrm>
          <a:prstGeom prst="ellipse">
            <a:avLst/>
          </a:prstGeom>
          <a:solidFill>
            <a:srgbClr val="C02034"/>
          </a:solidFill>
          <a:ln w="12700">
            <a:solidFill>
              <a:srgbClr val="C02034"/>
            </a:solidFill>
            <a:prstDash val="solid"/>
          </a:ln>
        </p:spPr>
      </p:sp>
      <p:sp>
        <p:nvSpPr>
          <p:cNvPr id="18" name="Text 16"/>
          <p:cNvSpPr/>
          <p:nvPr/>
        </p:nvSpPr>
        <p:spPr>
          <a:xfrm>
            <a:off x="777240" y="3749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9" name="Text 17"/>
          <p:cNvSpPr txBox="1"/>
          <p:nvPr/>
        </p:nvSpPr>
        <p:spPr>
          <a:xfrm>
            <a:off x="1280160" y="3767328"/>
            <a:ext cx="1371600" cy="365760"/>
          </a:xfrm>
          <a:prstGeom prst="rect">
            <a:avLst/>
          </a:prstGeom>
          <a:noFill/>
          <a:ln/>
        </p:spPr>
        <p:txBody>
          <a:bodyPr wrap="square" lIns="0" tIns="0" rIns="0" bIns="0" rtlCol="0" anchor="ctr"/>
          <a:lstStyle/>
          <a:p>
            <a:pPr indent="0" marL="0">
              <a:buNone/>
            </a:pPr>
            <a:r>
              <a:rPr lang="en-US" sz="1300" b="1" dirty="0">
                <a:solidFill>
                  <a:srgbClr val="C02034"/>
                </a:solidFill>
                <a:latin typeface="Calibri" pitchFamily="34" charset="0"/>
                <a:ea typeface="Calibri" pitchFamily="34" charset="-122"/>
                <a:cs typeface="Calibri" pitchFamily="34" charset="-120"/>
              </a:rPr>
              <a:t>Kiểm chứng</a:t>
            </a:r>
            <a:endParaRPr lang="en-US" sz="1300" dirty="0"/>
          </a:p>
        </p:txBody>
      </p:sp>
      <p:sp>
        <p:nvSpPr>
          <p:cNvPr id="20" name="Text 18"/>
          <p:cNvSpPr txBox="1"/>
          <p:nvPr/>
        </p:nvSpPr>
        <p:spPr>
          <a:xfrm>
            <a:off x="2651760" y="3703320"/>
            <a:ext cx="5806440" cy="5486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Kiểm thử ngược tại 11 ngày đánh giá, chỉ dùng thông tin có tại ngày đó</a:t>
            </a:r>
            <a:endParaRPr lang="en-US" sz="1250" dirty="0"/>
          </a:p>
        </p:txBody>
      </p:sp>
      <p:sp>
        <p:nvSpPr>
          <p:cNvPr id="21" name="Shape 19"/>
          <p:cNvSpPr/>
          <p:nvPr/>
        </p:nvSpPr>
        <p:spPr>
          <a:xfrm>
            <a:off x="777240" y="4480560"/>
            <a:ext cx="365760" cy="365760"/>
          </a:xfrm>
          <a:prstGeom prst="ellipse">
            <a:avLst/>
          </a:prstGeom>
          <a:solidFill>
            <a:srgbClr val="C02034"/>
          </a:solidFill>
          <a:ln w="12700">
            <a:solidFill>
              <a:srgbClr val="C02034"/>
            </a:solidFill>
            <a:prstDash val="solid"/>
          </a:ln>
        </p:spPr>
      </p:sp>
      <p:sp>
        <p:nvSpPr>
          <p:cNvPr id="22" name="Text 20"/>
          <p:cNvSpPr/>
          <p:nvPr/>
        </p:nvSpPr>
        <p:spPr>
          <a:xfrm>
            <a:off x="777240" y="44805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1280160" y="4498848"/>
            <a:ext cx="1371600" cy="365760"/>
          </a:xfrm>
          <a:prstGeom prst="rect">
            <a:avLst/>
          </a:prstGeom>
          <a:noFill/>
          <a:ln/>
        </p:spPr>
        <p:txBody>
          <a:bodyPr wrap="square" lIns="0" tIns="0" rIns="0" bIns="0" rtlCol="0" anchor="ctr"/>
          <a:lstStyle/>
          <a:p>
            <a:pPr indent="0" marL="0">
              <a:buNone/>
            </a:pPr>
            <a:r>
              <a:rPr lang="en-US" sz="1300" b="1" dirty="0">
                <a:solidFill>
                  <a:srgbClr val="C02034"/>
                </a:solidFill>
                <a:latin typeface="Calibri" pitchFamily="34" charset="0"/>
                <a:ea typeface="Calibri" pitchFamily="34" charset="-122"/>
                <a:cs typeface="Calibri" pitchFamily="34" charset="-120"/>
              </a:rPr>
              <a:t>Kết quả</a:t>
            </a:r>
            <a:endParaRPr lang="en-US" sz="1300" dirty="0"/>
          </a:p>
        </p:txBody>
      </p:sp>
      <p:sp>
        <p:nvSpPr>
          <p:cNvPr id="24" name="Text 22"/>
          <p:cNvSpPr txBox="1"/>
          <p:nvPr/>
        </p:nvSpPr>
        <p:spPr>
          <a:xfrm>
            <a:off x="2651760" y="4434840"/>
            <a:ext cx="5806440" cy="5486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Khi vá ít, S bắt được nhiều gấp 2,7 đến 8,9 lần xếp theo CVSS; ngang EPSS dùng riêng</a:t>
            </a:r>
            <a:endParaRPr lang="en-US" sz="1250" dirty="0"/>
          </a:p>
        </p:txBody>
      </p:sp>
      <p:sp>
        <p:nvSpPr>
          <p:cNvPr id="25" name="Shape 23"/>
          <p:cNvSpPr/>
          <p:nvPr/>
        </p:nvSpPr>
        <p:spPr>
          <a:xfrm>
            <a:off x="777240" y="5212080"/>
            <a:ext cx="365760" cy="365760"/>
          </a:xfrm>
          <a:prstGeom prst="ellipse">
            <a:avLst/>
          </a:prstGeom>
          <a:solidFill>
            <a:srgbClr val="C02034"/>
          </a:solidFill>
          <a:ln w="12700">
            <a:solidFill>
              <a:srgbClr val="C02034"/>
            </a:solidFill>
            <a:prstDash val="solid"/>
          </a:ln>
        </p:spPr>
      </p:sp>
      <p:sp>
        <p:nvSpPr>
          <p:cNvPr id="26" name="Text 24"/>
          <p:cNvSpPr/>
          <p:nvPr/>
        </p:nvSpPr>
        <p:spPr>
          <a:xfrm>
            <a:off x="777240" y="52120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1280160" y="5230368"/>
            <a:ext cx="1371600" cy="365760"/>
          </a:xfrm>
          <a:prstGeom prst="rect">
            <a:avLst/>
          </a:prstGeom>
          <a:noFill/>
          <a:ln/>
        </p:spPr>
        <p:txBody>
          <a:bodyPr wrap="square" lIns="0" tIns="0" rIns="0" bIns="0" rtlCol="0" anchor="ctr"/>
          <a:lstStyle/>
          <a:p>
            <a:pPr indent="0" marL="0">
              <a:buNone/>
            </a:pPr>
            <a:r>
              <a:rPr lang="en-US" sz="1300" b="1" dirty="0">
                <a:solidFill>
                  <a:srgbClr val="C02034"/>
                </a:solidFill>
                <a:latin typeface="Calibri" pitchFamily="34" charset="0"/>
                <a:ea typeface="Calibri" pitchFamily="34" charset="-122"/>
                <a:cs typeface="Calibri" pitchFamily="34" charset="-120"/>
              </a:rPr>
              <a:t>Giới hạn</a:t>
            </a:r>
            <a:endParaRPr lang="en-US" sz="1300" dirty="0"/>
          </a:p>
        </p:txBody>
      </p:sp>
      <p:sp>
        <p:nvSpPr>
          <p:cNvPr id="28" name="Text 26"/>
          <p:cNvSpPr txBox="1"/>
          <p:nvPr/>
        </p:nvSpPr>
        <p:spPr>
          <a:xfrm>
            <a:off x="2651760" y="5166360"/>
            <a:ext cx="5806440" cy="5486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Chưa cảnh báo trước được lỗ hổng mới công bố; hệ số tài sản chưa kiểm chứng được</a:t>
            </a:r>
            <a:endParaRPr lang="en-US" sz="12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LLM rút ngắn thời gian khai thác, nên CSA đề xuất vá trong 48 giờ theo CVSS</a:t>
            </a:r>
            <a:endParaRPr lang="en-US" sz="1800" dirty="0"/>
          </a:p>
        </p:txBody>
      </p:sp>
      <p:sp>
        <p:nvSpPr>
          <p:cNvPr id="3" name="Text 1"/>
          <p:cNvSpPr txBox="1"/>
          <p:nvPr/>
        </p:nvSpPr>
        <p:spPr>
          <a:xfrm>
            <a:off x="548640" y="960120"/>
            <a:ext cx="420624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BẰNG CHỨNG BÀI BÁO CSA DẪN</a:t>
            </a:r>
            <a:endParaRPr lang="en-US" sz="1000" dirty="0"/>
          </a:p>
        </p:txBody>
      </p:sp>
      <p:sp>
        <p:nvSpPr>
          <p:cNvPr id="4" name="Shape 2"/>
          <p:cNvSpPr/>
          <p:nvPr/>
        </p:nvSpPr>
        <p:spPr>
          <a:xfrm>
            <a:off x="548640" y="1280160"/>
            <a:ext cx="4206240" cy="868680"/>
          </a:xfrm>
          <a:prstGeom prst="roundRect">
            <a:avLst>
              <a:gd name="adj" fmla="val 10526"/>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5" name="Text 3"/>
          <p:cNvSpPr txBox="1"/>
          <p:nvPr/>
        </p:nvSpPr>
        <p:spPr>
          <a:xfrm>
            <a:off x="731520" y="1389888"/>
            <a:ext cx="1234440" cy="640080"/>
          </a:xfrm>
          <a:prstGeom prst="rect">
            <a:avLst/>
          </a:prstGeom>
          <a:noFill/>
          <a:ln/>
        </p:spPr>
        <p:txBody>
          <a:bodyPr wrap="square" lIns="0" tIns="0" rIns="0" bIns="0" rtlCol="0" anchor="ctr"/>
          <a:lstStyle/>
          <a:p>
            <a:pPr indent="0" marL="0">
              <a:buNone/>
            </a:pPr>
            <a:r>
              <a:rPr lang="en-US" sz="2000" b="1" dirty="0">
                <a:solidFill>
                  <a:srgbClr val="C02034"/>
                </a:solidFill>
                <a:latin typeface="Calibri" pitchFamily="34" charset="0"/>
                <a:ea typeface="Calibri" pitchFamily="34" charset="-122"/>
                <a:cs typeface="Calibri" pitchFamily="34" charset="-120"/>
              </a:rPr>
              <a:t>87% và 7%</a:t>
            </a:r>
            <a:endParaRPr lang="en-US" sz="2000" dirty="0"/>
          </a:p>
        </p:txBody>
      </p:sp>
      <p:sp>
        <p:nvSpPr>
          <p:cNvPr id="6" name="Text 4"/>
          <p:cNvSpPr txBox="1"/>
          <p:nvPr/>
        </p:nvSpPr>
        <p:spPr>
          <a:xfrm>
            <a:off x="2011680" y="1371600"/>
            <a:ext cx="2606040" cy="68580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GPT-4 khai thác 87% trong 15 lỗ hổng một ngày khi có mô tả CVE, chỉ 7% khi không có</a:t>
            </a:r>
            <a:endParaRPr lang="en-US" sz="1150" dirty="0"/>
          </a:p>
        </p:txBody>
      </p:sp>
      <p:sp>
        <p:nvSpPr>
          <p:cNvPr id="7" name="Shape 5"/>
          <p:cNvSpPr/>
          <p:nvPr/>
        </p:nvSpPr>
        <p:spPr>
          <a:xfrm>
            <a:off x="548640" y="2286000"/>
            <a:ext cx="4206240" cy="868680"/>
          </a:xfrm>
          <a:prstGeom prst="roundRect">
            <a:avLst>
              <a:gd name="adj" fmla="val 10526"/>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8" name="Text 6"/>
          <p:cNvSpPr txBox="1"/>
          <p:nvPr/>
        </p:nvSpPr>
        <p:spPr>
          <a:xfrm>
            <a:off x="731520" y="2395728"/>
            <a:ext cx="1234440" cy="640080"/>
          </a:xfrm>
          <a:prstGeom prst="rect">
            <a:avLst/>
          </a:prstGeom>
          <a:noFill/>
          <a:ln/>
        </p:spPr>
        <p:txBody>
          <a:bodyPr wrap="square" lIns="0" tIns="0" rIns="0" bIns="0" rtlCol="0" anchor="ctr"/>
          <a:lstStyle/>
          <a:p>
            <a:pPr indent="0" marL="0">
              <a:buNone/>
            </a:pPr>
            <a:r>
              <a:rPr lang="en-US" sz="2000" b="1" dirty="0">
                <a:solidFill>
                  <a:srgbClr val="C02034"/>
                </a:solidFill>
                <a:latin typeface="Calibri" pitchFamily="34" charset="0"/>
                <a:ea typeface="Calibri" pitchFamily="34" charset="-122"/>
                <a:cs typeface="Calibri" pitchFamily="34" charset="-120"/>
              </a:rPr>
              <a:t>86%</a:t>
            </a:r>
            <a:endParaRPr lang="en-US" sz="2000" dirty="0"/>
          </a:p>
        </p:txBody>
      </p:sp>
      <p:sp>
        <p:nvSpPr>
          <p:cNvPr id="9" name="Text 7"/>
          <p:cNvSpPr txBox="1"/>
          <p:nvPr/>
        </p:nvSpPr>
        <p:spPr>
          <a:xfrm>
            <a:off x="2011680" y="2377440"/>
            <a:ext cx="2606040" cy="68580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Hệ thống tại DARPA AIxCC 2025 tìm ra 86% lỗ hổng tổng hợp và 18 lỗ hổng thật</a:t>
            </a:r>
            <a:endParaRPr lang="en-US" sz="1150" dirty="0"/>
          </a:p>
        </p:txBody>
      </p:sp>
      <p:sp>
        <p:nvSpPr>
          <p:cNvPr id="10" name="Shape 8"/>
          <p:cNvSpPr/>
          <p:nvPr/>
        </p:nvSpPr>
        <p:spPr>
          <a:xfrm>
            <a:off x="548640" y="3291840"/>
            <a:ext cx="4206240" cy="868680"/>
          </a:xfrm>
          <a:prstGeom prst="roundRect">
            <a:avLst>
              <a:gd name="adj" fmla="val 10526"/>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1" name="Text 9"/>
          <p:cNvSpPr txBox="1"/>
          <p:nvPr/>
        </p:nvSpPr>
        <p:spPr>
          <a:xfrm>
            <a:off x="731520" y="3401568"/>
            <a:ext cx="1234440" cy="640080"/>
          </a:xfrm>
          <a:prstGeom prst="rect">
            <a:avLst/>
          </a:prstGeom>
          <a:noFill/>
          <a:ln/>
        </p:spPr>
        <p:txBody>
          <a:bodyPr wrap="square" lIns="0" tIns="0" rIns="0" bIns="0" rtlCol="0" anchor="ctr"/>
          <a:lstStyle/>
          <a:p>
            <a:pPr indent="0" marL="0">
              <a:buNone/>
            </a:pPr>
            <a:r>
              <a:rPr lang="en-US" sz="2000" b="1" dirty="0">
                <a:solidFill>
                  <a:srgbClr val="C02034"/>
                </a:solidFill>
                <a:latin typeface="Calibri" pitchFamily="34" charset="0"/>
                <a:ea typeface="Calibri" pitchFamily="34" charset="-122"/>
                <a:cs typeface="Calibri" pitchFamily="34" charset="-120"/>
              </a:rPr>
              <a:t>37 / 40</a:t>
            </a:r>
            <a:endParaRPr lang="en-US" sz="2000" dirty="0"/>
          </a:p>
        </p:txBody>
      </p:sp>
      <p:sp>
        <p:nvSpPr>
          <p:cNvPr id="12" name="Text 10"/>
          <p:cNvSpPr txBox="1"/>
          <p:nvPr/>
        </p:nvSpPr>
        <p:spPr>
          <a:xfrm>
            <a:off x="2011680" y="3383280"/>
            <a:ext cx="2606040" cy="68580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Incalmo tự động chiếm tài sản quan trọng ở 37 trên 40 môi trường mô phỏng</a:t>
            </a:r>
            <a:endParaRPr lang="en-US" sz="1150" dirty="0"/>
          </a:p>
        </p:txBody>
      </p:sp>
      <p:sp>
        <p:nvSpPr>
          <p:cNvPr id="13" name="Shape 11"/>
          <p:cNvSpPr/>
          <p:nvPr/>
        </p:nvSpPr>
        <p:spPr>
          <a:xfrm>
            <a:off x="5029200" y="1280160"/>
            <a:ext cx="3611880" cy="2880360"/>
          </a:xfrm>
          <a:prstGeom prst="roundRect">
            <a:avLst>
              <a:gd name="adj" fmla="val 3175"/>
            </a:avLst>
          </a:prstGeom>
          <a:solidFill>
            <a:srgbClr val="FDECEE"/>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4" name="Text 12"/>
          <p:cNvSpPr txBox="1"/>
          <p:nvPr/>
        </p:nvSpPr>
        <p:spPr>
          <a:xfrm>
            <a:off x="5257800" y="1463040"/>
            <a:ext cx="3200400" cy="237744"/>
          </a:xfrm>
          <a:prstGeom prst="rect">
            <a:avLst/>
          </a:prstGeom>
          <a:noFill/>
          <a:ln/>
        </p:spPr>
        <p:txBody>
          <a:bodyPr wrap="square" lIns="0" tIns="0" rIns="0" bIns="0" rtlCol="0" anchor="ctr"/>
          <a:lstStyle/>
          <a:p>
            <a:pPr indent="0" marL="0">
              <a:buNone/>
            </a:pPr>
            <a:r>
              <a:rPr lang="en-US" sz="1000" b="1" spc="100" kern="0" dirty="0">
                <a:solidFill>
                  <a:srgbClr val="C02034"/>
                </a:solidFill>
                <a:latin typeface="Calibri" pitchFamily="34" charset="0"/>
                <a:ea typeface="Calibri" pitchFamily="34" charset="-122"/>
                <a:cs typeface="Calibri" pitchFamily="34" charset="-120"/>
              </a:rPr>
              <a:t>KHUYẾN NGHỊ CẦN KIỂM CHỨNG</a:t>
            </a:r>
            <a:endParaRPr lang="en-US" sz="1000" dirty="0"/>
          </a:p>
        </p:txBody>
      </p:sp>
      <p:sp>
        <p:nvSpPr>
          <p:cNvPr id="15" name="Text 13"/>
          <p:cNvSpPr txBox="1"/>
          <p:nvPr/>
        </p:nvSpPr>
        <p:spPr>
          <a:xfrm>
            <a:off x="5257800" y="1828800"/>
            <a:ext cx="3200400" cy="128016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CVE có CVSS trên 8,0 ảnh hưởng tới hệ thống phơi ra Internet phải được vá trong vòng 48 giờ</a:t>
            </a:r>
            <a:endParaRPr lang="en-US" sz="1600" dirty="0"/>
          </a:p>
        </p:txBody>
      </p:sp>
      <p:sp>
        <p:nvSpPr>
          <p:cNvPr id="16" name="Text 14"/>
          <p:cNvSpPr txBox="1"/>
          <p:nvPr/>
        </p:nvSpPr>
        <p:spPr>
          <a:xfrm>
            <a:off x="5257800" y="3291840"/>
            <a:ext cx="3200400" cy="685800"/>
          </a:xfrm>
          <a:prstGeom prst="rect">
            <a:avLst/>
          </a:prstGeom>
          <a:noFill/>
          <a:ln/>
        </p:spPr>
        <p:txBody>
          <a:bodyPr wrap="square" lIns="0" tIns="0" rIns="0" bIns="0" rtlCol="0" anchor="t"/>
          <a:lstStyle/>
          <a:p>
            <a:pPr indent="0" marL="0">
              <a:buNone/>
            </a:pPr>
            <a:r>
              <a:rPr lang="en-US" sz="1000" dirty="0">
                <a:solidFill>
                  <a:srgbClr val="64748B"/>
                </a:solidFill>
                <a:latin typeface="Calibri" pitchFamily="34" charset="0"/>
                <a:ea typeface="Calibri" pitchFamily="34" charset="-122"/>
                <a:cs typeface="Calibri" pitchFamily="34" charset="-120"/>
              </a:rPr>
              <a:t>Nguồn: CSA, Automated Exploit Generation: LLMs Cross the Threshold, 02/04/2026, trang 14</a:t>
            </a:r>
            <a:endParaRPr lang="en-US" sz="1000" dirty="0"/>
          </a:p>
        </p:txBody>
      </p:sp>
      <p:sp>
        <p:nvSpPr>
          <p:cNvPr id="17" name="Shape 15"/>
          <p:cNvSpPr/>
          <p:nvPr/>
        </p:nvSpPr>
        <p:spPr>
          <a:xfrm>
            <a:off x="548640" y="4480560"/>
            <a:ext cx="8092440" cy="1463040"/>
          </a:xfrm>
          <a:prstGeom prst="roundRect">
            <a:avLst>
              <a:gd name="adj" fmla="val 6250"/>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8" name="Text 16"/>
          <p:cNvSpPr txBox="1"/>
          <p:nvPr/>
        </p:nvSpPr>
        <p:spPr>
          <a:xfrm>
            <a:off x="777240" y="4645152"/>
            <a:ext cx="274320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VẤN ĐỀ</a:t>
            </a:r>
            <a:endParaRPr lang="en-US" sz="1000" dirty="0"/>
          </a:p>
        </p:txBody>
      </p:sp>
      <p:sp>
        <p:nvSpPr>
          <p:cNvPr id="19" name="Text 17"/>
          <p:cNvSpPr txBox="1"/>
          <p:nvPr/>
        </p:nvSpPr>
        <p:spPr>
          <a:xfrm>
            <a:off x="777240" y="4937760"/>
            <a:ext cx="7680960" cy="86868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CVSS đo hậu quả nếu bị khai thác, không đo lỗ hổng có đang bị khai thác hay không. Một ngưỡng CVSS cố định có thể vá sai chỗ: đây là điều nhóm kiểm chứng trên dữ liệu thật.</a:t>
            </a:r>
            <a:endParaRPr lang="en-US" sz="13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Nhóm kiểm chứng trên 240.409 lỗ hổng bằng ba nguồn dữ liệu công khai</a:t>
            </a:r>
            <a:endParaRPr lang="en-US" sz="1800" dirty="0"/>
          </a:p>
        </p:txBody>
      </p:sp>
      <p:sp>
        <p:nvSpPr>
          <p:cNvPr id="3" name="Text 1"/>
          <p:cNvSpPr txBox="1"/>
          <p:nvPr/>
        </p:nvSpPr>
        <p:spPr>
          <a:xfrm>
            <a:off x="548640" y="960120"/>
            <a:ext cx="39319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NGUỒN DỮ LIỆU</a:t>
            </a:r>
            <a:endParaRPr lang="en-US" sz="1000" dirty="0"/>
          </a:p>
        </p:txBody>
      </p:sp>
      <p:sp>
        <p:nvSpPr>
          <p:cNvPr id="4" name="Shape 2"/>
          <p:cNvSpPr/>
          <p:nvPr/>
        </p:nvSpPr>
        <p:spPr>
          <a:xfrm>
            <a:off x="548640" y="1280160"/>
            <a:ext cx="3931920" cy="1325880"/>
          </a:xfrm>
          <a:prstGeom prst="roundRect">
            <a:avLst>
              <a:gd name="adj" fmla="val 689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5" name="Shape 3"/>
          <p:cNvSpPr/>
          <p:nvPr/>
        </p:nvSpPr>
        <p:spPr>
          <a:xfrm>
            <a:off x="731520" y="1508760"/>
            <a:ext cx="502920" cy="502920"/>
          </a:xfrm>
          <a:prstGeom prst="ellipse">
            <a:avLst/>
          </a:prstGeom>
          <a:solidFill>
            <a:srgbClr val="FDECEE"/>
          </a:solidFill>
          <a:ln w="12700">
            <a:solidFill>
              <a:srgbClr val="FDECEE"/>
            </a:solidFill>
            <a:prstDash val="solid"/>
          </a:ln>
        </p:spPr>
      </p:sp>
      <p:pic>
        <p:nvPicPr>
          <p:cNvPr id="6" name="Image 0" descr="preencoded.png">    </p:cNvPr>
          <p:cNvPicPr>
            <a:picLocks noChangeAspect="1"/>
          </p:cNvPicPr>
          <p:nvPr/>
        </p:nvPicPr>
        <p:blipFill>
          <a:blip r:embed="rId1"/>
          <a:stretch>
            <a:fillRect/>
          </a:stretch>
        </p:blipFill>
        <p:spPr>
          <a:xfrm>
            <a:off x="842162" y="1619402"/>
            <a:ext cx="281635" cy="281635"/>
          </a:xfrm>
          <a:prstGeom prst="rect">
            <a:avLst/>
          </a:prstGeom>
        </p:spPr>
      </p:pic>
      <p:sp>
        <p:nvSpPr>
          <p:cNvPr id="7" name="Text 4"/>
          <p:cNvSpPr txBox="1"/>
          <p:nvPr/>
        </p:nvSpPr>
        <p:spPr>
          <a:xfrm>
            <a:off x="1417320" y="1463040"/>
            <a:ext cx="2926080" cy="320040"/>
          </a:xfrm>
          <a:prstGeom prst="rect">
            <a:avLst/>
          </a:prstGeom>
          <a:noFill/>
          <a:ln/>
        </p:spPr>
        <p:txBody>
          <a:bodyPr wrap="square" lIns="0" tIns="0" rIns="0" bIns="0" rtlCol="0" anchor="t"/>
          <a:lstStyle/>
          <a:p>
            <a:pPr indent="0" marL="0">
              <a:buNone/>
            </a:pPr>
            <a:r>
              <a:rPr lang="en-US" sz="1400" b="1" dirty="0">
                <a:solidFill>
                  <a:srgbClr val="C02034"/>
                </a:solidFill>
                <a:latin typeface="Calibri" pitchFamily="34" charset="0"/>
                <a:ea typeface="Calibri" pitchFamily="34" charset="-122"/>
                <a:cs typeface="Calibri" pitchFamily="34" charset="-120"/>
              </a:rPr>
              <a:t>NVD (NIST)</a:t>
            </a:r>
            <a:endParaRPr lang="en-US" sz="1400" dirty="0"/>
          </a:p>
        </p:txBody>
      </p:sp>
      <p:sp>
        <p:nvSpPr>
          <p:cNvPr id="8" name="Text 5"/>
          <p:cNvSpPr txBox="1"/>
          <p:nvPr/>
        </p:nvSpPr>
        <p:spPr>
          <a:xfrm>
            <a:off x="1417320" y="1810512"/>
            <a:ext cx="2926080" cy="73152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Điểm CVSS 3.x của 240.409 lỗ hổng, mã CVE từ 1999 đến 2025</a:t>
            </a:r>
            <a:endParaRPr lang="en-US" sz="1200" dirty="0"/>
          </a:p>
        </p:txBody>
      </p:sp>
      <p:sp>
        <p:nvSpPr>
          <p:cNvPr id="9" name="Shape 6"/>
          <p:cNvSpPr/>
          <p:nvPr/>
        </p:nvSpPr>
        <p:spPr>
          <a:xfrm>
            <a:off x="548640" y="2788920"/>
            <a:ext cx="3931920" cy="1325880"/>
          </a:xfrm>
          <a:prstGeom prst="roundRect">
            <a:avLst>
              <a:gd name="adj" fmla="val 689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0" name="Shape 7"/>
          <p:cNvSpPr/>
          <p:nvPr/>
        </p:nvSpPr>
        <p:spPr>
          <a:xfrm>
            <a:off x="731520" y="3017520"/>
            <a:ext cx="502920" cy="502920"/>
          </a:xfrm>
          <a:prstGeom prst="ellipse">
            <a:avLst/>
          </a:prstGeom>
          <a:solidFill>
            <a:srgbClr val="FDECEE"/>
          </a:solidFill>
          <a:ln w="12700">
            <a:solidFill>
              <a:srgbClr val="FDECEE"/>
            </a:solidFill>
            <a:prstDash val="solid"/>
          </a:ln>
        </p:spPr>
      </p:sp>
      <p:pic>
        <p:nvPicPr>
          <p:cNvPr id="11" name="Image 1" descr="preencoded.png">    </p:cNvPr>
          <p:cNvPicPr>
            <a:picLocks noChangeAspect="1"/>
          </p:cNvPicPr>
          <p:nvPr/>
        </p:nvPicPr>
        <p:blipFill>
          <a:blip r:embed="rId2"/>
          <a:stretch>
            <a:fillRect/>
          </a:stretch>
        </p:blipFill>
        <p:spPr>
          <a:xfrm>
            <a:off x="842162" y="3128162"/>
            <a:ext cx="281635" cy="281635"/>
          </a:xfrm>
          <a:prstGeom prst="rect">
            <a:avLst/>
          </a:prstGeom>
        </p:spPr>
      </p:pic>
      <p:sp>
        <p:nvSpPr>
          <p:cNvPr id="12" name="Text 8"/>
          <p:cNvSpPr txBox="1"/>
          <p:nvPr/>
        </p:nvSpPr>
        <p:spPr>
          <a:xfrm>
            <a:off x="1417320" y="2971800"/>
            <a:ext cx="2926080" cy="320040"/>
          </a:xfrm>
          <a:prstGeom prst="rect">
            <a:avLst/>
          </a:prstGeom>
          <a:noFill/>
          <a:ln/>
        </p:spPr>
        <p:txBody>
          <a:bodyPr wrap="square" lIns="0" tIns="0" rIns="0" bIns="0" rtlCol="0" anchor="t"/>
          <a:lstStyle/>
          <a:p>
            <a:pPr indent="0" marL="0">
              <a:buNone/>
            </a:pPr>
            <a:r>
              <a:rPr lang="en-US" sz="1400" b="1" dirty="0">
                <a:solidFill>
                  <a:srgbClr val="C02034"/>
                </a:solidFill>
                <a:latin typeface="Calibri" pitchFamily="34" charset="0"/>
                <a:ea typeface="Calibri" pitchFamily="34" charset="-122"/>
                <a:cs typeface="Calibri" pitchFamily="34" charset="-120"/>
              </a:rPr>
              <a:t>CISA KEV</a:t>
            </a:r>
            <a:endParaRPr lang="en-US" sz="1400" dirty="0"/>
          </a:p>
        </p:txBody>
      </p:sp>
      <p:sp>
        <p:nvSpPr>
          <p:cNvPr id="13" name="Text 9"/>
          <p:cNvSpPr txBox="1"/>
          <p:nvPr/>
        </p:nvSpPr>
        <p:spPr>
          <a:xfrm>
            <a:off x="1417320" y="3319272"/>
            <a:ext cx="2926080" cy="73152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1.570 lỗ hổng đã được xác nhận bị khai thác trong phạm vi; phiên bản 2026.10.08</a:t>
            </a:r>
            <a:endParaRPr lang="en-US" sz="1200" dirty="0"/>
          </a:p>
        </p:txBody>
      </p:sp>
      <p:sp>
        <p:nvSpPr>
          <p:cNvPr id="14" name="Shape 10"/>
          <p:cNvSpPr/>
          <p:nvPr/>
        </p:nvSpPr>
        <p:spPr>
          <a:xfrm>
            <a:off x="548640" y="4297680"/>
            <a:ext cx="3931920" cy="1325880"/>
          </a:xfrm>
          <a:prstGeom prst="roundRect">
            <a:avLst>
              <a:gd name="adj" fmla="val 689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5" name="Shape 11"/>
          <p:cNvSpPr/>
          <p:nvPr/>
        </p:nvSpPr>
        <p:spPr>
          <a:xfrm>
            <a:off x="731520" y="4526280"/>
            <a:ext cx="502920" cy="502920"/>
          </a:xfrm>
          <a:prstGeom prst="ellipse">
            <a:avLst/>
          </a:prstGeom>
          <a:solidFill>
            <a:srgbClr val="FDECEE"/>
          </a:solidFill>
          <a:ln w="12700">
            <a:solidFill>
              <a:srgbClr val="FDECEE"/>
            </a:solidFill>
            <a:prstDash val="solid"/>
          </a:ln>
        </p:spPr>
      </p:sp>
      <p:pic>
        <p:nvPicPr>
          <p:cNvPr id="16" name="Image 2" descr="preencoded.png">    </p:cNvPr>
          <p:cNvPicPr>
            <a:picLocks noChangeAspect="1"/>
          </p:cNvPicPr>
          <p:nvPr/>
        </p:nvPicPr>
        <p:blipFill>
          <a:blip r:embed="rId3"/>
          <a:stretch>
            <a:fillRect/>
          </a:stretch>
        </p:blipFill>
        <p:spPr>
          <a:xfrm>
            <a:off x="842162" y="4636922"/>
            <a:ext cx="281635" cy="281635"/>
          </a:xfrm>
          <a:prstGeom prst="rect">
            <a:avLst/>
          </a:prstGeom>
        </p:spPr>
      </p:pic>
      <p:sp>
        <p:nvSpPr>
          <p:cNvPr id="17" name="Text 12"/>
          <p:cNvSpPr txBox="1"/>
          <p:nvPr/>
        </p:nvSpPr>
        <p:spPr>
          <a:xfrm>
            <a:off x="1417320" y="4480560"/>
            <a:ext cx="2926080" cy="320040"/>
          </a:xfrm>
          <a:prstGeom prst="rect">
            <a:avLst/>
          </a:prstGeom>
          <a:noFill/>
          <a:ln/>
        </p:spPr>
        <p:txBody>
          <a:bodyPr wrap="square" lIns="0" tIns="0" rIns="0" bIns="0" rtlCol="0" anchor="t"/>
          <a:lstStyle/>
          <a:p>
            <a:pPr indent="0" marL="0">
              <a:buNone/>
            </a:pPr>
            <a:r>
              <a:rPr lang="en-US" sz="1400" b="1" dirty="0">
                <a:solidFill>
                  <a:srgbClr val="C02034"/>
                </a:solidFill>
                <a:latin typeface="Calibri" pitchFamily="34" charset="0"/>
                <a:ea typeface="Calibri" pitchFamily="34" charset="-122"/>
                <a:cs typeface="Calibri" pitchFamily="34" charset="-120"/>
              </a:rPr>
              <a:t>FIRST EPSS</a:t>
            </a:r>
            <a:endParaRPr lang="en-US" sz="1400" dirty="0"/>
          </a:p>
        </p:txBody>
      </p:sp>
      <p:sp>
        <p:nvSpPr>
          <p:cNvPr id="18" name="Text 13"/>
          <p:cNvSpPr txBox="1"/>
          <p:nvPr/>
        </p:nvSpPr>
        <p:spPr>
          <a:xfrm>
            <a:off x="1417320" y="4828032"/>
            <a:ext cx="2926080" cy="73152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Xác suất bị khai thác trong 30 ngày tới; dùng điểm lịch sử theo từng ngày</a:t>
            </a:r>
            <a:endParaRPr lang="en-US" sz="1200" dirty="0"/>
          </a:p>
        </p:txBody>
      </p:sp>
      <p:sp>
        <p:nvSpPr>
          <p:cNvPr id="19" name="Text 14"/>
          <p:cNvSpPr txBox="1"/>
          <p:nvPr/>
        </p:nvSpPr>
        <p:spPr>
          <a:xfrm>
            <a:off x="4754880" y="960120"/>
            <a:ext cx="384048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BA CÂU HỎI NGHIÊN CỨU</a:t>
            </a:r>
            <a:endParaRPr lang="en-US" sz="1000" dirty="0"/>
          </a:p>
        </p:txBody>
      </p:sp>
      <p:sp>
        <p:nvSpPr>
          <p:cNvPr id="20" name="Shape 15"/>
          <p:cNvSpPr/>
          <p:nvPr/>
        </p:nvSpPr>
        <p:spPr>
          <a:xfrm>
            <a:off x="4754880" y="1280160"/>
            <a:ext cx="3886200" cy="1325880"/>
          </a:xfrm>
          <a:prstGeom prst="roundRect">
            <a:avLst>
              <a:gd name="adj" fmla="val 6897"/>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1" name="Shape 16"/>
          <p:cNvSpPr/>
          <p:nvPr/>
        </p:nvSpPr>
        <p:spPr>
          <a:xfrm>
            <a:off x="4919472" y="1481328"/>
            <a:ext cx="566928" cy="566928"/>
          </a:xfrm>
          <a:prstGeom prst="ellipse">
            <a:avLst/>
          </a:prstGeom>
          <a:solidFill>
            <a:srgbClr val="C02034"/>
          </a:solidFill>
          <a:ln w="12700">
            <a:solidFill>
              <a:srgbClr val="C02034"/>
            </a:solidFill>
            <a:prstDash val="solid"/>
          </a:ln>
        </p:spPr>
      </p:sp>
      <p:sp>
        <p:nvSpPr>
          <p:cNvPr id="22" name="Text 17"/>
          <p:cNvSpPr/>
          <p:nvPr/>
        </p:nvSpPr>
        <p:spPr>
          <a:xfrm>
            <a:off x="4919472" y="1481328"/>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CH1</a:t>
            </a:r>
            <a:endParaRPr lang="en-US" sz="1300" dirty="0"/>
          </a:p>
        </p:txBody>
      </p:sp>
      <p:sp>
        <p:nvSpPr>
          <p:cNvPr id="23" name="Text 18"/>
          <p:cNvSpPr txBox="1"/>
          <p:nvPr/>
        </p:nvSpPr>
        <p:spPr>
          <a:xfrm>
            <a:off x="5623560" y="1444752"/>
            <a:ext cx="288036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Quy tắc CVSS 8,0 vá thừa và bỏ sót bao nhiêu, kể cả khi đọc khuyến nghị sát hơn?</a:t>
            </a:r>
            <a:endParaRPr lang="en-US" sz="1250" dirty="0"/>
          </a:p>
        </p:txBody>
      </p:sp>
      <p:sp>
        <p:nvSpPr>
          <p:cNvPr id="24" name="Shape 19"/>
          <p:cNvSpPr/>
          <p:nvPr/>
        </p:nvSpPr>
        <p:spPr>
          <a:xfrm>
            <a:off x="4754880" y="2788920"/>
            <a:ext cx="3886200" cy="1325880"/>
          </a:xfrm>
          <a:prstGeom prst="roundRect">
            <a:avLst>
              <a:gd name="adj" fmla="val 6897"/>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5" name="Shape 20"/>
          <p:cNvSpPr/>
          <p:nvPr/>
        </p:nvSpPr>
        <p:spPr>
          <a:xfrm>
            <a:off x="4919472" y="2990088"/>
            <a:ext cx="566928" cy="566928"/>
          </a:xfrm>
          <a:prstGeom prst="ellipse">
            <a:avLst/>
          </a:prstGeom>
          <a:solidFill>
            <a:srgbClr val="C02034"/>
          </a:solidFill>
          <a:ln w="12700">
            <a:solidFill>
              <a:srgbClr val="C02034"/>
            </a:solidFill>
            <a:prstDash val="solid"/>
          </a:ln>
        </p:spPr>
      </p:sp>
      <p:sp>
        <p:nvSpPr>
          <p:cNvPr id="26" name="Text 21"/>
          <p:cNvSpPr/>
          <p:nvPr/>
        </p:nvSpPr>
        <p:spPr>
          <a:xfrm>
            <a:off x="4919472" y="2990088"/>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CH2</a:t>
            </a:r>
            <a:endParaRPr lang="en-US" sz="1300" dirty="0"/>
          </a:p>
        </p:txBody>
      </p:sp>
      <p:sp>
        <p:nvSpPr>
          <p:cNvPr id="27" name="Text 22"/>
          <p:cNvSpPr txBox="1"/>
          <p:nvPr/>
        </p:nvSpPr>
        <p:spPr>
          <a:xfrm>
            <a:off x="5623560" y="2953512"/>
            <a:ext cx="288036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Công thức kết hợp CVSS, EPSS, KEV có ưu tiên tốt hơn khi chỉ dùng thông tin có tại thời điểm quyết định?</a:t>
            </a:r>
            <a:endParaRPr lang="en-US" sz="1250" dirty="0"/>
          </a:p>
        </p:txBody>
      </p:sp>
      <p:sp>
        <p:nvSpPr>
          <p:cNvPr id="28" name="Shape 23"/>
          <p:cNvSpPr/>
          <p:nvPr/>
        </p:nvSpPr>
        <p:spPr>
          <a:xfrm>
            <a:off x="4754880" y="4297680"/>
            <a:ext cx="3886200" cy="1325880"/>
          </a:xfrm>
          <a:prstGeom prst="roundRect">
            <a:avLst>
              <a:gd name="adj" fmla="val 6897"/>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9" name="Shape 24"/>
          <p:cNvSpPr/>
          <p:nvPr/>
        </p:nvSpPr>
        <p:spPr>
          <a:xfrm>
            <a:off x="4919472" y="4498848"/>
            <a:ext cx="566928" cy="566928"/>
          </a:xfrm>
          <a:prstGeom prst="ellipse">
            <a:avLst/>
          </a:prstGeom>
          <a:solidFill>
            <a:srgbClr val="C02034"/>
          </a:solidFill>
          <a:ln w="12700">
            <a:solidFill>
              <a:srgbClr val="C02034"/>
            </a:solidFill>
            <a:prstDash val="solid"/>
          </a:ln>
        </p:spPr>
      </p:sp>
      <p:sp>
        <p:nvSpPr>
          <p:cNvPr id="30" name="Text 25"/>
          <p:cNvSpPr/>
          <p:nvPr/>
        </p:nvSpPr>
        <p:spPr>
          <a:xfrm>
            <a:off x="4919472" y="4498848"/>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CH3</a:t>
            </a:r>
            <a:endParaRPr lang="en-US" sz="1300" dirty="0"/>
          </a:p>
        </p:txBody>
      </p:sp>
      <p:sp>
        <p:nvSpPr>
          <p:cNvPr id="31" name="Text 26"/>
          <p:cNvSpPr txBox="1"/>
          <p:nvPr/>
        </p:nvSpPr>
        <p:spPr>
          <a:xfrm>
            <a:off x="5623560" y="4462272"/>
            <a:ext cx="288036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Công thức có khả thi khi triển khai và giới hạn của nó ở đâu?</a:t>
            </a:r>
            <a:endParaRPr lang="en-US" sz="12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98,69% lỗ hổng phải vá trong 48 giờ chưa từng bị khai thác</a:t>
            </a:r>
            <a:endParaRPr lang="en-US" sz="1800" dirty="0"/>
          </a:p>
        </p:txBody>
      </p:sp>
      <p:sp>
        <p:nvSpPr>
          <p:cNvPr id="3" name="Shape 1"/>
          <p:cNvSpPr/>
          <p:nvPr/>
        </p:nvSpPr>
        <p:spPr>
          <a:xfrm>
            <a:off x="548640" y="960120"/>
            <a:ext cx="5257800" cy="5074920"/>
          </a:xfrm>
          <a:prstGeom prst="roundRect">
            <a:avLst>
              <a:gd name="adj" fmla="val 180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graphicFrame>
        <p:nvGraphicFramePr>
          <p:cNvPr id="4" name="Chart 0" descr=""/>
          <p:cNvGraphicFramePr/>
          <p:nvPr/>
        </p:nvGraphicFramePr>
        <p:xfrm>
          <a:off x="685800" y="1051560"/>
          <a:ext cx="4983480" cy="48463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080760" y="1097280"/>
            <a:ext cx="25603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76,1</a:t>
            </a:r>
            <a:endParaRPr lang="en-US" sz="3000" dirty="0"/>
          </a:p>
        </p:txBody>
      </p:sp>
      <p:sp>
        <p:nvSpPr>
          <p:cNvPr id="6" name="Text 3"/>
          <p:cNvSpPr txBox="1"/>
          <p:nvPr/>
        </p:nvSpPr>
        <p:spPr>
          <a:xfrm>
            <a:off x="6080760" y="1627632"/>
            <a:ext cx="25603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phải vá mới trúng 1 lỗ hổng thực sự bị khai thác (giai đoạn 1999 đến 2025)</a:t>
            </a:r>
            <a:endParaRPr lang="en-US" sz="1100" dirty="0"/>
          </a:p>
        </p:txBody>
      </p:sp>
      <p:sp>
        <p:nvSpPr>
          <p:cNvPr id="7" name="Text 4"/>
          <p:cNvSpPr txBox="1"/>
          <p:nvPr/>
        </p:nvSpPr>
        <p:spPr>
          <a:xfrm>
            <a:off x="6080760" y="2514600"/>
            <a:ext cx="2560320" cy="502920"/>
          </a:xfrm>
          <a:prstGeom prst="rect">
            <a:avLst/>
          </a:prstGeom>
          <a:noFill/>
          <a:ln/>
        </p:spPr>
        <p:txBody>
          <a:bodyPr wrap="square" lIns="0" tIns="0" rIns="0" bIns="0" rtlCol="0" anchor="ctr"/>
          <a:lstStyle/>
          <a:p>
            <a:pPr indent="0" marL="0">
              <a:buNone/>
            </a:pPr>
            <a:r>
              <a:rPr lang="en-US" sz="2400" b="1" dirty="0">
                <a:solidFill>
                  <a:srgbClr val="C02034"/>
                </a:solidFill>
                <a:latin typeface="Calibri" pitchFamily="34" charset="0"/>
                <a:ea typeface="Calibri" pitchFamily="34" charset="-122"/>
                <a:cs typeface="Calibri" pitchFamily="34" charset="-120"/>
              </a:rPr>
              <a:t>30,6 / ngày</a:t>
            </a:r>
            <a:endParaRPr lang="en-US" sz="2400" dirty="0"/>
          </a:p>
        </p:txBody>
      </p:sp>
      <p:sp>
        <p:nvSpPr>
          <p:cNvPr id="8" name="Text 5"/>
          <p:cNvSpPr txBox="1"/>
          <p:nvPr/>
        </p:nvSpPr>
        <p:spPr>
          <a:xfrm>
            <a:off x="6080760" y="3044952"/>
            <a:ext cx="25603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CVSS từ 8,0 mới mỗi ngày năm 2025, gấp 2,0 lần năm 2020</a:t>
            </a:r>
            <a:endParaRPr lang="en-US" sz="1100" dirty="0"/>
          </a:p>
        </p:txBody>
      </p:sp>
      <p:sp>
        <p:nvSpPr>
          <p:cNvPr id="9" name="Text 6"/>
          <p:cNvSpPr txBox="1"/>
          <p:nvPr/>
        </p:nvSpPr>
        <p:spPr>
          <a:xfrm>
            <a:off x="6080760" y="3886200"/>
            <a:ext cx="25603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1,02%</a:t>
            </a:r>
            <a:endParaRPr lang="en-US" sz="3000" dirty="0"/>
          </a:p>
        </p:txBody>
      </p:sp>
      <p:sp>
        <p:nvSpPr>
          <p:cNvPr id="10" name="Text 7"/>
          <p:cNvSpPr txBox="1"/>
          <p:nvPr/>
        </p:nvSpPr>
        <p:spPr>
          <a:xfrm>
            <a:off x="6080760" y="4416552"/>
            <a:ext cx="25603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phần bị khai thác năm 2025 (114 / 11.170): khối lượng tăng, tỷ lệ trúng không tăng</a:t>
            </a:r>
            <a:endParaRPr lang="en-US" sz="1100" dirty="0"/>
          </a:p>
        </p:txBody>
      </p:sp>
      <p:sp>
        <p:nvSpPr>
          <p:cNvPr id="11" name="Text 8"/>
          <p:cNvSpPr txBox="1"/>
          <p:nvPr/>
        </p:nvSpPr>
        <p:spPr>
          <a:xfrm>
            <a:off x="6080760" y="5349240"/>
            <a:ext cx="2560320" cy="640080"/>
          </a:xfrm>
          <a:prstGeom prst="rect">
            <a:avLst/>
          </a:prstGeom>
          <a:noFill/>
          <a:ln/>
        </p:spPr>
        <p:txBody>
          <a:bodyPr wrap="square" lIns="0" tIns="0" rIns="0" bIns="0"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Đội vận hành dồn sức cho lỗ hổng chưa bị tấn công.</a:t>
            </a:r>
            <a:endParaRPr lang="en-US" sz="12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44,14% lỗ hổng đã bị khai thác có CVSS dưới 8,0 nên bị quy tắc CSA bỏ qua</a:t>
            </a:r>
            <a:endParaRPr lang="en-US" sz="1800" dirty="0"/>
          </a:p>
        </p:txBody>
      </p:sp>
      <p:sp>
        <p:nvSpPr>
          <p:cNvPr id="3" name="Shape 1"/>
          <p:cNvSpPr/>
          <p:nvPr/>
        </p:nvSpPr>
        <p:spPr>
          <a:xfrm>
            <a:off x="548640" y="960120"/>
            <a:ext cx="5257800" cy="5074920"/>
          </a:xfrm>
          <a:prstGeom prst="roundRect">
            <a:avLst>
              <a:gd name="adj" fmla="val 180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graphicFrame>
        <p:nvGraphicFramePr>
          <p:cNvPr id="4" name="Chart 0" descr=""/>
          <p:cNvGraphicFramePr/>
          <p:nvPr/>
        </p:nvGraphicFramePr>
        <p:xfrm>
          <a:off x="685800" y="1051560"/>
          <a:ext cx="4983480" cy="48463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080760" y="1097280"/>
            <a:ext cx="25603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74,17%</a:t>
            </a:r>
            <a:endParaRPr lang="en-US" sz="3000" dirty="0"/>
          </a:p>
        </p:txBody>
      </p:sp>
      <p:sp>
        <p:nvSpPr>
          <p:cNvPr id="6" name="Text 3"/>
          <p:cNvSpPr txBox="1"/>
          <p:nvPr/>
        </p:nvSpPr>
        <p:spPr>
          <a:xfrm>
            <a:off x="6080760" y="1627632"/>
            <a:ext cx="25603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bị bỏ qua nằm sát ngưỡng, điểm 7,0 đến 7,9 (514 / 693)</a:t>
            </a:r>
            <a:endParaRPr lang="en-US" sz="1100" dirty="0"/>
          </a:p>
        </p:txBody>
      </p:sp>
      <p:sp>
        <p:nvSpPr>
          <p:cNvPr id="7" name="Text 4"/>
          <p:cNvSpPr txBox="1"/>
          <p:nvPr/>
        </p:nvSpPr>
        <p:spPr>
          <a:xfrm>
            <a:off x="6080760" y="2514600"/>
            <a:ext cx="25603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42,27%</a:t>
            </a:r>
            <a:endParaRPr lang="en-US" sz="3000" dirty="0"/>
          </a:p>
        </p:txBody>
      </p:sp>
      <p:sp>
        <p:nvSpPr>
          <p:cNvPr id="8" name="Text 5"/>
          <p:cNvSpPr txBox="1"/>
          <p:nvPr/>
        </p:nvSpPr>
        <p:spPr>
          <a:xfrm>
            <a:off x="6080760" y="3044952"/>
            <a:ext cx="25603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KEV từng phục vụ mã độc tống tiền nằm trong nhóm bị bỏ qua (145 / 343)</a:t>
            </a:r>
            <a:endParaRPr lang="en-US" sz="1100" dirty="0"/>
          </a:p>
        </p:txBody>
      </p:sp>
      <p:sp>
        <p:nvSpPr>
          <p:cNvPr id="9" name="Text 6"/>
          <p:cNvSpPr txBox="1"/>
          <p:nvPr/>
        </p:nvSpPr>
        <p:spPr>
          <a:xfrm>
            <a:off x="6080760" y="3931920"/>
            <a:ext cx="25603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39,4%</a:t>
            </a:r>
            <a:endParaRPr lang="en-US" sz="3000" dirty="0"/>
          </a:p>
        </p:txBody>
      </p:sp>
      <p:sp>
        <p:nvSpPr>
          <p:cNvPr id="10" name="Text 7"/>
          <p:cNvSpPr txBox="1"/>
          <p:nvPr/>
        </p:nvSpPr>
        <p:spPr>
          <a:xfrm>
            <a:off x="6080760" y="4462272"/>
            <a:ext cx="25603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năm 2025 vẫn bị bỏ qua (74 / 188): vấn đề không giảm theo thời gian</a:t>
            </a:r>
            <a:endParaRPr lang="en-US" sz="1100" dirty="0"/>
          </a:p>
        </p:txBody>
      </p:sp>
      <p:sp>
        <p:nvSpPr>
          <p:cNvPr id="11" name="Text 8"/>
          <p:cNvSpPr txBox="1"/>
          <p:nvPr/>
        </p:nvSpPr>
        <p:spPr>
          <a:xfrm>
            <a:off x="6080760" y="5349240"/>
            <a:ext cx="2560320" cy="640080"/>
          </a:xfrm>
          <a:prstGeom prst="rect">
            <a:avLst/>
          </a:prstGeom>
          <a:noFill/>
          <a:ln/>
        </p:spPr>
        <p:txBody>
          <a:bodyPr wrap="square" lIns="0" tIns="0" rIns="0" bIns="0"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Ngưỡng 8,0 cắt ngang vùng tập trung nhiều lỗ hổng bị khai thác.</a:t>
            </a:r>
            <a:endParaRPr lang="en-US" sz="12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Đọc sát khuyến nghị hay đổi ngưỡng chỉ chuyển gánh nặng giữa vá thừa và bỏ sót</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92440" cy="914400"/>
        </p:xfrm>
        <a:graphic>
          <a:graphicData uri="http://schemas.openxmlformats.org/drawingml/2006/table">
            <a:tbl>
              <a:tblPr/>
              <a:tblGrid>
                <a:gridCol w="3520440"/>
                <a:gridCol w="1280160"/>
                <a:gridCol w="1554480"/>
                <a:gridCol w="173736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Cách áp dụng quy tắc</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Phải vá</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Bỏ sót lỗ hổng KEV</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Bị khai thác trong nhóm phải vá</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r>
              <a:tr h="475488">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CVSS từ 8,0 (cách đọc đơn giản)</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27,75%</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44,14%</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C02034"/>
                          </a:solidFill>
                          <a:latin typeface="Calibri" pitchFamily="34" charset="0"/>
                          <a:ea typeface="Calibri" pitchFamily="34" charset="-122"/>
                          <a:cs typeface="Calibri" pitchFamily="34" charset="-120"/>
                        </a:rPr>
                        <a:t>1,31%</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75488">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CVSS từ 8,0, chỉ lỗ hổng khai thác qua mạng (AV:N)</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35,97%</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26,25%</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2034"/>
                          </a:solidFill>
                          <a:latin typeface="Calibri" pitchFamily="34" charset="0"/>
                          <a:ea typeface="Calibri" pitchFamily="34" charset="-122"/>
                          <a:cs typeface="Calibri" pitchFamily="34" charset="-120"/>
                        </a:rPr>
                        <a:t>1,34%</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Như trên, thêm điều kiện có PoC công khai</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37,11%</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20,73%</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C02034"/>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75488">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Hạ ngưỡng xuống CVSS từ 7,0</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54,33%</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11,40%</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2034"/>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0F172A"/>
                          </a:solidFill>
                          <a:latin typeface="Calibri" pitchFamily="34" charset="0"/>
                          <a:ea typeface="Calibri" pitchFamily="34" charset="-122"/>
                          <a:cs typeface="Calibri" pitchFamily="34" charset="-120"/>
                        </a:rPr>
                        <a:t>Nâng ngưỡng lên CVSS từ 9,0</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14,43%</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dirty="0">
                          <a:solidFill>
                            <a:srgbClr val="0F172A"/>
                          </a:solidFill>
                          <a:latin typeface="Calibri" pitchFamily="34" charset="0"/>
                          <a:ea typeface="Calibri" pitchFamily="34" charset="-122"/>
                          <a:cs typeface="Calibri" pitchFamily="34" charset="-120"/>
                        </a:rPr>
                        <a:t>65,99%</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200" b="1" dirty="0">
                          <a:solidFill>
                            <a:srgbClr val="C02034"/>
                          </a:solidFill>
                          <a:latin typeface="Calibri" pitchFamily="34" charset="0"/>
                          <a:ea typeface="Calibri" pitchFamily="34" charset="-122"/>
                          <a:cs typeface="Calibri" pitchFamily="34" charset="-120"/>
                        </a:rPr>
                        <a:t>1,54%</a:t>
                      </a:r>
                      <a:endParaRPr lang="en-US" sz="120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4" name="Shape 1"/>
          <p:cNvSpPr/>
          <p:nvPr/>
        </p:nvSpPr>
        <p:spPr>
          <a:xfrm>
            <a:off x="548640" y="4160520"/>
            <a:ext cx="3886200" cy="1463040"/>
          </a:xfrm>
          <a:prstGeom prst="roundRect">
            <a:avLst>
              <a:gd name="adj" fmla="val 6250"/>
            </a:avLst>
          </a:prstGeom>
          <a:solidFill>
            <a:srgbClr val="FDECEE"/>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5" name="Text 2"/>
          <p:cNvSpPr txBox="1"/>
          <p:nvPr/>
        </p:nvSpPr>
        <p:spPr>
          <a:xfrm>
            <a:off x="777240" y="4343400"/>
            <a:ext cx="3474720" cy="502920"/>
          </a:xfrm>
          <a:prstGeom prst="rect">
            <a:avLst/>
          </a:prstGeom>
          <a:noFill/>
          <a:ln/>
        </p:spPr>
        <p:txBody>
          <a:bodyPr wrap="square" lIns="0" tIns="0" rIns="0" bIns="0" rtlCol="0" anchor="ctr"/>
          <a:lstStyle/>
          <a:p>
            <a:pPr indent="0" marL="0">
              <a:buNone/>
            </a:pPr>
            <a:r>
              <a:rPr lang="en-US" sz="2400" b="1" dirty="0">
                <a:solidFill>
                  <a:srgbClr val="C02034"/>
                </a:solidFill>
                <a:latin typeface="Calibri" pitchFamily="34" charset="0"/>
                <a:ea typeface="Calibri" pitchFamily="34" charset="-122"/>
                <a:cs typeface="Calibri" pitchFamily="34" charset="-120"/>
              </a:rPr>
              <a:t>1,1% đến 1,5%</a:t>
            </a:r>
            <a:endParaRPr lang="en-US" sz="2400" dirty="0"/>
          </a:p>
        </p:txBody>
      </p:sp>
      <p:sp>
        <p:nvSpPr>
          <p:cNvPr id="6" name="Text 3"/>
          <p:cNvSpPr txBox="1"/>
          <p:nvPr/>
        </p:nvSpPr>
        <p:spPr>
          <a:xfrm>
            <a:off x="777240" y="4873752"/>
            <a:ext cx="3474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nhóm phải vá bị khai thác ở mọi cách áp dụng: vá thừa không đổi</a:t>
            </a:r>
            <a:endParaRPr lang="en-US" sz="1100" dirty="0"/>
          </a:p>
        </p:txBody>
      </p:sp>
      <p:sp>
        <p:nvSpPr>
          <p:cNvPr id="7" name="Shape 4"/>
          <p:cNvSpPr/>
          <p:nvPr/>
        </p:nvSpPr>
        <p:spPr>
          <a:xfrm>
            <a:off x="4754880" y="4160520"/>
            <a:ext cx="3886200" cy="1463040"/>
          </a:xfrm>
          <a:prstGeom prst="roundRect">
            <a:avLst>
              <a:gd name="adj" fmla="val 6250"/>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8" name="Text 5"/>
          <p:cNvSpPr txBox="1"/>
          <p:nvPr/>
        </p:nvSpPr>
        <p:spPr>
          <a:xfrm>
            <a:off x="4983480" y="4343400"/>
            <a:ext cx="34747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HÀM Ý</a:t>
            </a:r>
            <a:endParaRPr lang="en-US" sz="1000" dirty="0"/>
          </a:p>
        </p:txBody>
      </p:sp>
      <p:sp>
        <p:nvSpPr>
          <p:cNvPr id="9" name="Text 6"/>
          <p:cNvSpPr txBox="1"/>
          <p:nvPr/>
        </p:nvSpPr>
        <p:spPr>
          <a:xfrm>
            <a:off x="4983480" y="4663440"/>
            <a:ext cx="3474720" cy="118872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Không có ngưỡng CVSS nào vừa giảm vá thừa vừa giảm bỏ sót: cần thêm thông tin về khai thác thực tế.</a:t>
            </a:r>
            <a:endParaRPr lang="en-US" sz="13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CISA đã bỏ hạn vá theo CVSS, chuyển sang bốn biến rủi ro trong BOD 26-04</a:t>
            </a:r>
            <a:endParaRPr lang="en-US" sz="1800" dirty="0"/>
          </a:p>
        </p:txBody>
      </p:sp>
      <p:sp>
        <p:nvSpPr>
          <p:cNvPr id="3" name="Text 1"/>
          <p:cNvSpPr txBox="1"/>
          <p:nvPr/>
        </p:nvSpPr>
        <p:spPr>
          <a:xfrm>
            <a:off x="548640" y="960120"/>
            <a:ext cx="80467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BỐN CÂU HỎI CÓ HOẶC KHÔNG, CHO TỪNG LỖ HỔNG TRÊN TỪNG TÀI SẢN</a:t>
            </a:r>
            <a:endParaRPr lang="en-US" sz="1000" dirty="0"/>
          </a:p>
        </p:txBody>
      </p:sp>
      <p:sp>
        <p:nvSpPr>
          <p:cNvPr id="4" name="Shape 2"/>
          <p:cNvSpPr/>
          <p:nvPr/>
        </p:nvSpPr>
        <p:spPr>
          <a:xfrm>
            <a:off x="548640" y="1280160"/>
            <a:ext cx="1874520" cy="1965960"/>
          </a:xfrm>
          <a:prstGeom prst="roundRect">
            <a:avLst>
              <a:gd name="adj" fmla="val 4878"/>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5" name="Shape 3"/>
          <p:cNvSpPr/>
          <p:nvPr/>
        </p:nvSpPr>
        <p:spPr>
          <a:xfrm>
            <a:off x="731520" y="1444752"/>
            <a:ext cx="502920" cy="502920"/>
          </a:xfrm>
          <a:prstGeom prst="ellipse">
            <a:avLst/>
          </a:prstGeom>
          <a:solidFill>
            <a:srgbClr val="FDECEE"/>
          </a:solidFill>
          <a:ln w="12700">
            <a:solidFill>
              <a:srgbClr val="FDECEE"/>
            </a:solidFill>
            <a:prstDash val="solid"/>
          </a:ln>
        </p:spPr>
      </p:sp>
      <p:pic>
        <p:nvPicPr>
          <p:cNvPr id="6" name="Image 0" descr="preencoded.png">    </p:cNvPr>
          <p:cNvPicPr>
            <a:picLocks noChangeAspect="1"/>
          </p:cNvPicPr>
          <p:nvPr/>
        </p:nvPicPr>
        <p:blipFill>
          <a:blip r:embed="rId1"/>
          <a:stretch>
            <a:fillRect/>
          </a:stretch>
        </p:blipFill>
        <p:spPr>
          <a:xfrm>
            <a:off x="842162" y="1555394"/>
            <a:ext cx="281635" cy="281635"/>
          </a:xfrm>
          <a:prstGeom prst="rect">
            <a:avLst/>
          </a:prstGeom>
        </p:spPr>
      </p:pic>
      <p:sp>
        <p:nvSpPr>
          <p:cNvPr id="7" name="Text 4"/>
          <p:cNvSpPr txBox="1"/>
          <p:nvPr/>
        </p:nvSpPr>
        <p:spPr>
          <a:xfrm>
            <a:off x="731520" y="2029968"/>
            <a:ext cx="1554480" cy="320040"/>
          </a:xfrm>
          <a:prstGeom prst="rect">
            <a:avLst/>
          </a:prstGeom>
          <a:noFill/>
          <a:ln/>
        </p:spPr>
        <p:txBody>
          <a:bodyPr wrap="square" lIns="0" tIns="0" rIns="0" bIns="0" rtlCol="0" anchor="t"/>
          <a:lstStyle/>
          <a:p>
            <a:pPr indent="0" marL="0">
              <a:buNone/>
            </a:pPr>
            <a:r>
              <a:rPr lang="en-US" sz="1300" b="1" dirty="0">
                <a:solidFill>
                  <a:srgbClr val="C02034"/>
                </a:solidFill>
                <a:latin typeface="Calibri" pitchFamily="34" charset="0"/>
                <a:ea typeface="Calibri" pitchFamily="34" charset="-122"/>
                <a:cs typeface="Calibri" pitchFamily="34" charset="-120"/>
              </a:rPr>
              <a:t>Phơi ra Internet</a:t>
            </a:r>
            <a:endParaRPr lang="en-US" sz="1300" dirty="0"/>
          </a:p>
        </p:txBody>
      </p:sp>
      <p:sp>
        <p:nvSpPr>
          <p:cNvPr id="8" name="Text 5"/>
          <p:cNvSpPr txBox="1"/>
          <p:nvPr/>
        </p:nvSpPr>
        <p:spPr>
          <a:xfrm>
            <a:off x="731520" y="2377440"/>
            <a:ext cx="1554480" cy="77724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Tài sản có truy cập được từ mạng công cộng?</a:t>
            </a:r>
            <a:endParaRPr lang="en-US" sz="1100" dirty="0"/>
          </a:p>
        </p:txBody>
      </p:sp>
      <p:sp>
        <p:nvSpPr>
          <p:cNvPr id="9" name="Shape 6"/>
          <p:cNvSpPr/>
          <p:nvPr/>
        </p:nvSpPr>
        <p:spPr>
          <a:xfrm>
            <a:off x="2606040" y="1280160"/>
            <a:ext cx="1874520" cy="1965960"/>
          </a:xfrm>
          <a:prstGeom prst="roundRect">
            <a:avLst>
              <a:gd name="adj" fmla="val 4878"/>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0" name="Shape 7"/>
          <p:cNvSpPr/>
          <p:nvPr/>
        </p:nvSpPr>
        <p:spPr>
          <a:xfrm>
            <a:off x="2788920" y="1444752"/>
            <a:ext cx="502920" cy="502920"/>
          </a:xfrm>
          <a:prstGeom prst="ellipse">
            <a:avLst/>
          </a:prstGeom>
          <a:solidFill>
            <a:srgbClr val="FDECEE"/>
          </a:solidFill>
          <a:ln w="12700">
            <a:solidFill>
              <a:srgbClr val="FDECEE"/>
            </a:solidFill>
            <a:prstDash val="solid"/>
          </a:ln>
        </p:spPr>
      </p:sp>
      <p:pic>
        <p:nvPicPr>
          <p:cNvPr id="11" name="Image 1" descr="preencoded.png">    </p:cNvPr>
          <p:cNvPicPr>
            <a:picLocks noChangeAspect="1"/>
          </p:cNvPicPr>
          <p:nvPr/>
        </p:nvPicPr>
        <p:blipFill>
          <a:blip r:embed="rId2"/>
          <a:stretch>
            <a:fillRect/>
          </a:stretch>
        </p:blipFill>
        <p:spPr>
          <a:xfrm>
            <a:off x="2899562" y="1555394"/>
            <a:ext cx="281635" cy="281635"/>
          </a:xfrm>
          <a:prstGeom prst="rect">
            <a:avLst/>
          </a:prstGeom>
        </p:spPr>
      </p:pic>
      <p:sp>
        <p:nvSpPr>
          <p:cNvPr id="12" name="Text 8"/>
          <p:cNvSpPr txBox="1"/>
          <p:nvPr/>
        </p:nvSpPr>
        <p:spPr>
          <a:xfrm>
            <a:off x="2788920" y="2029968"/>
            <a:ext cx="1554480" cy="320040"/>
          </a:xfrm>
          <a:prstGeom prst="rect">
            <a:avLst/>
          </a:prstGeom>
          <a:noFill/>
          <a:ln/>
        </p:spPr>
        <p:txBody>
          <a:bodyPr wrap="square" lIns="0" tIns="0" rIns="0" bIns="0" rtlCol="0" anchor="t"/>
          <a:lstStyle/>
          <a:p>
            <a:pPr indent="0" marL="0">
              <a:buNone/>
            </a:pPr>
            <a:r>
              <a:rPr lang="en-US" sz="1300" b="1" dirty="0">
                <a:solidFill>
                  <a:srgbClr val="C02034"/>
                </a:solidFill>
                <a:latin typeface="Calibri" pitchFamily="34" charset="0"/>
                <a:ea typeface="Calibri" pitchFamily="34" charset="-122"/>
                <a:cs typeface="Calibri" pitchFamily="34" charset="-120"/>
              </a:rPr>
              <a:t>Có trong KEV</a:t>
            </a:r>
            <a:endParaRPr lang="en-US" sz="1300" dirty="0"/>
          </a:p>
        </p:txBody>
      </p:sp>
      <p:sp>
        <p:nvSpPr>
          <p:cNvPr id="13" name="Text 9"/>
          <p:cNvSpPr txBox="1"/>
          <p:nvPr/>
        </p:nvSpPr>
        <p:spPr>
          <a:xfrm>
            <a:off x="2788920" y="2377440"/>
            <a:ext cx="1554480" cy="77724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Lỗ hổng đã bị khai thác thực tế?</a:t>
            </a:r>
            <a:endParaRPr lang="en-US" sz="1100" dirty="0"/>
          </a:p>
        </p:txBody>
      </p:sp>
      <p:sp>
        <p:nvSpPr>
          <p:cNvPr id="14" name="Shape 10"/>
          <p:cNvSpPr/>
          <p:nvPr/>
        </p:nvSpPr>
        <p:spPr>
          <a:xfrm>
            <a:off x="4663440" y="1280160"/>
            <a:ext cx="1874520" cy="1965960"/>
          </a:xfrm>
          <a:prstGeom prst="roundRect">
            <a:avLst>
              <a:gd name="adj" fmla="val 4878"/>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5" name="Shape 11"/>
          <p:cNvSpPr/>
          <p:nvPr/>
        </p:nvSpPr>
        <p:spPr>
          <a:xfrm>
            <a:off x="4846320" y="1444752"/>
            <a:ext cx="502920" cy="502920"/>
          </a:xfrm>
          <a:prstGeom prst="ellipse">
            <a:avLst/>
          </a:prstGeom>
          <a:solidFill>
            <a:srgbClr val="FDECEE"/>
          </a:solidFill>
          <a:ln w="12700">
            <a:solidFill>
              <a:srgbClr val="FDECEE"/>
            </a:solidFill>
            <a:prstDash val="solid"/>
          </a:ln>
        </p:spPr>
      </p:sp>
      <p:pic>
        <p:nvPicPr>
          <p:cNvPr id="16" name="Image 2" descr="preencoded.png">    </p:cNvPr>
          <p:cNvPicPr>
            <a:picLocks noChangeAspect="1"/>
          </p:cNvPicPr>
          <p:nvPr/>
        </p:nvPicPr>
        <p:blipFill>
          <a:blip r:embed="rId3"/>
          <a:stretch>
            <a:fillRect/>
          </a:stretch>
        </p:blipFill>
        <p:spPr>
          <a:xfrm>
            <a:off x="4956962" y="1555394"/>
            <a:ext cx="281635" cy="281635"/>
          </a:xfrm>
          <a:prstGeom prst="rect">
            <a:avLst/>
          </a:prstGeom>
        </p:spPr>
      </p:pic>
      <p:sp>
        <p:nvSpPr>
          <p:cNvPr id="17" name="Text 12"/>
          <p:cNvSpPr txBox="1"/>
          <p:nvPr/>
        </p:nvSpPr>
        <p:spPr>
          <a:xfrm>
            <a:off x="4846320" y="2029968"/>
            <a:ext cx="1554480" cy="320040"/>
          </a:xfrm>
          <a:prstGeom prst="rect">
            <a:avLst/>
          </a:prstGeom>
          <a:noFill/>
          <a:ln/>
        </p:spPr>
        <p:txBody>
          <a:bodyPr wrap="square" lIns="0" tIns="0" rIns="0" bIns="0" rtlCol="0" anchor="t"/>
          <a:lstStyle/>
          <a:p>
            <a:pPr indent="0" marL="0">
              <a:buNone/>
            </a:pPr>
            <a:r>
              <a:rPr lang="en-US" sz="1300" b="1" dirty="0">
                <a:solidFill>
                  <a:srgbClr val="C02034"/>
                </a:solidFill>
                <a:latin typeface="Calibri" pitchFamily="34" charset="0"/>
                <a:ea typeface="Calibri" pitchFamily="34" charset="-122"/>
                <a:cs typeface="Calibri" pitchFamily="34" charset="-120"/>
              </a:rPr>
              <a:t>Tự động hóa được</a:t>
            </a:r>
            <a:endParaRPr lang="en-US" sz="1300" dirty="0"/>
          </a:p>
        </p:txBody>
      </p:sp>
      <p:sp>
        <p:nvSpPr>
          <p:cNvPr id="18" name="Text 13"/>
          <p:cNvSpPr txBox="1"/>
          <p:nvPr/>
        </p:nvSpPr>
        <p:spPr>
          <a:xfrm>
            <a:off x="4846320" y="2377440"/>
            <a:ext cx="1554480" cy="77724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Kẻ tấn công tự động hóa được toàn bộ chuỗi khai thác?</a:t>
            </a:r>
            <a:endParaRPr lang="en-US" sz="1100" dirty="0"/>
          </a:p>
        </p:txBody>
      </p:sp>
      <p:sp>
        <p:nvSpPr>
          <p:cNvPr id="19" name="Shape 14"/>
          <p:cNvSpPr/>
          <p:nvPr/>
        </p:nvSpPr>
        <p:spPr>
          <a:xfrm>
            <a:off x="6720840" y="1280160"/>
            <a:ext cx="1874520" cy="1965960"/>
          </a:xfrm>
          <a:prstGeom prst="roundRect">
            <a:avLst>
              <a:gd name="adj" fmla="val 4878"/>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0" name="Shape 15"/>
          <p:cNvSpPr/>
          <p:nvPr/>
        </p:nvSpPr>
        <p:spPr>
          <a:xfrm>
            <a:off x="6903720" y="1444752"/>
            <a:ext cx="502920" cy="502920"/>
          </a:xfrm>
          <a:prstGeom prst="ellipse">
            <a:avLst/>
          </a:prstGeom>
          <a:solidFill>
            <a:srgbClr val="FDECEE"/>
          </a:solidFill>
          <a:ln w="12700">
            <a:solidFill>
              <a:srgbClr val="FDECEE"/>
            </a:solidFill>
            <a:prstDash val="solid"/>
          </a:ln>
        </p:spPr>
      </p:sp>
      <p:pic>
        <p:nvPicPr>
          <p:cNvPr id="21" name="Image 3" descr="preencoded.png">    </p:cNvPr>
          <p:cNvPicPr>
            <a:picLocks noChangeAspect="1"/>
          </p:cNvPicPr>
          <p:nvPr/>
        </p:nvPicPr>
        <p:blipFill>
          <a:blip r:embed="rId4"/>
          <a:stretch>
            <a:fillRect/>
          </a:stretch>
        </p:blipFill>
        <p:spPr>
          <a:xfrm>
            <a:off x="7014362" y="1555394"/>
            <a:ext cx="281635" cy="281635"/>
          </a:xfrm>
          <a:prstGeom prst="rect">
            <a:avLst/>
          </a:prstGeom>
        </p:spPr>
      </p:pic>
      <p:sp>
        <p:nvSpPr>
          <p:cNvPr id="22" name="Text 16"/>
          <p:cNvSpPr txBox="1"/>
          <p:nvPr/>
        </p:nvSpPr>
        <p:spPr>
          <a:xfrm>
            <a:off x="6903720" y="2029968"/>
            <a:ext cx="1554480" cy="320040"/>
          </a:xfrm>
          <a:prstGeom prst="rect">
            <a:avLst/>
          </a:prstGeom>
          <a:noFill/>
          <a:ln/>
        </p:spPr>
        <p:txBody>
          <a:bodyPr wrap="square" lIns="0" tIns="0" rIns="0" bIns="0" rtlCol="0" anchor="t"/>
          <a:lstStyle/>
          <a:p>
            <a:pPr indent="0" marL="0">
              <a:buNone/>
            </a:pPr>
            <a:r>
              <a:rPr lang="en-US" sz="1300" b="1" dirty="0">
                <a:solidFill>
                  <a:srgbClr val="C02034"/>
                </a:solidFill>
                <a:latin typeface="Calibri" pitchFamily="34" charset="0"/>
                <a:ea typeface="Calibri" pitchFamily="34" charset="-122"/>
                <a:cs typeface="Calibri" pitchFamily="34" charset="-120"/>
              </a:rPr>
              <a:t>Tác động kỹ thuật</a:t>
            </a:r>
            <a:endParaRPr lang="en-US" sz="1300" dirty="0"/>
          </a:p>
        </p:txBody>
      </p:sp>
      <p:sp>
        <p:nvSpPr>
          <p:cNvPr id="23" name="Text 17"/>
          <p:cNvSpPr txBox="1"/>
          <p:nvPr/>
        </p:nvSpPr>
        <p:spPr>
          <a:xfrm>
            <a:off x="6903720" y="2377440"/>
            <a:ext cx="1554480" cy="77724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Khai thác xong chiếm toàn quyền hay một phần?</a:t>
            </a:r>
            <a:endParaRPr lang="en-US" sz="1100" dirty="0"/>
          </a:p>
        </p:txBody>
      </p:sp>
      <p:sp>
        <p:nvSpPr>
          <p:cNvPr id="24" name="Text 18"/>
          <p:cNvSpPr txBox="1"/>
          <p:nvPr/>
        </p:nvSpPr>
        <p:spPr>
          <a:xfrm>
            <a:off x="548640" y="3474720"/>
            <a:ext cx="80467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HẠN VÁ THEO TỔ HỢP CÂU TRẢ LỜI (BẢNG 1 CỦA CHỈ THỊ)</a:t>
            </a:r>
            <a:endParaRPr lang="en-US" sz="1000" dirty="0"/>
          </a:p>
        </p:txBody>
      </p:sp>
      <p:sp>
        <p:nvSpPr>
          <p:cNvPr id="25" name="Shape 19"/>
          <p:cNvSpPr/>
          <p:nvPr/>
        </p:nvSpPr>
        <p:spPr>
          <a:xfrm>
            <a:off x="548640" y="3794760"/>
            <a:ext cx="1508760" cy="868680"/>
          </a:xfrm>
          <a:prstGeom prst="roundRect">
            <a:avLst>
              <a:gd name="adj" fmla="val 8421"/>
            </a:avLst>
          </a:prstGeom>
          <a:solidFill>
            <a:srgbClr val="C02034"/>
          </a:solidFill>
          <a:ln w="6350">
            <a:solidFill>
              <a:srgbClr val="E2E8F0"/>
            </a:solidFill>
            <a:prstDash val="solid"/>
          </a:ln>
        </p:spPr>
      </p:sp>
      <p:sp>
        <p:nvSpPr>
          <p:cNvPr id="26" name="Text 20"/>
          <p:cNvSpPr txBox="1"/>
          <p:nvPr/>
        </p:nvSpPr>
        <p:spPr>
          <a:xfrm>
            <a:off x="594360" y="3858768"/>
            <a:ext cx="1417320"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3 ngày</a:t>
            </a:r>
            <a:endParaRPr lang="en-US" sz="1500" dirty="0"/>
          </a:p>
        </p:txBody>
      </p:sp>
      <p:sp>
        <p:nvSpPr>
          <p:cNvPr id="27" name="Text 21"/>
          <p:cNvSpPr txBox="1"/>
          <p:nvPr/>
        </p:nvSpPr>
        <p:spPr>
          <a:xfrm>
            <a:off x="594360" y="4224528"/>
            <a:ext cx="1417320" cy="365760"/>
          </a:xfrm>
          <a:prstGeom prst="rect">
            <a:avLst/>
          </a:prstGeom>
          <a:noFill/>
          <a:ln/>
        </p:spPr>
        <p:txBody>
          <a:bodyPr wrap="square" lIns="0" tIns="0" rIns="0" bIns="0" rtlCol="0" anchor="t"/>
          <a:lstStyle/>
          <a:p>
            <a:pPr algn="ctr" indent="0" marL="0">
              <a:buNone/>
            </a:pPr>
            <a:r>
              <a:rPr lang="en-US" sz="950" dirty="0">
                <a:solidFill>
                  <a:srgbClr val="FFFFFF"/>
                </a:solidFill>
                <a:latin typeface="Calibri" pitchFamily="34" charset="0"/>
                <a:ea typeface="Calibri" pitchFamily="34" charset="-122"/>
                <a:cs typeface="Calibri" pitchFamily="34" charset="-120"/>
              </a:rPr>
              <a:t>kèm điều tra xâm nhập</a:t>
            </a:r>
            <a:endParaRPr lang="en-US" sz="950" dirty="0"/>
          </a:p>
        </p:txBody>
      </p:sp>
      <p:sp>
        <p:nvSpPr>
          <p:cNvPr id="28" name="Shape 22"/>
          <p:cNvSpPr/>
          <p:nvPr/>
        </p:nvSpPr>
        <p:spPr>
          <a:xfrm>
            <a:off x="2185416" y="3794760"/>
            <a:ext cx="1508760" cy="868680"/>
          </a:xfrm>
          <a:prstGeom prst="roundRect">
            <a:avLst>
              <a:gd name="adj" fmla="val 8421"/>
            </a:avLst>
          </a:prstGeom>
          <a:solidFill>
            <a:srgbClr val="D9485B"/>
          </a:solidFill>
          <a:ln w="6350">
            <a:solidFill>
              <a:srgbClr val="E2E8F0"/>
            </a:solidFill>
            <a:prstDash val="solid"/>
          </a:ln>
        </p:spPr>
      </p:sp>
      <p:sp>
        <p:nvSpPr>
          <p:cNvPr id="29" name="Text 23"/>
          <p:cNvSpPr txBox="1"/>
          <p:nvPr/>
        </p:nvSpPr>
        <p:spPr>
          <a:xfrm>
            <a:off x="2231136" y="3858768"/>
            <a:ext cx="1417320" cy="365760"/>
          </a:xfrm>
          <a:prstGeom prst="rect">
            <a:avLst/>
          </a:prstGeom>
          <a:noFill/>
          <a:ln/>
        </p:spPr>
        <p:txBody>
          <a:bodyPr wrap="square" lIns="0" tIns="0" rIns="0" bIns="0" rtlCol="0" anchor="t"/>
          <a:lstStyle/>
          <a:p>
            <a:pPr algn="ctr" indent="0" marL="0">
              <a:buNone/>
            </a:pPr>
            <a:r>
              <a:rPr lang="en-US" sz="1500" b="1" dirty="0">
                <a:solidFill>
                  <a:srgbClr val="FFFFFF"/>
                </a:solidFill>
                <a:latin typeface="Calibri" pitchFamily="34" charset="0"/>
                <a:ea typeface="Calibri" pitchFamily="34" charset="-122"/>
                <a:cs typeface="Calibri" pitchFamily="34" charset="-120"/>
              </a:rPr>
              <a:t>3 ngày</a:t>
            </a:r>
            <a:endParaRPr lang="en-US" sz="1500" dirty="0"/>
          </a:p>
        </p:txBody>
      </p:sp>
      <p:sp>
        <p:nvSpPr>
          <p:cNvPr id="30" name="Shape 24"/>
          <p:cNvSpPr/>
          <p:nvPr/>
        </p:nvSpPr>
        <p:spPr>
          <a:xfrm>
            <a:off x="3822192" y="3794760"/>
            <a:ext cx="1508760" cy="868680"/>
          </a:xfrm>
          <a:prstGeom prst="roundRect">
            <a:avLst>
              <a:gd name="adj" fmla="val 8421"/>
            </a:avLst>
          </a:prstGeom>
          <a:solidFill>
            <a:srgbClr val="F3B7BF"/>
          </a:solidFill>
          <a:ln w="6350">
            <a:solidFill>
              <a:srgbClr val="E2E8F0"/>
            </a:solidFill>
            <a:prstDash val="solid"/>
          </a:ln>
        </p:spPr>
      </p:sp>
      <p:sp>
        <p:nvSpPr>
          <p:cNvPr id="31" name="Text 25"/>
          <p:cNvSpPr txBox="1"/>
          <p:nvPr/>
        </p:nvSpPr>
        <p:spPr>
          <a:xfrm>
            <a:off x="3867912" y="3858768"/>
            <a:ext cx="1417320" cy="365760"/>
          </a:xfrm>
          <a:prstGeom prst="rect">
            <a:avLst/>
          </a:prstGeom>
          <a:noFill/>
          <a:ln/>
        </p:spPr>
        <p:txBody>
          <a:bodyPr wrap="square" lIns="0" tIns="0" rIns="0" bIns="0" rtlCol="0" anchor="t"/>
          <a:lstStyle/>
          <a:p>
            <a:pPr algn="ctr" indent="0" marL="0">
              <a:buNone/>
            </a:pPr>
            <a:r>
              <a:rPr lang="en-US" sz="1500" b="1" dirty="0">
                <a:solidFill>
                  <a:srgbClr val="0F172A"/>
                </a:solidFill>
                <a:latin typeface="Calibri" pitchFamily="34" charset="0"/>
                <a:ea typeface="Calibri" pitchFamily="34" charset="-122"/>
                <a:cs typeface="Calibri" pitchFamily="34" charset="-120"/>
              </a:rPr>
              <a:t>14 ngày</a:t>
            </a:r>
            <a:endParaRPr lang="en-US" sz="1500" dirty="0"/>
          </a:p>
        </p:txBody>
      </p:sp>
      <p:sp>
        <p:nvSpPr>
          <p:cNvPr id="32" name="Shape 26"/>
          <p:cNvSpPr/>
          <p:nvPr/>
        </p:nvSpPr>
        <p:spPr>
          <a:xfrm>
            <a:off x="5458968" y="3794760"/>
            <a:ext cx="1508760" cy="868680"/>
          </a:xfrm>
          <a:prstGeom prst="roundRect">
            <a:avLst>
              <a:gd name="adj" fmla="val 8421"/>
            </a:avLst>
          </a:prstGeom>
          <a:solidFill>
            <a:srgbClr val="E2E8F0"/>
          </a:solidFill>
          <a:ln w="6350">
            <a:solidFill>
              <a:srgbClr val="E2E8F0"/>
            </a:solidFill>
            <a:prstDash val="solid"/>
          </a:ln>
        </p:spPr>
      </p:sp>
      <p:sp>
        <p:nvSpPr>
          <p:cNvPr id="33" name="Text 27"/>
          <p:cNvSpPr txBox="1"/>
          <p:nvPr/>
        </p:nvSpPr>
        <p:spPr>
          <a:xfrm>
            <a:off x="5504688" y="3858768"/>
            <a:ext cx="1417320" cy="365760"/>
          </a:xfrm>
          <a:prstGeom prst="rect">
            <a:avLst/>
          </a:prstGeom>
          <a:noFill/>
          <a:ln/>
        </p:spPr>
        <p:txBody>
          <a:bodyPr wrap="square" lIns="0" tIns="0" rIns="0" bIns="0" rtlCol="0" anchor="t"/>
          <a:lstStyle/>
          <a:p>
            <a:pPr algn="ctr" indent="0" marL="0">
              <a:buNone/>
            </a:pPr>
            <a:r>
              <a:rPr lang="en-US" sz="1500" b="1" dirty="0">
                <a:solidFill>
                  <a:srgbClr val="0F172A"/>
                </a:solidFill>
                <a:latin typeface="Calibri" pitchFamily="34" charset="0"/>
                <a:ea typeface="Calibri" pitchFamily="34" charset="-122"/>
                <a:cs typeface="Calibri" pitchFamily="34" charset="-120"/>
              </a:rPr>
              <a:t>60 ngày</a:t>
            </a:r>
            <a:endParaRPr lang="en-US" sz="1500" dirty="0"/>
          </a:p>
        </p:txBody>
      </p:sp>
      <p:sp>
        <p:nvSpPr>
          <p:cNvPr id="34" name="Shape 28"/>
          <p:cNvSpPr/>
          <p:nvPr/>
        </p:nvSpPr>
        <p:spPr>
          <a:xfrm>
            <a:off x="7095744" y="3794760"/>
            <a:ext cx="1508760" cy="868680"/>
          </a:xfrm>
          <a:prstGeom prst="roundRect">
            <a:avLst>
              <a:gd name="adj" fmla="val 8421"/>
            </a:avLst>
          </a:prstGeom>
          <a:solidFill>
            <a:srgbClr val="F8FAFC"/>
          </a:solidFill>
          <a:ln w="6350">
            <a:solidFill>
              <a:srgbClr val="E2E8F0"/>
            </a:solidFill>
            <a:prstDash val="solid"/>
          </a:ln>
        </p:spPr>
      </p:sp>
      <p:sp>
        <p:nvSpPr>
          <p:cNvPr id="35" name="Text 29"/>
          <p:cNvSpPr txBox="1"/>
          <p:nvPr/>
        </p:nvSpPr>
        <p:spPr>
          <a:xfrm>
            <a:off x="7141464" y="3858768"/>
            <a:ext cx="1417320" cy="365760"/>
          </a:xfrm>
          <a:prstGeom prst="rect">
            <a:avLst/>
          </a:prstGeom>
          <a:noFill/>
          <a:ln/>
        </p:spPr>
        <p:txBody>
          <a:bodyPr wrap="square" lIns="0" tIns="0" rIns="0" bIns="0" rtlCol="0" anchor="t"/>
          <a:lstStyle/>
          <a:p>
            <a:pPr algn="ctr" indent="0" marL="0">
              <a:buNone/>
            </a:pPr>
            <a:r>
              <a:rPr lang="en-US" sz="1500" b="1" dirty="0">
                <a:solidFill>
                  <a:srgbClr val="0F172A"/>
                </a:solidFill>
                <a:latin typeface="Calibri" pitchFamily="34" charset="0"/>
                <a:ea typeface="Calibri" pitchFamily="34" charset="-122"/>
                <a:cs typeface="Calibri" pitchFamily="34" charset="-120"/>
              </a:rPr>
              <a:t>Lần nâng cấp</a:t>
            </a:r>
            <a:endParaRPr lang="en-US" sz="1500" dirty="0"/>
          </a:p>
        </p:txBody>
      </p:sp>
      <p:sp>
        <p:nvSpPr>
          <p:cNvPr id="36" name="Text 30"/>
          <p:cNvSpPr txBox="1"/>
          <p:nvPr/>
        </p:nvSpPr>
        <p:spPr>
          <a:xfrm>
            <a:off x="7141464" y="4224528"/>
            <a:ext cx="1417320" cy="365760"/>
          </a:xfrm>
          <a:prstGeom prst="rect">
            <a:avLst/>
          </a:prstGeom>
          <a:noFill/>
          <a:ln/>
        </p:spPr>
        <p:txBody>
          <a:bodyPr wrap="square" lIns="0" tIns="0" rIns="0" bIns="0" rtlCol="0" anchor="t"/>
          <a:lstStyle/>
          <a:p>
            <a:pPr algn="ctr" indent="0" marL="0">
              <a:buNone/>
            </a:pPr>
            <a:r>
              <a:rPr lang="en-US" sz="950" dirty="0">
                <a:solidFill>
                  <a:srgbClr val="0F172A"/>
                </a:solidFill>
                <a:latin typeface="Calibri" pitchFamily="34" charset="0"/>
                <a:ea typeface="Calibri" pitchFamily="34" charset="-122"/>
                <a:cs typeface="Calibri" pitchFamily="34" charset="-120"/>
              </a:rPr>
              <a:t>hệ thống kế tiếp</a:t>
            </a:r>
            <a:endParaRPr lang="en-US" sz="950" dirty="0"/>
          </a:p>
        </p:txBody>
      </p:sp>
      <p:sp>
        <p:nvSpPr>
          <p:cNvPr id="37" name="Shape 31"/>
          <p:cNvSpPr/>
          <p:nvPr/>
        </p:nvSpPr>
        <p:spPr>
          <a:xfrm>
            <a:off x="548640" y="4892040"/>
            <a:ext cx="3931920" cy="1143000"/>
          </a:xfrm>
          <a:prstGeom prst="roundRect">
            <a:avLst>
              <a:gd name="adj" fmla="val 8000"/>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38" name="Text 32"/>
          <p:cNvSpPr txBox="1"/>
          <p:nvPr/>
        </p:nvSpPr>
        <p:spPr>
          <a:xfrm>
            <a:off x="731520" y="5029200"/>
            <a:ext cx="3611880" cy="914400"/>
          </a:xfrm>
          <a:prstGeom prst="rect">
            <a:avLst/>
          </a:prstGeom>
          <a:noFill/>
          <a:ln/>
        </p:spPr>
        <p:txBody>
          <a:bodyPr wrap="square" lIns="0" tIns="0" rIns="0" bIns="0" rtlCol="0" anchor="t"/>
          <a:lstStyle/>
          <a:p>
            <a:pPr indent="0" marL="0">
              <a:buNone/>
            </a:pPr>
            <a:r>
              <a:rPr lang="en-US" sz="1200" b="1" dirty="0">
                <a:solidFill>
                  <a:srgbClr val="C02034"/>
                </a:solidFill>
                <a:latin typeface="Calibri" pitchFamily="34" charset="0"/>
                <a:ea typeface="Calibri" pitchFamily="34" charset="-122"/>
                <a:cs typeface="Calibri" pitchFamily="34" charset="-120"/>
              </a:rPr>
              <a:t>Không còn yêu cầu dùng CVSS </a:t>
            </a:r>
            <a:pPr indent="0" marL="0">
              <a:buNone/>
            </a:pPr>
            <a:r>
              <a:rPr lang="en-US" sz="1200" dirty="0">
                <a:solidFill>
                  <a:srgbClr val="0F172A"/>
                </a:solidFill>
                <a:latin typeface="Calibri" pitchFamily="34" charset="0"/>
                <a:ea typeface="Calibri" pitchFamily="34" charset="-122"/>
                <a:cs typeface="Calibri" pitchFamily="34" charset="-120"/>
              </a:rPr>
              <a:t>để xếp ưu tiên khi thu hồi BOD 19-02 (hướng dẫn thực hiện, 10/06/2026)</a:t>
            </a:r>
            <a:endParaRPr lang="en-US" sz="1200" dirty="0"/>
          </a:p>
        </p:txBody>
      </p:sp>
      <p:sp>
        <p:nvSpPr>
          <p:cNvPr id="39" name="Shape 33"/>
          <p:cNvSpPr/>
          <p:nvPr/>
        </p:nvSpPr>
        <p:spPr>
          <a:xfrm>
            <a:off x="4709160" y="4892040"/>
            <a:ext cx="3931920" cy="1143000"/>
          </a:xfrm>
          <a:prstGeom prst="roundRect">
            <a:avLst>
              <a:gd name="adj" fmla="val 8000"/>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40" name="Text 34"/>
          <p:cNvSpPr txBox="1"/>
          <p:nvPr/>
        </p:nvSpPr>
        <p:spPr>
          <a:xfrm>
            <a:off x="4892040" y="5029200"/>
            <a:ext cx="3611880" cy="914400"/>
          </a:xfrm>
          <a:prstGeom prst="rect">
            <a:avLst/>
          </a:prstGeom>
          <a:noFill/>
          <a:ln/>
        </p:spPr>
        <p:txBody>
          <a:bodyPr wrap="square" lIns="0" tIns="0" rIns="0" bIns="0" rtlCol="0" anchor="t"/>
          <a:lstStyle/>
          <a:p>
            <a:pPr indent="0" marL="0">
              <a:buNone/>
            </a:pPr>
            <a:r>
              <a:rPr lang="en-US" sz="1200" b="1" dirty="0">
                <a:solidFill>
                  <a:srgbClr val="C02034"/>
                </a:solidFill>
                <a:latin typeface="Calibri" pitchFamily="34" charset="0"/>
                <a:ea typeface="Calibri" pitchFamily="34" charset="-122"/>
                <a:cs typeface="Calibri" pitchFamily="34" charset="-120"/>
              </a:rPr>
              <a:t>Chỉ 26% lỗ hổng KEV </a:t>
            </a:r>
            <a:pPr indent="0" marL="0">
              <a:buNone/>
            </a:pPr>
            <a:r>
              <a:rPr lang="en-US" sz="1200" dirty="0">
                <a:solidFill>
                  <a:srgbClr val="0F172A"/>
                </a:solidFill>
                <a:latin typeface="Calibri" pitchFamily="34" charset="0"/>
                <a:ea typeface="Calibri" pitchFamily="34" charset="-122"/>
                <a:cs typeface="Calibri" pitchFamily="34" charset="-120"/>
              </a:rPr>
              <a:t>được khắc phục hoàn toàn năm 2025, giảm từ 38% (Verizon DBIR 2026, CISA dẫn trong blog)</a:t>
            </a:r>
            <a:endParaRPr lang="en-US" sz="12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Công thức S gộp năm nguồn thông tin thành một điểm ưu tiên từ 0 đến 100</a:t>
            </a:r>
            <a:endParaRPr lang="en-US" sz="1800" dirty="0"/>
          </a:p>
        </p:txBody>
      </p:sp>
      <p:sp>
        <p:nvSpPr>
          <p:cNvPr id="3" name="Shape 1"/>
          <p:cNvSpPr/>
          <p:nvPr/>
        </p:nvSpPr>
        <p:spPr>
          <a:xfrm>
            <a:off x="548640" y="1005840"/>
            <a:ext cx="8092440" cy="1234440"/>
          </a:xfrm>
          <a:prstGeom prst="roundRect">
            <a:avLst>
              <a:gd name="adj" fmla="val 7407"/>
            </a:avLst>
          </a:prstGeom>
          <a:solidFill>
            <a:srgbClr val="FDECEE"/>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4" name="Text 2"/>
          <p:cNvSpPr txBox="1"/>
          <p:nvPr/>
        </p:nvSpPr>
        <p:spPr>
          <a:xfrm>
            <a:off x="731520" y="1097280"/>
            <a:ext cx="7726680" cy="685800"/>
          </a:xfrm>
          <a:prstGeom prst="rect">
            <a:avLst/>
          </a:prstGeom>
          <a:noFill/>
          <a:ln/>
        </p:spPr>
        <p:txBody>
          <a:bodyPr wrap="square" lIns="0" tIns="0" rIns="0" bIns="0" rtlCol="0" anchor="ctr"/>
          <a:lstStyle/>
          <a:p>
            <a:pPr algn="ctr" indent="0" marL="0">
              <a:buNone/>
            </a:pPr>
            <a:r>
              <a:rPr lang="en-US" sz="1800" b="1" dirty="0">
                <a:solidFill>
                  <a:srgbClr val="C02034"/>
                </a:solidFill>
                <a:latin typeface="Calibri" pitchFamily="34" charset="0"/>
                <a:ea typeface="Calibri" pitchFamily="34" charset="-122"/>
                <a:cs typeface="Calibri" pitchFamily="34" charset="-120"/>
              </a:rPr>
              <a:t>S = AC × CVSS × [ KEV × PE + (1 - KEV) × ( EA × PE + (1 - EA) × EPSS</a:t>
            </a:r>
            <a:pPr algn="ctr" indent="0" marL="0">
              <a:buNone/>
            </a:pPr>
            <a:r>
              <a:rPr lang="en-US" sz="1800" b="1" baseline="30000" dirty="0">
                <a:solidFill>
                  <a:srgbClr val="C02034"/>
                </a:solidFill>
                <a:latin typeface="Calibri" pitchFamily="34" charset="0"/>
                <a:ea typeface="Calibri" pitchFamily="34" charset="-122"/>
                <a:cs typeface="Calibri" pitchFamily="34" charset="-120"/>
              </a:rPr>
              <a:t>0,3</a:t>
            </a:r>
            <a:pPr algn="ctr" indent="0" marL="0">
              <a:buNone/>
            </a:pPr>
            <a:r>
              <a:rPr lang="en-US" sz="1800" b="1" dirty="0">
                <a:solidFill>
                  <a:srgbClr val="C02034"/>
                </a:solidFill>
                <a:latin typeface="Calibri" pitchFamily="34" charset="0"/>
                <a:ea typeface="Calibri" pitchFamily="34" charset="-122"/>
                <a:cs typeface="Calibri" pitchFamily="34" charset="-120"/>
              </a:rPr>
              <a:t> ) ] × 10</a:t>
            </a:r>
            <a:endParaRPr lang="en-US" sz="1800" dirty="0"/>
          </a:p>
        </p:txBody>
      </p:sp>
      <p:sp>
        <p:nvSpPr>
          <p:cNvPr id="5" name="Text 3"/>
          <p:cNvSpPr txBox="1"/>
          <p:nvPr/>
        </p:nvSpPr>
        <p:spPr>
          <a:xfrm>
            <a:off x="731520" y="1783080"/>
            <a:ext cx="7726680" cy="320040"/>
          </a:xfrm>
          <a:prstGeom prst="rect">
            <a:avLst/>
          </a:prstGeom>
          <a:noFill/>
          <a:ln/>
        </p:spPr>
        <p:txBody>
          <a:bodyPr wrap="square" lIns="0" tIns="0" rIns="0" bIns="0" rtlCol="0" anchor="t"/>
          <a:lstStyle/>
          <a:p>
            <a:pPr algn="ctr" indent="0" marL="0">
              <a:buNone/>
            </a:pPr>
            <a:r>
              <a:rPr lang="en-US" sz="1200" dirty="0">
                <a:solidFill>
                  <a:srgbClr val="334155"/>
                </a:solidFill>
                <a:latin typeface="Calibri" pitchFamily="34" charset="0"/>
                <a:ea typeface="Calibri" pitchFamily="34" charset="-122"/>
                <a:cs typeface="Calibri" pitchFamily="34" charset="-120"/>
              </a:rPr>
              <a:t>Phần trong ngoặc vuông là bộ lọc mối đe dọa T, nhận giá trị từ 0 đến 1</a:t>
            </a:r>
            <a:endParaRPr lang="en-US" sz="1200" dirty="0"/>
          </a:p>
        </p:txBody>
      </p:sp>
      <p:sp>
        <p:nvSpPr>
          <p:cNvPr id="6" name="Shape 4"/>
          <p:cNvSpPr/>
          <p:nvPr/>
        </p:nvSpPr>
        <p:spPr>
          <a:xfrm>
            <a:off x="548640" y="2514600"/>
            <a:ext cx="256032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7" name="Text 5"/>
          <p:cNvSpPr txBox="1"/>
          <p:nvPr/>
        </p:nvSpPr>
        <p:spPr>
          <a:xfrm>
            <a:off x="731520" y="2651760"/>
            <a:ext cx="2194560" cy="411480"/>
          </a:xfrm>
          <a:prstGeom prst="rect">
            <a:avLst/>
          </a:prstGeom>
          <a:noFill/>
          <a:ln/>
        </p:spPr>
        <p:txBody>
          <a:bodyPr wrap="square" lIns="0" tIns="0" rIns="0" bIns="0" rtlCol="0" anchor="t"/>
          <a:lstStyle/>
          <a:p>
            <a:pPr indent="0" marL="0">
              <a:buNone/>
            </a:pPr>
            <a:r>
              <a:rPr lang="en-US" sz="2000" b="1" dirty="0">
                <a:solidFill>
                  <a:srgbClr val="C02034"/>
                </a:solidFill>
                <a:latin typeface="Calibri" pitchFamily="34" charset="0"/>
                <a:ea typeface="Calibri" pitchFamily="34" charset="-122"/>
                <a:cs typeface="Calibri" pitchFamily="34" charset="-120"/>
              </a:rPr>
              <a:t>AC</a:t>
            </a:r>
            <a:endParaRPr lang="en-US" sz="2000" dirty="0"/>
          </a:p>
        </p:txBody>
      </p:sp>
      <p:sp>
        <p:nvSpPr>
          <p:cNvPr id="8" name="Text 6"/>
          <p:cNvSpPr txBox="1"/>
          <p:nvPr/>
        </p:nvSpPr>
        <p:spPr>
          <a:xfrm>
            <a:off x="731520" y="3081528"/>
            <a:ext cx="2194560" cy="36576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Mức quan trọng của tài sản</a:t>
            </a:r>
            <a:endParaRPr lang="en-US" sz="1250" dirty="0"/>
          </a:p>
        </p:txBody>
      </p:sp>
      <p:sp>
        <p:nvSpPr>
          <p:cNvPr id="9" name="Text 7"/>
          <p:cNvSpPr txBox="1"/>
          <p:nvPr/>
        </p:nvSpPr>
        <p:spPr>
          <a:xfrm>
            <a:off x="731520" y="3447288"/>
            <a:ext cx="2194560" cy="50292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0 đến 1, tổ chức tự xác định (CMDB)</a:t>
            </a:r>
            <a:endParaRPr lang="en-US" sz="1100" dirty="0"/>
          </a:p>
        </p:txBody>
      </p:sp>
      <p:sp>
        <p:nvSpPr>
          <p:cNvPr id="10" name="Shape 8"/>
          <p:cNvSpPr/>
          <p:nvPr/>
        </p:nvSpPr>
        <p:spPr>
          <a:xfrm>
            <a:off x="3291840" y="2514600"/>
            <a:ext cx="256032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1" name="Text 9"/>
          <p:cNvSpPr txBox="1"/>
          <p:nvPr/>
        </p:nvSpPr>
        <p:spPr>
          <a:xfrm>
            <a:off x="3474720" y="2651760"/>
            <a:ext cx="2194560" cy="411480"/>
          </a:xfrm>
          <a:prstGeom prst="rect">
            <a:avLst/>
          </a:prstGeom>
          <a:noFill/>
          <a:ln/>
        </p:spPr>
        <p:txBody>
          <a:bodyPr wrap="square" lIns="0" tIns="0" rIns="0" bIns="0" rtlCol="0" anchor="t"/>
          <a:lstStyle/>
          <a:p>
            <a:pPr indent="0" marL="0">
              <a:buNone/>
            </a:pPr>
            <a:r>
              <a:rPr lang="en-US" sz="2000" b="1" dirty="0">
                <a:solidFill>
                  <a:srgbClr val="C02034"/>
                </a:solidFill>
                <a:latin typeface="Calibri" pitchFamily="34" charset="0"/>
                <a:ea typeface="Calibri" pitchFamily="34" charset="-122"/>
                <a:cs typeface="Calibri" pitchFamily="34" charset="-120"/>
              </a:rPr>
              <a:t>CVSS</a:t>
            </a:r>
            <a:endParaRPr lang="en-US" sz="2000" dirty="0"/>
          </a:p>
        </p:txBody>
      </p:sp>
      <p:sp>
        <p:nvSpPr>
          <p:cNvPr id="12" name="Text 10"/>
          <p:cNvSpPr txBox="1"/>
          <p:nvPr/>
        </p:nvSpPr>
        <p:spPr>
          <a:xfrm>
            <a:off x="3474720" y="3081528"/>
            <a:ext cx="2194560" cy="36576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Mức nghiêm trọng kỹ thuật</a:t>
            </a:r>
            <a:endParaRPr lang="en-US" sz="1250" dirty="0"/>
          </a:p>
        </p:txBody>
      </p:sp>
      <p:sp>
        <p:nvSpPr>
          <p:cNvPr id="13" name="Text 11"/>
          <p:cNvSpPr txBox="1"/>
          <p:nvPr/>
        </p:nvSpPr>
        <p:spPr>
          <a:xfrm>
            <a:off x="3474720" y="3447288"/>
            <a:ext cx="2194560" cy="50292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0 đến 10, từ NVD</a:t>
            </a:r>
            <a:endParaRPr lang="en-US" sz="1100" dirty="0"/>
          </a:p>
        </p:txBody>
      </p:sp>
      <p:sp>
        <p:nvSpPr>
          <p:cNvPr id="14" name="Shape 12"/>
          <p:cNvSpPr/>
          <p:nvPr/>
        </p:nvSpPr>
        <p:spPr>
          <a:xfrm>
            <a:off x="6035040" y="2514600"/>
            <a:ext cx="256032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5" name="Text 13"/>
          <p:cNvSpPr txBox="1"/>
          <p:nvPr/>
        </p:nvSpPr>
        <p:spPr>
          <a:xfrm>
            <a:off x="6217920" y="2651760"/>
            <a:ext cx="2194560" cy="411480"/>
          </a:xfrm>
          <a:prstGeom prst="rect">
            <a:avLst/>
          </a:prstGeom>
          <a:noFill/>
          <a:ln/>
        </p:spPr>
        <p:txBody>
          <a:bodyPr wrap="square" lIns="0" tIns="0" rIns="0" bIns="0" rtlCol="0" anchor="t"/>
          <a:lstStyle/>
          <a:p>
            <a:pPr indent="0" marL="0">
              <a:buNone/>
            </a:pPr>
            <a:r>
              <a:rPr lang="en-US" sz="2000" b="1" dirty="0">
                <a:solidFill>
                  <a:srgbClr val="C02034"/>
                </a:solidFill>
                <a:latin typeface="Calibri" pitchFamily="34" charset="0"/>
                <a:ea typeface="Calibri" pitchFamily="34" charset="-122"/>
                <a:cs typeface="Calibri" pitchFamily="34" charset="-120"/>
              </a:rPr>
              <a:t>KEV</a:t>
            </a:r>
            <a:endParaRPr lang="en-US" sz="2000" dirty="0"/>
          </a:p>
        </p:txBody>
      </p:sp>
      <p:sp>
        <p:nvSpPr>
          <p:cNvPr id="16" name="Text 14"/>
          <p:cNvSpPr txBox="1"/>
          <p:nvPr/>
        </p:nvSpPr>
        <p:spPr>
          <a:xfrm>
            <a:off x="6217920" y="3081528"/>
            <a:ext cx="2194560" cy="36576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Đã bị khai thác thực tế</a:t>
            </a:r>
            <a:endParaRPr lang="en-US" sz="1250" dirty="0"/>
          </a:p>
        </p:txBody>
      </p:sp>
      <p:sp>
        <p:nvSpPr>
          <p:cNvPr id="17" name="Text 15"/>
          <p:cNvSpPr txBox="1"/>
          <p:nvPr/>
        </p:nvSpPr>
        <p:spPr>
          <a:xfrm>
            <a:off x="6217920" y="3447288"/>
            <a:ext cx="2194560" cy="50292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1 nếu có trong danh mục KEV</a:t>
            </a:r>
            <a:endParaRPr lang="en-US" sz="1100" dirty="0"/>
          </a:p>
        </p:txBody>
      </p:sp>
      <p:sp>
        <p:nvSpPr>
          <p:cNvPr id="18" name="Shape 16"/>
          <p:cNvSpPr/>
          <p:nvPr/>
        </p:nvSpPr>
        <p:spPr>
          <a:xfrm>
            <a:off x="548640" y="4206240"/>
            <a:ext cx="256032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9" name="Text 17"/>
          <p:cNvSpPr txBox="1"/>
          <p:nvPr/>
        </p:nvSpPr>
        <p:spPr>
          <a:xfrm>
            <a:off x="731520" y="4343400"/>
            <a:ext cx="2194560" cy="411480"/>
          </a:xfrm>
          <a:prstGeom prst="rect">
            <a:avLst/>
          </a:prstGeom>
          <a:noFill/>
          <a:ln/>
        </p:spPr>
        <p:txBody>
          <a:bodyPr wrap="square" lIns="0" tIns="0" rIns="0" bIns="0" rtlCol="0" anchor="t"/>
          <a:lstStyle/>
          <a:p>
            <a:pPr indent="0" marL="0">
              <a:buNone/>
            </a:pPr>
            <a:r>
              <a:rPr lang="en-US" sz="2000" b="1" dirty="0">
                <a:solidFill>
                  <a:srgbClr val="C02034"/>
                </a:solidFill>
                <a:latin typeface="Calibri" pitchFamily="34" charset="0"/>
                <a:ea typeface="Calibri" pitchFamily="34" charset="-122"/>
                <a:cs typeface="Calibri" pitchFamily="34" charset="-120"/>
              </a:rPr>
              <a:t>EA</a:t>
            </a:r>
            <a:endParaRPr lang="en-US" sz="2000" dirty="0"/>
          </a:p>
        </p:txBody>
      </p:sp>
      <p:sp>
        <p:nvSpPr>
          <p:cNvPr id="20" name="Text 18"/>
          <p:cNvSpPr txBox="1"/>
          <p:nvPr/>
        </p:nvSpPr>
        <p:spPr>
          <a:xfrm>
            <a:off x="731520" y="4773168"/>
            <a:ext cx="2194560" cy="36576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Tự động hóa được (BOD 26-04)</a:t>
            </a:r>
            <a:endParaRPr lang="en-US" sz="1250" dirty="0"/>
          </a:p>
        </p:txBody>
      </p:sp>
      <p:sp>
        <p:nvSpPr>
          <p:cNvPr id="21" name="Text 19"/>
          <p:cNvSpPr txBox="1"/>
          <p:nvPr/>
        </p:nvSpPr>
        <p:spPr>
          <a:xfrm>
            <a:off x="731520" y="5138928"/>
            <a:ext cx="2194560" cy="50292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1 nếu Automatable là Yes (Vulnrichment)</a:t>
            </a:r>
            <a:endParaRPr lang="en-US" sz="1100" dirty="0"/>
          </a:p>
        </p:txBody>
      </p:sp>
      <p:sp>
        <p:nvSpPr>
          <p:cNvPr id="22" name="Shape 20"/>
          <p:cNvSpPr/>
          <p:nvPr/>
        </p:nvSpPr>
        <p:spPr>
          <a:xfrm>
            <a:off x="3291840" y="4206240"/>
            <a:ext cx="256032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3" name="Text 21"/>
          <p:cNvSpPr txBox="1"/>
          <p:nvPr/>
        </p:nvSpPr>
        <p:spPr>
          <a:xfrm>
            <a:off x="3474720" y="4343400"/>
            <a:ext cx="2194560" cy="411480"/>
          </a:xfrm>
          <a:prstGeom prst="rect">
            <a:avLst/>
          </a:prstGeom>
          <a:noFill/>
          <a:ln/>
        </p:spPr>
        <p:txBody>
          <a:bodyPr wrap="square" lIns="0" tIns="0" rIns="0" bIns="0" rtlCol="0" anchor="t"/>
          <a:lstStyle/>
          <a:p>
            <a:pPr indent="0" marL="0">
              <a:buNone/>
            </a:pPr>
            <a:r>
              <a:rPr lang="en-US" sz="2000" b="1" dirty="0">
                <a:solidFill>
                  <a:srgbClr val="C02034"/>
                </a:solidFill>
                <a:latin typeface="Calibri" pitchFamily="34" charset="0"/>
                <a:ea typeface="Calibri" pitchFamily="34" charset="-122"/>
                <a:cs typeface="Calibri" pitchFamily="34" charset="-120"/>
              </a:rPr>
              <a:t>PE</a:t>
            </a:r>
            <a:endParaRPr lang="en-US" sz="2000" dirty="0"/>
          </a:p>
        </p:txBody>
      </p:sp>
      <p:sp>
        <p:nvSpPr>
          <p:cNvPr id="24" name="Text 22"/>
          <p:cNvSpPr txBox="1"/>
          <p:nvPr/>
        </p:nvSpPr>
        <p:spPr>
          <a:xfrm>
            <a:off x="3474720" y="4773168"/>
            <a:ext cx="2194560" cy="36576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Phơi ra Internet (BOD 26-04)</a:t>
            </a:r>
            <a:endParaRPr lang="en-US" sz="1250" dirty="0"/>
          </a:p>
        </p:txBody>
      </p:sp>
      <p:sp>
        <p:nvSpPr>
          <p:cNvPr id="25" name="Text 23"/>
          <p:cNvSpPr txBox="1"/>
          <p:nvPr/>
        </p:nvSpPr>
        <p:spPr>
          <a:xfrm>
            <a:off x="3474720" y="5138928"/>
            <a:ext cx="2194560" cy="50292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1 nếu tài sản truy cập được từ Internet</a:t>
            </a:r>
            <a:endParaRPr lang="en-US" sz="1100" dirty="0"/>
          </a:p>
        </p:txBody>
      </p:sp>
      <p:sp>
        <p:nvSpPr>
          <p:cNvPr id="26" name="Shape 24"/>
          <p:cNvSpPr/>
          <p:nvPr/>
        </p:nvSpPr>
        <p:spPr>
          <a:xfrm>
            <a:off x="6035040" y="4206240"/>
            <a:ext cx="2560320" cy="1508760"/>
          </a:xfrm>
          <a:prstGeom prst="roundRect">
            <a:avLst>
              <a:gd name="adj" fmla="val 6061"/>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7" name="Text 25"/>
          <p:cNvSpPr txBox="1"/>
          <p:nvPr/>
        </p:nvSpPr>
        <p:spPr>
          <a:xfrm>
            <a:off x="6217920" y="4343400"/>
            <a:ext cx="2194560" cy="411480"/>
          </a:xfrm>
          <a:prstGeom prst="rect">
            <a:avLst/>
          </a:prstGeom>
          <a:noFill/>
          <a:ln/>
        </p:spPr>
        <p:txBody>
          <a:bodyPr wrap="square" lIns="0" tIns="0" rIns="0" bIns="0" rtlCol="0" anchor="t"/>
          <a:lstStyle/>
          <a:p>
            <a:pPr indent="0" marL="0">
              <a:buNone/>
            </a:pPr>
            <a:r>
              <a:rPr lang="en-US" sz="2000" b="1" dirty="0">
                <a:solidFill>
                  <a:srgbClr val="C02034"/>
                </a:solidFill>
                <a:latin typeface="Calibri" pitchFamily="34" charset="0"/>
                <a:ea typeface="Calibri" pitchFamily="34" charset="-122"/>
                <a:cs typeface="Calibri" pitchFamily="34" charset="-120"/>
              </a:rPr>
              <a:t>EPSS</a:t>
            </a:r>
            <a:endParaRPr lang="en-US" sz="2000" dirty="0"/>
          </a:p>
        </p:txBody>
      </p:sp>
      <p:sp>
        <p:nvSpPr>
          <p:cNvPr id="28" name="Text 26"/>
          <p:cNvSpPr txBox="1"/>
          <p:nvPr/>
        </p:nvSpPr>
        <p:spPr>
          <a:xfrm>
            <a:off x="6217920" y="4773168"/>
            <a:ext cx="2194560" cy="36576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Xác suất bị khai thác trong 30 ngày</a:t>
            </a:r>
            <a:endParaRPr lang="en-US" sz="1250" dirty="0"/>
          </a:p>
        </p:txBody>
      </p:sp>
      <p:sp>
        <p:nvSpPr>
          <p:cNvPr id="29" name="Text 27"/>
          <p:cNvSpPr txBox="1"/>
          <p:nvPr/>
        </p:nvSpPr>
        <p:spPr>
          <a:xfrm>
            <a:off x="6217920" y="5138928"/>
            <a:ext cx="2194560" cy="50292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0 đến 1, từ FIRST</a:t>
            </a:r>
            <a:endParaRPr lang="en-US" sz="11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Bộ lọc mối đe dọa tự rẽ năm nhánh mà không cần câu lệnh điều kiện</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92440" cy="914400"/>
        </p:xfrm>
        <a:graphic>
          <a:graphicData uri="http://schemas.openxmlformats.org/drawingml/2006/table">
            <a:tbl>
              <a:tblPr/>
              <a:tblGrid>
                <a:gridCol w="640080"/>
                <a:gridCol w="960120"/>
                <a:gridCol w="960120"/>
                <a:gridCol w="960120"/>
                <a:gridCol w="4572000"/>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KEV</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EA</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Ý nghĩa</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r>
              <a:tr h="457200">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 hoặc 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l" indent="0" marL="0">
                        <a:buNone/>
                      </a:pPr>
                      <a:r>
                        <a:rPr lang="en-US" sz="1150" dirty="0">
                          <a:solidFill>
                            <a:srgbClr val="0F172A"/>
                          </a:solidFill>
                          <a:latin typeface="Calibri" pitchFamily="34" charset="0"/>
                          <a:ea typeface="Calibri" pitchFamily="34" charset="-122"/>
                          <a:cs typeface="Calibri" pitchFamily="34" charset="-120"/>
                        </a:rPr>
                        <a:t>Đã bị khai thác, tiếp cận được từ Internet: mức cao nhất</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57200">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 hoặc 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72A"/>
                          </a:solidFill>
                          <a:latin typeface="Calibri" pitchFamily="34" charset="0"/>
                          <a:ea typeface="Calibri" pitchFamily="34" charset="-122"/>
                          <a:cs typeface="Calibri" pitchFamily="34" charset="-120"/>
                        </a:rPr>
                        <a:t>Đã bị khai thác nhưng nằm trong mạng nội bộ: hạ ưu tiên, xử lý bằng quy tắc chính sách</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l" indent="0" marL="0">
                        <a:buNone/>
                      </a:pPr>
                      <a:r>
                        <a:rPr lang="en-US" sz="1150" dirty="0">
                          <a:solidFill>
                            <a:srgbClr val="0F172A"/>
                          </a:solidFill>
                          <a:latin typeface="Calibri" pitchFamily="34" charset="0"/>
                          <a:ea typeface="Calibri" pitchFamily="34" charset="-122"/>
                          <a:cs typeface="Calibri" pitchFamily="34" charset="-120"/>
                        </a:rPr>
                        <a:t>Tự động hóa được và phơi ra Internet: mức cao nhất, không chờ EPSS</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57200">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F172A"/>
                          </a:solidFill>
                          <a:latin typeface="Calibri" pitchFamily="34" charset="0"/>
                          <a:ea typeface="Calibri" pitchFamily="34" charset="-122"/>
                          <a:cs typeface="Calibri" pitchFamily="34" charset="-120"/>
                        </a:rPr>
                        <a:t>Tự động hóa được nhưng công cụ quét từ Internet không nhìn thấy</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57200">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 hoặc 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EPSS</a:t>
                      </a:r>
                      <a:r>
                        <a:rPr lang="en-US" sz="1150" b="1" baseline="30000" dirty="0">
                          <a:solidFill>
                            <a:srgbClr val="C02034"/>
                          </a:solidFill>
                          <a:latin typeface="Calibri" pitchFamily="34" charset="0"/>
                          <a:ea typeface="Calibri" pitchFamily="34" charset="-122"/>
                          <a:cs typeface="Calibri" pitchFamily="34" charset="-120"/>
                        </a:rPr>
                        <a:t>0,3</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l" indent="0" marL="0">
                        <a:buNone/>
                      </a:pPr>
                      <a:r>
                        <a:rPr lang="en-US" sz="1150" dirty="0">
                          <a:solidFill>
                            <a:srgbClr val="0F172A"/>
                          </a:solidFill>
                          <a:latin typeface="Calibri" pitchFamily="34" charset="0"/>
                          <a:ea typeface="Calibri" pitchFamily="34" charset="-122"/>
                          <a:cs typeface="Calibri" pitchFamily="34" charset="-120"/>
                        </a:rPr>
                        <a:t>Không tự động hóa được: điểm tăng dần theo EPSS, kể cả trong mạng nội bộ</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4" name="Shape 1"/>
          <p:cNvSpPr/>
          <p:nvPr/>
        </p:nvSpPr>
        <p:spPr>
          <a:xfrm>
            <a:off x="548640" y="4160520"/>
            <a:ext cx="3931920" cy="1828800"/>
          </a:xfrm>
          <a:prstGeom prst="roundRect">
            <a:avLst>
              <a:gd name="adj" fmla="val 5000"/>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5" name="Text 2"/>
          <p:cNvSpPr txBox="1"/>
          <p:nvPr/>
        </p:nvSpPr>
        <p:spPr>
          <a:xfrm>
            <a:off x="731520" y="4297680"/>
            <a:ext cx="356616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VÌ SAO PE KHÔNG NHÂN VỚI EPSS</a:t>
            </a:r>
            <a:endParaRPr lang="en-US" sz="1000" dirty="0"/>
          </a:p>
        </p:txBody>
      </p:sp>
      <p:sp>
        <p:nvSpPr>
          <p:cNvPr id="6" name="Text 3"/>
          <p:cNvSpPr txBox="1"/>
          <p:nvPr/>
        </p:nvSpPr>
        <p:spPr>
          <a:xfrm>
            <a:off x="731520" y="4617720"/>
            <a:ext cx="3611880" cy="128016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EPSS học từ tấn công toàn cầu, gồm cả thư lừa đảo, mối đe dọa nội bộ, VPN. Lỗ hổng trong mạng nội bộ vẫn có thể bị tấn công, nên không để về 0.</a:t>
            </a:r>
            <a:endParaRPr lang="en-US" sz="1200" dirty="0"/>
          </a:p>
        </p:txBody>
      </p:sp>
      <p:sp>
        <p:nvSpPr>
          <p:cNvPr id="7" name="Shape 4"/>
          <p:cNvSpPr/>
          <p:nvPr/>
        </p:nvSpPr>
        <p:spPr>
          <a:xfrm>
            <a:off x="4709160" y="4160520"/>
            <a:ext cx="3931920" cy="1828800"/>
          </a:xfrm>
          <a:prstGeom prst="roundRect">
            <a:avLst>
              <a:gd name="adj" fmla="val 5000"/>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8" name="Text 5"/>
          <p:cNvSpPr txBox="1"/>
          <p:nvPr/>
        </p:nvSpPr>
        <p:spPr>
          <a:xfrm>
            <a:off x="4892040" y="4297680"/>
            <a:ext cx="356616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VÌ SAO SỐ MŨ 0,3</a:t>
            </a:r>
            <a:endParaRPr lang="en-US" sz="1000" dirty="0"/>
          </a:p>
        </p:txBody>
      </p:sp>
      <p:sp>
        <p:nvSpPr>
          <p:cNvPr id="9" name="Text 6"/>
          <p:cNvSpPr txBox="1"/>
          <p:nvPr/>
        </p:nvSpPr>
        <p:spPr>
          <a:xfrm>
            <a:off x="4892040" y="4617720"/>
            <a:ext cx="3611880" cy="128016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Phần lớn EPSS rất nhỏ. Số mũ nén thang mà giữ thứ tự: 0,001 thành 0,13; 0,01 thành 0,25; 0,1 thành 0,50. Thử từ 0,2 đến 1,0 cho kết quả gần như nhau.</a:t>
            </a:r>
            <a:endParaRPr lang="en-US" sz="12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Cùng CVSS 9,0: trên Internet được 90 điểm, trong mạng nội bộ còn 0</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5394960" cy="914400"/>
        </p:xfrm>
        <a:graphic>
          <a:graphicData uri="http://schemas.openxmlformats.org/drawingml/2006/table">
            <a:tbl>
              <a:tblPr/>
              <a:tblGrid>
                <a:gridCol w="411480"/>
                <a:gridCol w="594360"/>
                <a:gridCol w="640080"/>
                <a:gridCol w="502920"/>
                <a:gridCol w="457200"/>
                <a:gridCol w="457200"/>
                <a:gridCol w="777240"/>
                <a:gridCol w="1554480"/>
              </a:tblGrid>
              <a:tr h="438912">
                <a:tc>
                  <a:txBody>
                    <a:bodyPr/>
                    <a:lstStyle/>
                    <a:p>
                      <a:pPr indent="0" marL="0">
                        <a:buNone/>
                      </a:pP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CVSS</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EPSS</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KEV</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EA</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Điểm S</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Quy tắc CSA</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C02034"/>
                    </a:solidFill>
                  </a:tcPr>
                </a:tc>
              </a:tr>
              <a:tr h="438912">
                <a:tc>
                  <a:txBody>
                    <a:bodyPr/>
                    <a:lstStyle/>
                    <a:p>
                      <a:pPr algn="ctr" indent="0" marL="0">
                        <a:buNone/>
                      </a:pPr>
                      <a:r>
                        <a:rPr lang="en-US" sz="1150" b="1" dirty="0">
                          <a:solidFill>
                            <a:srgbClr val="0F172A"/>
                          </a:solidFill>
                          <a:latin typeface="Calibri" pitchFamily="34" charset="0"/>
                          <a:ea typeface="Calibri" pitchFamily="34" charset="-122"/>
                          <a:cs typeface="Calibri" pitchFamily="34" charset="-120"/>
                        </a:rPr>
                        <a:t>A</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9,8</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0,001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Vá trong 48 giờ</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38912">
                <a:tc>
                  <a:txBody>
                    <a:bodyPr/>
                    <a:lstStyle/>
                    <a:p>
                      <a:pPr algn="ctr" indent="0" marL="0">
                        <a:buNone/>
                      </a:pPr>
                      <a:r>
                        <a:rPr lang="en-US" sz="1150" b="1" dirty="0">
                          <a:solidFill>
                            <a:srgbClr val="0F172A"/>
                          </a:solidFill>
                          <a:latin typeface="Calibri" pitchFamily="34" charset="0"/>
                          <a:ea typeface="Calibri" pitchFamily="34" charset="-122"/>
                          <a:cs typeface="Calibri" pitchFamily="34" charset="-120"/>
                        </a:rPr>
                        <a:t>B</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7,5</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0,90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72,7</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Bỏ qua</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38912">
                <a:tc>
                  <a:txBody>
                    <a:bodyPr/>
                    <a:lstStyle/>
                    <a:p>
                      <a:pPr algn="ctr" indent="0" marL="0">
                        <a:buNone/>
                      </a:pPr>
                      <a:r>
                        <a:rPr lang="en-US" sz="1150" b="1" dirty="0">
                          <a:solidFill>
                            <a:srgbClr val="0F172A"/>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6,5</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Bỏ qua</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438912">
                <a:tc>
                  <a:txBody>
                    <a:bodyPr/>
                    <a:lstStyle/>
                    <a:p>
                      <a:pPr algn="ctr" indent="0" marL="0">
                        <a:buNone/>
                      </a:pPr>
                      <a:r>
                        <a:rPr lang="en-US" sz="1150" b="1" dirty="0">
                          <a:solidFill>
                            <a:srgbClr val="0F172A"/>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9,0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90,0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Vá trong 48 giờ</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r>
              <a:tr h="438912">
                <a:tc>
                  <a:txBody>
                    <a:bodyPr/>
                    <a:lstStyle/>
                    <a:p>
                      <a:pPr algn="ctr" indent="0" marL="0">
                        <a:buNone/>
                      </a:pPr>
                      <a:r>
                        <a:rPr lang="en-US" sz="1150" b="1" dirty="0">
                          <a:solidFill>
                            <a:srgbClr val="0F172A"/>
                          </a:solidFill>
                          <a:latin typeface="Calibri" pitchFamily="34" charset="0"/>
                          <a:ea typeface="Calibri" pitchFamily="34" charset="-122"/>
                          <a:cs typeface="Calibri" pitchFamily="34" charset="-120"/>
                        </a:rPr>
                        <a:t>E</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9,0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0,0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Ngoài phạm vi</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DECEE"/>
                    </a:solidFill>
                  </a:tcPr>
                </a:tc>
              </a:tr>
              <a:tr h="438912">
                <a:tc>
                  <a:txBody>
                    <a:bodyPr/>
                    <a:lstStyle/>
                    <a:p>
                      <a:pPr algn="ctr" indent="0" marL="0">
                        <a:buNone/>
                      </a:pPr>
                      <a:r>
                        <a:rPr lang="en-US" sz="1150" b="1" dirty="0">
                          <a:solidFill>
                            <a:srgbClr val="0F172A"/>
                          </a:solidFill>
                          <a:latin typeface="Calibri" pitchFamily="34" charset="0"/>
                          <a:ea typeface="Calibri" pitchFamily="34" charset="-122"/>
                          <a:cs typeface="Calibri" pitchFamily="34" charset="-120"/>
                        </a:rPr>
                        <a:t>F</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8,8</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0,0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Ngoài phạm vi</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38912">
                <a:tc>
                  <a:txBody>
                    <a:bodyPr/>
                    <a:lstStyle/>
                    <a:p>
                      <a:pPr algn="ctr" indent="0" marL="0">
                        <a:buNone/>
                      </a:pPr>
                      <a:r>
                        <a:rPr lang="en-US" sz="1150" b="1" dirty="0">
                          <a:solidFill>
                            <a:srgbClr val="0F172A"/>
                          </a:solidFill>
                          <a:latin typeface="Calibri" pitchFamily="34" charset="0"/>
                          <a:ea typeface="Calibri" pitchFamily="34" charset="-122"/>
                          <a:cs typeface="Calibri" pitchFamily="34" charset="-120"/>
                        </a:rPr>
                        <a:t>G</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7,8</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0,30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b="1" dirty="0">
                          <a:solidFill>
                            <a:srgbClr val="C02034"/>
                          </a:solidFill>
                          <a:latin typeface="Calibri" pitchFamily="34" charset="0"/>
                          <a:ea typeface="Calibri" pitchFamily="34" charset="-122"/>
                          <a:cs typeface="Calibri" pitchFamily="34" charset="-120"/>
                        </a:rPr>
                        <a:t>54,4</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1150" dirty="0">
                          <a:solidFill>
                            <a:srgbClr val="0F172A"/>
                          </a:solidFill>
                          <a:latin typeface="Calibri" pitchFamily="34" charset="0"/>
                          <a:ea typeface="Calibri" pitchFamily="34" charset="-122"/>
                          <a:cs typeface="Calibri" pitchFamily="34" charset="-120"/>
                        </a:rPr>
                        <a:t>Ngoài phạm vi</a:t>
                      </a:r>
                      <a:endParaRPr lang="en-US" sz="1150" dirty="0">
                        <a:latin typeface="Calibri" charset="0"/>
                        <a:ea typeface="Calibri" charset="0"/>
                        <a:cs typeface="Calibri" charset="0"/>
                      </a:endParaRPr>
                    </a:p>
                  </a:txBody>
                  <a:tcPr marL="63500" marR="63500" marT="38100" marB="381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4" name="Text 1"/>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000" dirty="0">
                <a:solidFill>
                  <a:srgbClr val="64748B"/>
                </a:solidFill>
                <a:latin typeface="Calibri" pitchFamily="34" charset="0"/>
                <a:ea typeface="Calibri" pitchFamily="34" charset="-122"/>
                <a:cs typeface="Calibri" pitchFamily="34" charset="-120"/>
              </a:rPr>
              <a:t>Số liệu giả định, AC = 1</a:t>
            </a:r>
            <a:endParaRPr lang="en-US" sz="1000" dirty="0"/>
          </a:p>
        </p:txBody>
      </p:sp>
      <p:sp>
        <p:nvSpPr>
          <p:cNvPr id="5" name="Shape 2"/>
          <p:cNvSpPr/>
          <p:nvPr/>
        </p:nvSpPr>
        <p:spPr>
          <a:xfrm>
            <a:off x="6217920" y="1005840"/>
            <a:ext cx="2423160" cy="4983480"/>
          </a:xfrm>
          <a:prstGeom prst="roundRect">
            <a:avLst>
              <a:gd name="adj" fmla="val 3774"/>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6" name="Text 3"/>
          <p:cNvSpPr txBox="1"/>
          <p:nvPr/>
        </p:nvSpPr>
        <p:spPr>
          <a:xfrm>
            <a:off x="6400800" y="1170432"/>
            <a:ext cx="21031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ĐỌC VÍ DỤ</a:t>
            </a:r>
            <a:endParaRPr lang="en-US" sz="1000" dirty="0"/>
          </a:p>
        </p:txBody>
      </p:sp>
      <p:sp>
        <p:nvSpPr>
          <p:cNvPr id="7" name="Text 4"/>
          <p:cNvSpPr txBox="1"/>
          <p:nvPr/>
        </p:nvSpPr>
        <p:spPr>
          <a:xfrm>
            <a:off x="6400800" y="1508760"/>
            <a:ext cx="2103120" cy="43434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0F172A"/>
                </a:solidFill>
                <a:latin typeface="Calibri" pitchFamily="34" charset="0"/>
                <a:ea typeface="Calibri" pitchFamily="34" charset="-122"/>
                <a:cs typeface="Calibri" pitchFamily="34" charset="-120"/>
              </a:rPr>
              <a:t>D lên đầu vì tự động hóa được và phơi ra Internet; nếu EA = 0 chỉ còn 45,1</a:t>
            </a:r>
            <a:endParaRPr lang="en-US" sz="1150" dirty="0"/>
          </a:p>
          <a:p>
            <a:pPr marL="177800" indent="-177800">
              <a:spcAft>
                <a:spcPts val="500"/>
              </a:spcAft>
              <a:buSzPct val="100000"/>
              <a:buChar char="•"/>
            </a:pPr>
            <a:r>
              <a:rPr lang="en-US" sz="1150" dirty="0">
                <a:solidFill>
                  <a:srgbClr val="0F172A"/>
                </a:solidFill>
                <a:latin typeface="Calibri" pitchFamily="34" charset="0"/>
                <a:ea typeface="Calibri" pitchFamily="34" charset="-122"/>
                <a:cs typeface="Calibri" pitchFamily="34" charset="-120"/>
              </a:rPr>
              <a:t>B xếp thứ hai dù CSA bỏ qua: EPSS 0,90</a:t>
            </a:r>
            <a:endParaRPr lang="en-US" sz="1150" dirty="0"/>
          </a:p>
          <a:p>
            <a:pPr marL="177800" indent="-177800">
              <a:spcAft>
                <a:spcPts val="500"/>
              </a:spcAft>
              <a:buSzPct val="100000"/>
              <a:buChar char="•"/>
            </a:pPr>
            <a:r>
              <a:rPr lang="en-US" sz="1150" dirty="0">
                <a:solidFill>
                  <a:srgbClr val="0F172A"/>
                </a:solidFill>
                <a:latin typeface="Calibri" pitchFamily="34" charset="0"/>
                <a:ea typeface="Calibri" pitchFamily="34" charset="-122"/>
                <a:cs typeface="Calibri" pitchFamily="34" charset="-120"/>
              </a:rPr>
              <a:t>A chỉ 12,3 vì gần như không có tín hiệu khai thác</a:t>
            </a:r>
            <a:endParaRPr lang="en-US" sz="1150" dirty="0"/>
          </a:p>
          <a:p>
            <a:pPr marL="177800" indent="-177800">
              <a:spcAft>
                <a:spcPts val="500"/>
              </a:spcAft>
              <a:buSzPct val="100000"/>
              <a:buChar char="•"/>
            </a:pPr>
            <a:r>
              <a:rPr lang="en-US" sz="1150" dirty="0">
                <a:solidFill>
                  <a:srgbClr val="0F172A"/>
                </a:solidFill>
                <a:latin typeface="Calibri" pitchFamily="34" charset="0"/>
                <a:ea typeface="Calibri" pitchFamily="34" charset="-122"/>
                <a:cs typeface="Calibri" pitchFamily="34" charset="-120"/>
              </a:rPr>
              <a:t>C vào nhóm khẩn cấp nhờ quy tắc KEV dù điểm 65</a:t>
            </a:r>
            <a:endParaRPr lang="en-US" sz="1150" dirty="0"/>
          </a:p>
          <a:p>
            <a:pPr marL="177800" indent="-177800">
              <a:spcAft>
                <a:spcPts val="500"/>
              </a:spcAft>
              <a:buSzPct val="100000"/>
              <a:buChar char="•"/>
            </a:pPr>
            <a:r>
              <a:rPr lang="en-US" sz="1150" dirty="0">
                <a:solidFill>
                  <a:srgbClr val="0F172A"/>
                </a:solidFill>
                <a:latin typeface="Calibri" pitchFamily="34" charset="0"/>
                <a:ea typeface="Calibri" pitchFamily="34" charset="-122"/>
                <a:cs typeface="Calibri" pitchFamily="34" charset="-120"/>
              </a:rPr>
              <a:t>G nội bộ vẫn 54,4 nhờ EPSS</a:t>
            </a:r>
            <a:endParaRPr lang="en-US" sz="11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Kiểm thử ngược chỉ dùng thông tin có tại ngày đánh giá để không nhìn trước đáp án</a:t>
            </a:r>
            <a:endParaRPr lang="en-US" sz="1800" dirty="0"/>
          </a:p>
        </p:txBody>
      </p:sp>
      <p:sp>
        <p:nvSpPr>
          <p:cNvPr id="3" name="Shape 1"/>
          <p:cNvSpPr/>
          <p:nvPr/>
        </p:nvSpPr>
        <p:spPr>
          <a:xfrm>
            <a:off x="548640" y="1051560"/>
            <a:ext cx="1965960" cy="1005840"/>
          </a:xfrm>
          <a:prstGeom prst="chevron">
            <a:avLst/>
          </a:prstGeom>
          <a:solidFill>
            <a:srgbClr val="E8707F"/>
          </a:solidFill>
          <a:ln w="12700">
            <a:solidFill>
              <a:srgbClr val="FFFFFF"/>
            </a:solidFill>
            <a:prstDash val="solid"/>
          </a:ln>
        </p:spPr>
      </p:sp>
      <p:sp>
        <p:nvSpPr>
          <p:cNvPr id="4" name="Text 2"/>
          <p:cNvSpPr txBox="1"/>
          <p:nvPr/>
        </p:nvSpPr>
        <p:spPr>
          <a:xfrm>
            <a:off x="1051560" y="1188720"/>
            <a:ext cx="1051560"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 Chọn ngày T</a:t>
            </a:r>
            <a:endParaRPr lang="en-US" sz="1250" dirty="0"/>
          </a:p>
        </p:txBody>
      </p:sp>
      <p:sp>
        <p:nvSpPr>
          <p:cNvPr id="5" name="Text 3"/>
          <p:cNvSpPr txBox="1"/>
          <p:nvPr/>
        </p:nvSpPr>
        <p:spPr>
          <a:xfrm>
            <a:off x="548640" y="2148840"/>
            <a:ext cx="1920240" cy="68580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trong quá khứ, ví dụ 30/06/2025</a:t>
            </a:r>
            <a:endParaRPr lang="en-US" sz="1100" dirty="0"/>
          </a:p>
        </p:txBody>
      </p:sp>
      <p:sp>
        <p:nvSpPr>
          <p:cNvPr id="6" name="Shape 4"/>
          <p:cNvSpPr/>
          <p:nvPr/>
        </p:nvSpPr>
        <p:spPr>
          <a:xfrm>
            <a:off x="2606040" y="1051560"/>
            <a:ext cx="1965960" cy="1005840"/>
          </a:xfrm>
          <a:prstGeom prst="chevron">
            <a:avLst/>
          </a:prstGeom>
          <a:solidFill>
            <a:srgbClr val="D9485B"/>
          </a:solidFill>
          <a:ln w="12700">
            <a:solidFill>
              <a:srgbClr val="FFFFFF"/>
            </a:solidFill>
            <a:prstDash val="solid"/>
          </a:ln>
        </p:spPr>
      </p:sp>
      <p:sp>
        <p:nvSpPr>
          <p:cNvPr id="7" name="Text 5"/>
          <p:cNvSpPr txBox="1"/>
          <p:nvPr/>
        </p:nvSpPr>
        <p:spPr>
          <a:xfrm>
            <a:off x="3108960" y="1188720"/>
            <a:ext cx="1051560"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 Chấm điểm S</a:t>
            </a:r>
            <a:endParaRPr lang="en-US" sz="1250" dirty="0"/>
          </a:p>
        </p:txBody>
      </p:sp>
      <p:sp>
        <p:nvSpPr>
          <p:cNvPr id="8" name="Text 6"/>
          <p:cNvSpPr txBox="1"/>
          <p:nvPr/>
        </p:nvSpPr>
        <p:spPr>
          <a:xfrm>
            <a:off x="2606040" y="2148840"/>
            <a:ext cx="1920240" cy="68580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bằng EPSS và KEV có tại ngày T</a:t>
            </a:r>
            <a:endParaRPr lang="en-US" sz="1100" dirty="0"/>
          </a:p>
        </p:txBody>
      </p:sp>
      <p:sp>
        <p:nvSpPr>
          <p:cNvPr id="9" name="Shape 7"/>
          <p:cNvSpPr/>
          <p:nvPr/>
        </p:nvSpPr>
        <p:spPr>
          <a:xfrm>
            <a:off x="4663440" y="1051560"/>
            <a:ext cx="1965960" cy="1005840"/>
          </a:xfrm>
          <a:prstGeom prst="chevron">
            <a:avLst/>
          </a:prstGeom>
          <a:solidFill>
            <a:srgbClr val="E8707F"/>
          </a:solidFill>
          <a:ln w="12700">
            <a:solidFill>
              <a:srgbClr val="FFFFFF"/>
            </a:solidFill>
            <a:prstDash val="solid"/>
          </a:ln>
        </p:spPr>
      </p:sp>
      <p:sp>
        <p:nvSpPr>
          <p:cNvPr id="10" name="Text 8"/>
          <p:cNvSpPr txBox="1"/>
          <p:nvPr/>
        </p:nvSpPr>
        <p:spPr>
          <a:xfrm>
            <a:off x="5166360" y="1188720"/>
            <a:ext cx="1051560"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Theo dõi 12 tháng</a:t>
            </a:r>
            <a:endParaRPr lang="en-US" sz="1250" dirty="0"/>
          </a:p>
        </p:txBody>
      </p:sp>
      <p:sp>
        <p:nvSpPr>
          <p:cNvPr id="11" name="Text 9"/>
          <p:cNvSpPr txBox="1"/>
          <p:nvPr/>
        </p:nvSpPr>
        <p:spPr>
          <a:xfrm>
            <a:off x="4663440" y="2148840"/>
            <a:ext cx="1920240" cy="68580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nào thực sự vào KEV</a:t>
            </a:r>
            <a:endParaRPr lang="en-US" sz="1100" dirty="0"/>
          </a:p>
        </p:txBody>
      </p:sp>
      <p:sp>
        <p:nvSpPr>
          <p:cNvPr id="12" name="Shape 10"/>
          <p:cNvSpPr/>
          <p:nvPr/>
        </p:nvSpPr>
        <p:spPr>
          <a:xfrm>
            <a:off x="6720840" y="1051560"/>
            <a:ext cx="1965960" cy="1005840"/>
          </a:xfrm>
          <a:prstGeom prst="chevron">
            <a:avLst/>
          </a:prstGeom>
          <a:solidFill>
            <a:srgbClr val="C02034"/>
          </a:solidFill>
          <a:ln w="12700">
            <a:solidFill>
              <a:srgbClr val="FFFFFF"/>
            </a:solidFill>
            <a:prstDash val="solid"/>
          </a:ln>
        </p:spPr>
      </p:sp>
      <p:sp>
        <p:nvSpPr>
          <p:cNvPr id="13" name="Text 11"/>
          <p:cNvSpPr txBox="1"/>
          <p:nvPr/>
        </p:nvSpPr>
        <p:spPr>
          <a:xfrm>
            <a:off x="7223760" y="1188720"/>
            <a:ext cx="1051560"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 So sánh</a:t>
            </a:r>
            <a:endParaRPr lang="en-US" sz="1250" dirty="0"/>
          </a:p>
        </p:txBody>
      </p:sp>
      <p:sp>
        <p:nvSpPr>
          <p:cNvPr id="14" name="Text 12"/>
          <p:cNvSpPr txBox="1"/>
          <p:nvPr/>
        </p:nvSpPr>
        <p:spPr>
          <a:xfrm>
            <a:off x="6720840" y="2148840"/>
            <a:ext cx="1920240" cy="68580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với CVSS, EPSS, quy tắc CSA khi cùng khối lượng vá</a:t>
            </a:r>
            <a:endParaRPr lang="en-US" sz="1100" dirty="0"/>
          </a:p>
        </p:txBody>
      </p:sp>
      <p:sp>
        <p:nvSpPr>
          <p:cNvPr id="15" name="Shape 13"/>
          <p:cNvSpPr/>
          <p:nvPr/>
        </p:nvSpPr>
        <p:spPr>
          <a:xfrm>
            <a:off x="548640" y="3017520"/>
            <a:ext cx="3931920" cy="2971800"/>
          </a:xfrm>
          <a:prstGeom prst="roundRect">
            <a:avLst>
              <a:gd name="adj" fmla="val 3077"/>
            </a:avLst>
          </a:prstGeom>
          <a:solidFill>
            <a:srgbClr val="FDECEE"/>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6" name="Text 14"/>
          <p:cNvSpPr txBox="1"/>
          <p:nvPr/>
        </p:nvSpPr>
        <p:spPr>
          <a:xfrm>
            <a:off x="731520" y="3154680"/>
            <a:ext cx="3566160" cy="237744"/>
          </a:xfrm>
          <a:prstGeom prst="rect">
            <a:avLst/>
          </a:prstGeom>
          <a:noFill/>
          <a:ln/>
        </p:spPr>
        <p:txBody>
          <a:bodyPr wrap="square" lIns="0" tIns="0" rIns="0" bIns="0" rtlCol="0" anchor="ctr"/>
          <a:lstStyle/>
          <a:p>
            <a:pPr indent="0" marL="0">
              <a:buNone/>
            </a:pPr>
            <a:r>
              <a:rPr lang="en-US" sz="1000" b="1" spc="100" kern="0" dirty="0">
                <a:solidFill>
                  <a:srgbClr val="C02034"/>
                </a:solidFill>
                <a:latin typeface="Calibri" pitchFamily="34" charset="0"/>
                <a:ea typeface="Calibri" pitchFamily="34" charset="-122"/>
                <a:cs typeface="Calibri" pitchFamily="34" charset="-120"/>
              </a:rPr>
              <a:t>PHẠM VI ĐÃ KIỂM CHỨNG</a:t>
            </a:r>
            <a:endParaRPr lang="en-US" sz="1000" dirty="0"/>
          </a:p>
        </p:txBody>
      </p:sp>
      <p:sp>
        <p:nvSpPr>
          <p:cNvPr id="17" name="Text 15"/>
          <p:cNvSpPr txBox="1"/>
          <p:nvPr/>
        </p:nvSpPr>
        <p:spPr>
          <a:xfrm>
            <a:off x="731520" y="3474720"/>
            <a:ext cx="3611880" cy="5486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S0 = AC × CVSS × [ KEV + (1 - KEV) × EPSS</a:t>
            </a:r>
            <a:pPr indent="0" marL="0">
              <a:buNone/>
            </a:pPr>
            <a:r>
              <a:rPr lang="en-US" sz="1250" b="1" baseline="30000" dirty="0">
                <a:solidFill>
                  <a:srgbClr val="0F172A"/>
                </a:solidFill>
                <a:latin typeface="Calibri" pitchFamily="34" charset="0"/>
                <a:ea typeface="Calibri" pitchFamily="34" charset="-122"/>
                <a:cs typeface="Calibri" pitchFamily="34" charset="-120"/>
              </a:rPr>
              <a:t>0,3</a:t>
            </a:r>
            <a:pPr indent="0" marL="0">
              <a:buNone/>
            </a:pPr>
            <a:r>
              <a:rPr lang="en-US" sz="1250" b="1" dirty="0">
                <a:solidFill>
                  <a:srgbClr val="0F172A"/>
                </a:solidFill>
                <a:latin typeface="Calibri" pitchFamily="34" charset="0"/>
                <a:ea typeface="Calibri" pitchFamily="34" charset="-122"/>
                <a:cs typeface="Calibri" pitchFamily="34" charset="-120"/>
              </a:rPr>
              <a:t> ] × 10</a:t>
            </a:r>
            <a:endParaRPr lang="en-US" sz="1250" dirty="0"/>
          </a:p>
        </p:txBody>
      </p:sp>
      <p:sp>
        <p:nvSpPr>
          <p:cNvPr id="18" name="Text 16"/>
          <p:cNvSpPr txBox="1"/>
          <p:nvPr/>
        </p:nvSpPr>
        <p:spPr>
          <a:xfrm>
            <a:off x="731520" y="4069080"/>
            <a:ext cx="3611880" cy="182880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Dạng rút gọn khi PE = 1 (đúng phạm vi CSA) và EA = 0; thực nghiệm đặt AC = 1. EA, PE, AC chưa có dữ liệu công khai đủ để kiểm chứng.</a:t>
            </a:r>
            <a:endParaRPr lang="en-US" sz="1200" dirty="0"/>
          </a:p>
        </p:txBody>
      </p:sp>
      <p:sp>
        <p:nvSpPr>
          <p:cNvPr id="19" name="Shape 17"/>
          <p:cNvSpPr/>
          <p:nvPr/>
        </p:nvSpPr>
        <p:spPr>
          <a:xfrm>
            <a:off x="4709160" y="3017520"/>
            <a:ext cx="3931920" cy="2971800"/>
          </a:xfrm>
          <a:prstGeom prst="roundRect">
            <a:avLst>
              <a:gd name="adj" fmla="val 307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0" name="Text 18"/>
          <p:cNvSpPr txBox="1"/>
          <p:nvPr/>
        </p:nvSpPr>
        <p:spPr>
          <a:xfrm>
            <a:off x="4892040" y="3154680"/>
            <a:ext cx="356616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QUY MÔ KIỂM CHỨNG</a:t>
            </a:r>
            <a:endParaRPr lang="en-US" sz="1000" dirty="0"/>
          </a:p>
        </p:txBody>
      </p:sp>
      <p:sp>
        <p:nvSpPr>
          <p:cNvPr id="21" name="Text 19"/>
          <p:cNvSpPr txBox="1"/>
          <p:nvPr/>
        </p:nvSpPr>
        <p:spPr>
          <a:xfrm>
            <a:off x="4892040" y="3474720"/>
            <a:ext cx="1737360" cy="502920"/>
          </a:xfrm>
          <a:prstGeom prst="rect">
            <a:avLst/>
          </a:prstGeom>
          <a:noFill/>
          <a:ln/>
        </p:spPr>
        <p:txBody>
          <a:bodyPr wrap="square" lIns="0" tIns="0" rIns="0" bIns="0" rtlCol="0" anchor="ctr"/>
          <a:lstStyle/>
          <a:p>
            <a:pPr indent="0" marL="0">
              <a:buNone/>
            </a:pPr>
            <a:r>
              <a:rPr lang="en-US" sz="2600" b="1" dirty="0">
                <a:solidFill>
                  <a:srgbClr val="C02034"/>
                </a:solidFill>
                <a:latin typeface="Calibri" pitchFamily="34" charset="0"/>
                <a:ea typeface="Calibri" pitchFamily="34" charset="-122"/>
                <a:cs typeface="Calibri" pitchFamily="34" charset="-120"/>
              </a:rPr>
              <a:t>7</a:t>
            </a:r>
            <a:endParaRPr lang="en-US" sz="2600" dirty="0"/>
          </a:p>
        </p:txBody>
      </p:sp>
      <p:sp>
        <p:nvSpPr>
          <p:cNvPr id="22" name="Text 20"/>
          <p:cNvSpPr txBox="1"/>
          <p:nvPr/>
        </p:nvSpPr>
        <p:spPr>
          <a:xfrm>
            <a:off x="4892040" y="4005072"/>
            <a:ext cx="173736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thực nghiệm, từ thống kê ngưỡng tới tình huống điển hình</a:t>
            </a:r>
            <a:endParaRPr lang="en-US" sz="1100" dirty="0"/>
          </a:p>
        </p:txBody>
      </p:sp>
      <p:sp>
        <p:nvSpPr>
          <p:cNvPr id="23" name="Text 21"/>
          <p:cNvSpPr txBox="1"/>
          <p:nvPr/>
        </p:nvSpPr>
        <p:spPr>
          <a:xfrm>
            <a:off x="6720840" y="3474720"/>
            <a:ext cx="1783080" cy="502920"/>
          </a:xfrm>
          <a:prstGeom prst="rect">
            <a:avLst/>
          </a:prstGeom>
          <a:noFill/>
          <a:ln/>
        </p:spPr>
        <p:txBody>
          <a:bodyPr wrap="square" lIns="0" tIns="0" rIns="0" bIns="0" rtlCol="0" anchor="ctr"/>
          <a:lstStyle/>
          <a:p>
            <a:pPr indent="0" marL="0">
              <a:buNone/>
            </a:pPr>
            <a:r>
              <a:rPr lang="en-US" sz="2600" b="1" dirty="0">
                <a:solidFill>
                  <a:srgbClr val="C02034"/>
                </a:solidFill>
                <a:latin typeface="Calibri" pitchFamily="34" charset="0"/>
                <a:ea typeface="Calibri" pitchFamily="34" charset="-122"/>
                <a:cs typeface="Calibri" pitchFamily="34" charset="-120"/>
              </a:rPr>
              <a:t>11</a:t>
            </a:r>
            <a:endParaRPr lang="en-US" sz="2600" dirty="0"/>
          </a:p>
        </p:txBody>
      </p:sp>
      <p:sp>
        <p:nvSpPr>
          <p:cNvPr id="24" name="Text 22"/>
          <p:cNvSpPr txBox="1"/>
          <p:nvPr/>
        </p:nvSpPr>
        <p:spPr>
          <a:xfrm>
            <a:off x="6720840" y="4005072"/>
            <a:ext cx="178308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ngày đánh giá cuối quý, 03/2023 đến 09/2025</a:t>
            </a:r>
            <a:endParaRPr lang="en-US" sz="1100" dirty="0"/>
          </a:p>
        </p:txBody>
      </p:sp>
      <p:sp>
        <p:nvSpPr>
          <p:cNvPr id="25" name="Text 23"/>
          <p:cNvSpPr txBox="1"/>
          <p:nvPr/>
        </p:nvSpPr>
        <p:spPr>
          <a:xfrm>
            <a:off x="4892040" y="4754880"/>
            <a:ext cx="1737360" cy="502920"/>
          </a:xfrm>
          <a:prstGeom prst="rect">
            <a:avLst/>
          </a:prstGeom>
          <a:noFill/>
          <a:ln/>
        </p:spPr>
        <p:txBody>
          <a:bodyPr wrap="square" lIns="0" tIns="0" rIns="0" bIns="0" rtlCol="0" anchor="ctr"/>
          <a:lstStyle/>
          <a:p>
            <a:pPr indent="0" marL="0">
              <a:buNone/>
            </a:pPr>
            <a:r>
              <a:rPr lang="en-US" sz="2600" b="1" dirty="0">
                <a:solidFill>
                  <a:srgbClr val="C02034"/>
                </a:solidFill>
                <a:latin typeface="Calibri" pitchFamily="34" charset="0"/>
                <a:ea typeface="Calibri" pitchFamily="34" charset="-122"/>
                <a:cs typeface="Calibri" pitchFamily="34" charset="-120"/>
              </a:rPr>
              <a:t>1.000</a:t>
            </a:r>
            <a:endParaRPr lang="en-US" sz="2600" dirty="0"/>
          </a:p>
        </p:txBody>
      </p:sp>
      <p:sp>
        <p:nvSpPr>
          <p:cNvPr id="26" name="Text 24"/>
          <p:cNvSpPr txBox="1"/>
          <p:nvPr/>
        </p:nvSpPr>
        <p:spPr>
          <a:xfrm>
            <a:off x="4892040" y="5285232"/>
            <a:ext cx="173736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lần lấy mẫu bootstrap cho khoảng tin cậy 95%</a:t>
            </a:r>
            <a:endParaRPr lang="en-US" sz="1100" dirty="0"/>
          </a:p>
        </p:txBody>
      </p:sp>
      <p:sp>
        <p:nvSpPr>
          <p:cNvPr id="27" name="Text 25"/>
          <p:cNvSpPr txBox="1"/>
          <p:nvPr/>
        </p:nvSpPr>
        <p:spPr>
          <a:xfrm>
            <a:off x="6720840" y="4754880"/>
            <a:ext cx="1783080" cy="502920"/>
          </a:xfrm>
          <a:prstGeom prst="rect">
            <a:avLst/>
          </a:prstGeom>
          <a:noFill/>
          <a:ln/>
        </p:spPr>
        <p:txBody>
          <a:bodyPr wrap="square" lIns="0" tIns="0" rIns="0" bIns="0" rtlCol="0" anchor="ctr"/>
          <a:lstStyle/>
          <a:p>
            <a:pPr indent="0" marL="0">
              <a:buNone/>
            </a:pPr>
            <a:r>
              <a:rPr lang="en-US" sz="2600" b="1" dirty="0">
                <a:solidFill>
                  <a:srgbClr val="C02034"/>
                </a:solidFill>
                <a:latin typeface="Calibri" pitchFamily="34" charset="0"/>
                <a:ea typeface="Calibri" pitchFamily="34" charset="-122"/>
                <a:cs typeface="Calibri" pitchFamily="34" charset="-120"/>
              </a:rPr>
              <a:t>836</a:t>
            </a:r>
            <a:endParaRPr lang="en-US" sz="2600" dirty="0"/>
          </a:p>
        </p:txBody>
      </p:sp>
      <p:sp>
        <p:nvSpPr>
          <p:cNvPr id="28" name="Text 26"/>
          <p:cNvSpPr txBox="1"/>
          <p:nvPr/>
        </p:nvSpPr>
        <p:spPr>
          <a:xfrm>
            <a:off x="6720840" y="5285232"/>
            <a:ext cx="178308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vào KEV từ 01/04/2023 cho phép thử trước KEV</a:t>
            </a:r>
            <a:endParaRPr lang="en-US" sz="11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Điểm S càng cao càng dễ bị khai thác: mức từ 70 gấp khoảng 28 lần trung bình</a:t>
            </a:r>
            <a:endParaRPr lang="en-US" sz="1800" dirty="0"/>
          </a:p>
        </p:txBody>
      </p:sp>
      <p:sp>
        <p:nvSpPr>
          <p:cNvPr id="3" name="Shape 1"/>
          <p:cNvSpPr/>
          <p:nvPr/>
        </p:nvSpPr>
        <p:spPr>
          <a:xfrm>
            <a:off x="548640" y="960120"/>
            <a:ext cx="5486400" cy="5074920"/>
          </a:xfrm>
          <a:prstGeom prst="roundRect">
            <a:avLst>
              <a:gd name="adj" fmla="val 180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graphicFrame>
        <p:nvGraphicFramePr>
          <p:cNvPr id="4" name="Chart 0" descr=""/>
          <p:cNvGraphicFramePr/>
          <p:nvPr/>
        </p:nvGraphicFramePr>
        <p:xfrm>
          <a:off x="685800" y="1051560"/>
          <a:ext cx="5212080" cy="48463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309360" y="1097280"/>
            <a:ext cx="23317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1,34%</a:t>
            </a:r>
            <a:endParaRPr lang="en-US" sz="3000" dirty="0"/>
          </a:p>
        </p:txBody>
      </p:sp>
      <p:sp>
        <p:nvSpPr>
          <p:cNvPr id="6" name="Text 3"/>
          <p:cNvSpPr txBox="1"/>
          <p:nvPr/>
        </p:nvSpPr>
        <p:spPr>
          <a:xfrm>
            <a:off x="6309360" y="1627632"/>
            <a:ext cx="2331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số lỗ hổng chưa có trong KEV đạt S từ 70 (2.803 / 209.623)</a:t>
            </a:r>
            <a:endParaRPr lang="en-US" sz="1100" dirty="0"/>
          </a:p>
        </p:txBody>
      </p:sp>
      <p:sp>
        <p:nvSpPr>
          <p:cNvPr id="7" name="Text 4"/>
          <p:cNvSpPr txBox="1"/>
          <p:nvPr/>
        </p:nvSpPr>
        <p:spPr>
          <a:xfrm>
            <a:off x="6309360" y="2468880"/>
            <a:ext cx="23317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37,36%</a:t>
            </a:r>
            <a:endParaRPr lang="en-US" sz="3000" dirty="0"/>
          </a:p>
        </p:txBody>
      </p:sp>
      <p:sp>
        <p:nvSpPr>
          <p:cNvPr id="8" name="Text 5"/>
          <p:cNvSpPr txBox="1"/>
          <p:nvPr/>
        </p:nvSpPr>
        <p:spPr>
          <a:xfrm>
            <a:off x="6309360" y="2999232"/>
            <a:ext cx="2331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sắp bị khai thác nằm trong nhóm này (34 / 91)</a:t>
            </a:r>
            <a:endParaRPr lang="en-US" sz="1100" dirty="0"/>
          </a:p>
        </p:txBody>
      </p:sp>
      <p:sp>
        <p:nvSpPr>
          <p:cNvPr id="9" name="Text 6"/>
          <p:cNvSpPr txBox="1"/>
          <p:nvPr/>
        </p:nvSpPr>
        <p:spPr>
          <a:xfrm>
            <a:off x="6309360" y="3840480"/>
            <a:ext cx="2331720" cy="502920"/>
          </a:xfrm>
          <a:prstGeom prst="rect">
            <a:avLst/>
          </a:prstGeom>
          <a:noFill/>
          <a:ln/>
        </p:spPr>
        <p:txBody>
          <a:bodyPr wrap="square" lIns="0" tIns="0" rIns="0" bIns="0" rtlCol="0" anchor="ctr"/>
          <a:lstStyle/>
          <a:p>
            <a:pPr indent="0" marL="0">
              <a:buNone/>
            </a:pPr>
            <a:r>
              <a:rPr lang="en-US" sz="3000" b="1" dirty="0">
                <a:solidFill>
                  <a:srgbClr val="334155"/>
                </a:solidFill>
                <a:latin typeface="Calibri" pitchFamily="34" charset="0"/>
                <a:ea typeface="Calibri" pitchFamily="34" charset="-122"/>
                <a:cs typeface="Calibri" pitchFamily="34" charset="-120"/>
              </a:rPr>
              <a:t>0,043%</a:t>
            </a:r>
            <a:endParaRPr lang="en-US" sz="3000" dirty="0"/>
          </a:p>
        </p:txBody>
      </p:sp>
      <p:sp>
        <p:nvSpPr>
          <p:cNvPr id="10" name="Text 7"/>
          <p:cNvSpPr txBox="1"/>
          <p:nvPr/>
        </p:nvSpPr>
        <p:spPr>
          <a:xfrm>
            <a:off x="6309360" y="4370832"/>
            <a:ext cx="2331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tỷ lệ vào KEV trung bình của 209.623 lỗ hổng</a:t>
            </a:r>
            <a:endParaRPr lang="en-US" sz="1100" dirty="0"/>
          </a:p>
        </p:txBody>
      </p:sp>
      <p:sp>
        <p:nvSpPr>
          <p:cNvPr id="11" name="Text 8"/>
          <p:cNvSpPr txBox="1"/>
          <p:nvPr/>
        </p:nvSpPr>
        <p:spPr>
          <a:xfrm>
            <a:off x="6309360" y="5257800"/>
            <a:ext cx="2331720" cy="685800"/>
          </a:xfrm>
          <a:prstGeom prst="rect">
            <a:avLst/>
          </a:prstGeom>
          <a:noFill/>
          <a:ln/>
        </p:spPr>
        <p:txBody>
          <a:bodyPr wrap="square" lIns="0" tIns="0" rIns="0" bIns="0" rtlCol="0" anchor="t"/>
          <a:lstStyle/>
          <a:p>
            <a:pPr indent="0" marL="0">
              <a:buNone/>
            </a:pPr>
            <a:r>
              <a:rPr lang="en-US" sz="1200" b="1" dirty="0">
                <a:solidFill>
                  <a:srgbClr val="334155"/>
                </a:solidFill>
                <a:latin typeface="Calibri" pitchFamily="34" charset="0"/>
                <a:ea typeface="Calibri" pitchFamily="34" charset="-122"/>
                <a:cs typeface="Calibri" pitchFamily="34" charset="-120"/>
              </a:rPr>
              <a:t>Dưới 30 điểm: chỉ 0,01% đến 0,03%.</a:t>
            </a:r>
            <a:endParaRPr lang="en-US" sz="12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Khi chỉ vá 1% đến 5% số lỗ hổng, S bắt được nhiều gấp 2,7 đến 8,9 lần xếp theo CVSS</a:t>
            </a:r>
            <a:endParaRPr lang="en-US" sz="1800" dirty="0"/>
          </a:p>
        </p:txBody>
      </p:sp>
      <p:sp>
        <p:nvSpPr>
          <p:cNvPr id="3" name="Shape 1"/>
          <p:cNvSpPr/>
          <p:nvPr/>
        </p:nvSpPr>
        <p:spPr>
          <a:xfrm>
            <a:off x="548640" y="960120"/>
            <a:ext cx="5486400" cy="5074920"/>
          </a:xfrm>
          <a:prstGeom prst="roundRect">
            <a:avLst>
              <a:gd name="adj" fmla="val 180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graphicFrame>
        <p:nvGraphicFramePr>
          <p:cNvPr id="4" name="Chart 0" descr=""/>
          <p:cNvGraphicFramePr/>
          <p:nvPr/>
        </p:nvGraphicFramePr>
        <p:xfrm>
          <a:off x="685800" y="1051560"/>
          <a:ext cx="5212080" cy="4846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263640" y="960120"/>
            <a:ext cx="2377440" cy="1554480"/>
          </a:xfrm>
          <a:prstGeom prst="roundRect">
            <a:avLst>
              <a:gd name="adj" fmla="val 5882"/>
            </a:avLst>
          </a:prstGeom>
          <a:solidFill>
            <a:srgbClr val="FDECEE"/>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6" name="Text 3"/>
          <p:cNvSpPr txBox="1"/>
          <p:nvPr/>
        </p:nvSpPr>
        <p:spPr>
          <a:xfrm>
            <a:off x="6446520" y="1097280"/>
            <a:ext cx="2103120" cy="237744"/>
          </a:xfrm>
          <a:prstGeom prst="rect">
            <a:avLst/>
          </a:prstGeom>
          <a:noFill/>
          <a:ln/>
        </p:spPr>
        <p:txBody>
          <a:bodyPr wrap="square" lIns="0" tIns="0" rIns="0" bIns="0" rtlCol="0" anchor="ctr"/>
          <a:lstStyle/>
          <a:p>
            <a:pPr indent="0" marL="0">
              <a:buNone/>
            </a:pPr>
            <a:r>
              <a:rPr lang="en-US" sz="1000" b="1" spc="100" kern="0" dirty="0">
                <a:solidFill>
                  <a:srgbClr val="C02034"/>
                </a:solidFill>
                <a:latin typeface="Calibri" pitchFamily="34" charset="0"/>
                <a:ea typeface="Calibri" pitchFamily="34" charset="-122"/>
                <a:cs typeface="Calibri" pitchFamily="34" charset="-120"/>
              </a:rPr>
              <a:t>ĐÃ CHỨNG MINH</a:t>
            </a:r>
            <a:endParaRPr lang="en-US" sz="1000" dirty="0"/>
          </a:p>
        </p:txBody>
      </p:sp>
      <p:sp>
        <p:nvSpPr>
          <p:cNvPr id="7" name="Text 4"/>
          <p:cNvSpPr txBox="1"/>
          <p:nvPr/>
        </p:nvSpPr>
        <p:spPr>
          <a:xfrm>
            <a:off x="6446520" y="1371600"/>
            <a:ext cx="2057400" cy="1097280"/>
          </a:xfrm>
          <a:prstGeom prst="rect">
            <a:avLst/>
          </a:prstGeom>
          <a:noFill/>
          <a:ln/>
        </p:spPr>
        <p:txBody>
          <a:bodyPr wrap="square" lIns="0" tIns="0" rIns="0" bIns="0" rtlCol="0" anchor="t"/>
          <a:lstStyle/>
          <a:p>
            <a:pPr indent="0" marL="0">
              <a:buNone/>
            </a:pPr>
            <a:r>
              <a:rPr lang="en-US" sz="1150" dirty="0">
                <a:solidFill>
                  <a:srgbClr val="0F172A"/>
                </a:solidFill>
                <a:latin typeface="Calibri" pitchFamily="34" charset="0"/>
                <a:ea typeface="Calibri" pitchFamily="34" charset="-122"/>
                <a:cs typeface="Calibri" pitchFamily="34" charset="-120"/>
              </a:rPr>
              <a:t>Vá 1% hoặc 5%: S hơn CVSS ở cả 11 ngày; khoảng tin cậy nằm hoàn toàn trên 0</a:t>
            </a:r>
            <a:endParaRPr lang="en-US" sz="1150" dirty="0"/>
          </a:p>
        </p:txBody>
      </p:sp>
      <p:sp>
        <p:nvSpPr>
          <p:cNvPr id="8" name="Shape 5"/>
          <p:cNvSpPr/>
          <p:nvPr/>
        </p:nvSpPr>
        <p:spPr>
          <a:xfrm>
            <a:off x="6263640" y="2697480"/>
            <a:ext cx="2377440" cy="1554480"/>
          </a:xfrm>
          <a:prstGeom prst="roundRect">
            <a:avLst>
              <a:gd name="adj" fmla="val 5882"/>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9" name="Text 6"/>
          <p:cNvSpPr txBox="1"/>
          <p:nvPr/>
        </p:nvSpPr>
        <p:spPr>
          <a:xfrm>
            <a:off x="6446520" y="2834640"/>
            <a:ext cx="21031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CHƯA ỔN ĐỊNH</a:t>
            </a:r>
            <a:endParaRPr lang="en-US" sz="1000" dirty="0"/>
          </a:p>
        </p:txBody>
      </p:sp>
      <p:sp>
        <p:nvSpPr>
          <p:cNvPr id="10" name="Text 7"/>
          <p:cNvSpPr txBox="1"/>
          <p:nvPr/>
        </p:nvSpPr>
        <p:spPr>
          <a:xfrm>
            <a:off x="6446520" y="3108960"/>
            <a:ext cx="2057400" cy="1097280"/>
          </a:xfrm>
          <a:prstGeom prst="rect">
            <a:avLst/>
          </a:prstGeom>
          <a:noFill/>
          <a:ln/>
        </p:spPr>
        <p:txBody>
          <a:bodyPr wrap="square" lIns="0" tIns="0" rIns="0" bIns="0" rtlCol="0" anchor="t"/>
          <a:lstStyle/>
          <a:p>
            <a:pPr indent="0" marL="0">
              <a:buNone/>
            </a:pPr>
            <a:r>
              <a:rPr lang="en-US" sz="1150" dirty="0">
                <a:solidFill>
                  <a:srgbClr val="0F172A"/>
                </a:solidFill>
                <a:latin typeface="Calibri" pitchFamily="34" charset="0"/>
                <a:ea typeface="Calibri" pitchFamily="34" charset="-122"/>
                <a:cs typeface="Calibri" pitchFamily="34" charset="-120"/>
              </a:rPr>
              <a:t>Bằng khối lượng CSA: hơn CVSS 2 trên 3 ngày; giả thuyết H1 chưa đạt</a:t>
            </a:r>
            <a:endParaRPr lang="en-US" sz="1150" dirty="0"/>
          </a:p>
        </p:txBody>
      </p:sp>
      <p:sp>
        <p:nvSpPr>
          <p:cNvPr id="11" name="Shape 8"/>
          <p:cNvSpPr/>
          <p:nvPr/>
        </p:nvSpPr>
        <p:spPr>
          <a:xfrm>
            <a:off x="6263640" y="4434840"/>
            <a:ext cx="2377440" cy="1600200"/>
          </a:xfrm>
          <a:prstGeom prst="roundRect">
            <a:avLst>
              <a:gd name="adj" fmla="val 5714"/>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2" name="Text 9"/>
          <p:cNvSpPr txBox="1"/>
          <p:nvPr/>
        </p:nvSpPr>
        <p:spPr>
          <a:xfrm>
            <a:off x="6446520" y="4572000"/>
            <a:ext cx="21031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SO VỚI EPSS</a:t>
            </a:r>
            <a:endParaRPr lang="en-US" sz="1000" dirty="0"/>
          </a:p>
        </p:txBody>
      </p:sp>
      <p:sp>
        <p:nvSpPr>
          <p:cNvPr id="13" name="Text 10"/>
          <p:cNvSpPr txBox="1"/>
          <p:nvPr/>
        </p:nvSpPr>
        <p:spPr>
          <a:xfrm>
            <a:off x="6446520" y="4846320"/>
            <a:ext cx="2057400" cy="1143000"/>
          </a:xfrm>
          <a:prstGeom prst="rect">
            <a:avLst/>
          </a:prstGeom>
          <a:noFill/>
          <a:ln/>
        </p:spPr>
        <p:txBody>
          <a:bodyPr wrap="square" lIns="0" tIns="0" rIns="0" bIns="0" rtlCol="0" anchor="t"/>
          <a:lstStyle/>
          <a:p>
            <a:pPr indent="0" marL="0">
              <a:buNone/>
            </a:pPr>
            <a:r>
              <a:rPr lang="en-US" sz="1150" dirty="0">
                <a:solidFill>
                  <a:srgbClr val="0F172A"/>
                </a:solidFill>
                <a:latin typeface="Calibri" pitchFamily="34" charset="0"/>
                <a:ea typeface="Calibri" pitchFamily="34" charset="-122"/>
                <a:cs typeface="Calibri" pitchFamily="34" charset="-120"/>
              </a:rPr>
              <a:t>Gần như ngang; S thêm trọng số mức nghiêm trọng, không làm dự đoán tốt hơn</a:t>
            </a:r>
            <a:endParaRPr lang="en-US" sz="11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Ngưỡng S từ 70 hiệu quả gấp 16 đến 34 lần ngẫu nhiên, quy tắc CSA chỉ khoảng 2 lần</a:t>
            </a:r>
            <a:endParaRPr lang="en-US" sz="1800" dirty="0"/>
          </a:p>
        </p:txBody>
      </p:sp>
      <p:sp>
        <p:nvSpPr>
          <p:cNvPr id="3" name="Shape 1"/>
          <p:cNvSpPr/>
          <p:nvPr/>
        </p:nvSpPr>
        <p:spPr>
          <a:xfrm>
            <a:off x="548640" y="960120"/>
            <a:ext cx="5486400" cy="5074920"/>
          </a:xfrm>
          <a:prstGeom prst="roundRect">
            <a:avLst>
              <a:gd name="adj" fmla="val 180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graphicFrame>
        <p:nvGraphicFramePr>
          <p:cNvPr id="4" name="Chart 0" descr=""/>
          <p:cNvGraphicFramePr/>
          <p:nvPr/>
        </p:nvGraphicFramePr>
        <p:xfrm>
          <a:off x="685800" y="1051560"/>
          <a:ext cx="5212080" cy="48463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309360" y="1097280"/>
            <a:ext cx="2331720" cy="502920"/>
          </a:xfrm>
          <a:prstGeom prst="rect">
            <a:avLst/>
          </a:prstGeom>
          <a:noFill/>
          <a:ln/>
        </p:spPr>
        <p:txBody>
          <a:bodyPr wrap="square" lIns="0" tIns="0" rIns="0" bIns="0" rtlCol="0" anchor="ctr"/>
          <a:lstStyle/>
          <a:p>
            <a:pPr indent="0" marL="0">
              <a:buNone/>
            </a:pPr>
            <a:r>
              <a:rPr lang="en-US" sz="2000" b="1" dirty="0">
                <a:solidFill>
                  <a:srgbClr val="C02034"/>
                </a:solidFill>
                <a:latin typeface="Calibri" pitchFamily="34" charset="0"/>
                <a:ea typeface="Calibri" pitchFamily="34" charset="-122"/>
                <a:cs typeface="Calibri" pitchFamily="34" charset="-120"/>
              </a:rPr>
              <a:t>0,78% đến 1,40%</a:t>
            </a:r>
            <a:endParaRPr lang="en-US" sz="2000" dirty="0"/>
          </a:p>
        </p:txBody>
      </p:sp>
      <p:sp>
        <p:nvSpPr>
          <p:cNvPr id="6" name="Text 3"/>
          <p:cNvSpPr txBox="1"/>
          <p:nvPr/>
        </p:nvSpPr>
        <p:spPr>
          <a:xfrm>
            <a:off x="6309360" y="1627632"/>
            <a:ext cx="2331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số lỗ hổng thuộc mức S từ 70 qua 11 ngày: khối lượng vá rất nhỏ</a:t>
            </a:r>
            <a:endParaRPr lang="en-US" sz="1100" dirty="0"/>
          </a:p>
        </p:txBody>
      </p:sp>
      <p:sp>
        <p:nvSpPr>
          <p:cNvPr id="7" name="Text 4"/>
          <p:cNvSpPr txBox="1"/>
          <p:nvPr/>
        </p:nvSpPr>
        <p:spPr>
          <a:xfrm>
            <a:off x="6309360" y="2560320"/>
            <a:ext cx="2331720" cy="502920"/>
          </a:xfrm>
          <a:prstGeom prst="rect">
            <a:avLst/>
          </a:prstGeom>
          <a:noFill/>
          <a:ln/>
        </p:spPr>
        <p:txBody>
          <a:bodyPr wrap="square" lIns="0" tIns="0" rIns="0" bIns="0" rtlCol="0" anchor="ctr"/>
          <a:lstStyle/>
          <a:p>
            <a:pPr indent="0" marL="0">
              <a:buNone/>
            </a:pPr>
            <a:r>
              <a:rPr lang="en-US" sz="2000" b="1" dirty="0">
                <a:solidFill>
                  <a:srgbClr val="C02034"/>
                </a:solidFill>
                <a:latin typeface="Calibri" pitchFamily="34" charset="0"/>
                <a:ea typeface="Calibri" pitchFamily="34" charset="-122"/>
                <a:cs typeface="Calibri" pitchFamily="34" charset="-120"/>
              </a:rPr>
              <a:t>47,1% đến 47,8%</a:t>
            </a:r>
            <a:endParaRPr lang="en-US" sz="2000" dirty="0"/>
          </a:p>
        </p:txBody>
      </p:sp>
      <p:sp>
        <p:nvSpPr>
          <p:cNvPr id="8" name="Text 5"/>
          <p:cNvSpPr txBox="1"/>
          <p:nvPr/>
        </p:nvSpPr>
        <p:spPr>
          <a:xfrm>
            <a:off x="6309360" y="3090672"/>
            <a:ext cx="2331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kết quả trung bình với mọi số mũ từ 0,2 đến 1,0: không phụ thuộc lựa chọn 0,3</a:t>
            </a:r>
            <a:endParaRPr lang="en-US" sz="1100" dirty="0"/>
          </a:p>
        </p:txBody>
      </p:sp>
      <p:sp>
        <p:nvSpPr>
          <p:cNvPr id="9" name="Shape 6"/>
          <p:cNvSpPr/>
          <p:nvPr/>
        </p:nvSpPr>
        <p:spPr>
          <a:xfrm>
            <a:off x="6309360" y="4206240"/>
            <a:ext cx="2331720" cy="1783080"/>
          </a:xfrm>
          <a:prstGeom prst="roundRect">
            <a:avLst>
              <a:gd name="adj" fmla="val 5128"/>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0" name="Text 7"/>
          <p:cNvSpPr txBox="1"/>
          <p:nvPr/>
        </p:nvSpPr>
        <p:spPr>
          <a:xfrm>
            <a:off x="6446520" y="4315968"/>
            <a:ext cx="2103120" cy="160020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Khối lượng mức 70 tăng từ 0,78% lên 1,40% khi EPSS đổi mô hình tháng 3/2025: ngưỡng cần hiệu chỉnh theo phiên bản EPSS.</a:t>
            </a:r>
            <a:endParaRPr lang="en-US" sz="110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 đưa 24 lỗ hổng KEV lên nhóm ưu tiên trước khi CISA xác nhận, CSA bỏ qua cả 24</a:t>
            </a:r>
            <a:endParaRPr lang="en-US" sz="1800" dirty="0"/>
          </a:p>
        </p:txBody>
      </p:sp>
      <p:sp>
        <p:nvSpPr>
          <p:cNvPr id="3" name="Shape 1"/>
          <p:cNvSpPr/>
          <p:nvPr/>
        </p:nvSpPr>
        <p:spPr>
          <a:xfrm>
            <a:off x="548640" y="1005840"/>
            <a:ext cx="2560320" cy="2240280"/>
          </a:xfrm>
          <a:prstGeom prst="roundRect">
            <a:avLst>
              <a:gd name="adj" fmla="val 408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4" name="Text 2"/>
          <p:cNvSpPr txBox="1"/>
          <p:nvPr/>
        </p:nvSpPr>
        <p:spPr>
          <a:xfrm>
            <a:off x="731520" y="1143000"/>
            <a:ext cx="2240280" cy="320040"/>
          </a:xfrm>
          <a:prstGeom prst="rect">
            <a:avLst/>
          </a:prstGeom>
          <a:noFill/>
          <a:ln/>
        </p:spPr>
        <p:txBody>
          <a:bodyPr wrap="square" lIns="0" tIns="0" rIns="0" bIns="0" rtlCol="0" anchor="t"/>
          <a:lstStyle/>
          <a:p>
            <a:pPr indent="0" marL="0">
              <a:buNone/>
            </a:pPr>
            <a:r>
              <a:rPr lang="en-US" sz="1350" b="1" dirty="0">
                <a:solidFill>
                  <a:srgbClr val="C02034"/>
                </a:solidFill>
                <a:latin typeface="Calibri" pitchFamily="34" charset="0"/>
                <a:ea typeface="Calibri" pitchFamily="34" charset="-122"/>
                <a:cs typeface="Calibri" pitchFamily="34" charset="-120"/>
              </a:rPr>
              <a:t>CVE-2021-26086</a:t>
            </a:r>
            <a:endParaRPr lang="en-US" sz="1350" dirty="0"/>
          </a:p>
        </p:txBody>
      </p:sp>
      <p:sp>
        <p:nvSpPr>
          <p:cNvPr id="5" name="Text 3"/>
          <p:cNvSpPr txBox="1"/>
          <p:nvPr/>
        </p:nvSpPr>
        <p:spPr>
          <a:xfrm>
            <a:off x="731520" y="1481328"/>
            <a:ext cx="2240280" cy="292608"/>
          </a:xfrm>
          <a:prstGeom prst="rect">
            <a:avLst/>
          </a:prstGeom>
          <a:noFill/>
          <a:ln/>
        </p:spPr>
        <p:txBody>
          <a:bodyPr wrap="square" lIns="0" tIns="0" rIns="0" bIns="0" rtlCol="0" anchor="t"/>
          <a:lstStyle/>
          <a:p>
            <a:pPr indent="0" marL="0">
              <a:buNone/>
            </a:pPr>
            <a:r>
              <a:rPr lang="en-US" sz="1150" b="1" dirty="0">
                <a:solidFill>
                  <a:srgbClr val="334155"/>
                </a:solidFill>
                <a:latin typeface="Calibri" pitchFamily="34" charset="0"/>
                <a:ea typeface="Calibri" pitchFamily="34" charset="-122"/>
                <a:cs typeface="Calibri" pitchFamily="34" charset="-120"/>
              </a:rPr>
              <a:t>Atlassian Jira, CVSS 5,3</a:t>
            </a:r>
            <a:endParaRPr lang="en-US" sz="1150" dirty="0"/>
          </a:p>
        </p:txBody>
      </p:sp>
      <p:sp>
        <p:nvSpPr>
          <p:cNvPr id="6" name="Text 4"/>
          <p:cNvSpPr txBox="1"/>
          <p:nvPr/>
        </p:nvSpPr>
        <p:spPr>
          <a:xfrm>
            <a:off x="731520" y="1828800"/>
            <a:ext cx="2240280" cy="132588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S khoảng 50 liên tục từ 02/2024, 8 tháng trước khi vào KEV (12/11/2024)</a:t>
            </a:r>
            <a:endParaRPr lang="en-US" sz="1300" dirty="0"/>
          </a:p>
        </p:txBody>
      </p:sp>
      <p:sp>
        <p:nvSpPr>
          <p:cNvPr id="7" name="Shape 5"/>
          <p:cNvSpPr/>
          <p:nvPr/>
        </p:nvSpPr>
        <p:spPr>
          <a:xfrm>
            <a:off x="3291840" y="1005840"/>
            <a:ext cx="2560320" cy="2240280"/>
          </a:xfrm>
          <a:prstGeom prst="roundRect">
            <a:avLst>
              <a:gd name="adj" fmla="val 408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8" name="Text 6"/>
          <p:cNvSpPr txBox="1"/>
          <p:nvPr/>
        </p:nvSpPr>
        <p:spPr>
          <a:xfrm>
            <a:off x="3474720" y="1143000"/>
            <a:ext cx="2240280" cy="320040"/>
          </a:xfrm>
          <a:prstGeom prst="rect">
            <a:avLst/>
          </a:prstGeom>
          <a:noFill/>
          <a:ln/>
        </p:spPr>
        <p:txBody>
          <a:bodyPr wrap="square" lIns="0" tIns="0" rIns="0" bIns="0" rtlCol="0" anchor="t"/>
          <a:lstStyle/>
          <a:p>
            <a:pPr indent="0" marL="0">
              <a:buNone/>
            </a:pPr>
            <a:r>
              <a:rPr lang="en-US" sz="1350" b="1" dirty="0">
                <a:solidFill>
                  <a:srgbClr val="C02034"/>
                </a:solidFill>
                <a:latin typeface="Calibri" pitchFamily="34" charset="0"/>
                <a:ea typeface="Calibri" pitchFamily="34" charset="-122"/>
                <a:cs typeface="Calibri" pitchFamily="34" charset="-120"/>
              </a:rPr>
              <a:t>CVE-2023-32315</a:t>
            </a:r>
            <a:endParaRPr lang="en-US" sz="1350" dirty="0"/>
          </a:p>
        </p:txBody>
      </p:sp>
      <p:sp>
        <p:nvSpPr>
          <p:cNvPr id="9" name="Text 7"/>
          <p:cNvSpPr txBox="1"/>
          <p:nvPr/>
        </p:nvSpPr>
        <p:spPr>
          <a:xfrm>
            <a:off x="3474720" y="1481328"/>
            <a:ext cx="2240280" cy="292608"/>
          </a:xfrm>
          <a:prstGeom prst="rect">
            <a:avLst/>
          </a:prstGeom>
          <a:noFill/>
          <a:ln/>
        </p:spPr>
        <p:txBody>
          <a:bodyPr wrap="square" lIns="0" tIns="0" rIns="0" bIns="0" rtlCol="0" anchor="t"/>
          <a:lstStyle/>
          <a:p>
            <a:pPr indent="0" marL="0">
              <a:buNone/>
            </a:pPr>
            <a:r>
              <a:rPr lang="en-US" sz="1150" b="1" dirty="0">
                <a:solidFill>
                  <a:srgbClr val="334155"/>
                </a:solidFill>
                <a:latin typeface="Calibri" pitchFamily="34" charset="0"/>
                <a:ea typeface="Calibri" pitchFamily="34" charset="-122"/>
                <a:cs typeface="Calibri" pitchFamily="34" charset="-120"/>
              </a:rPr>
              <a:t>Openfire, CVSS 7,5</a:t>
            </a:r>
            <a:endParaRPr lang="en-US" sz="1150" dirty="0"/>
          </a:p>
        </p:txBody>
      </p:sp>
      <p:sp>
        <p:nvSpPr>
          <p:cNvPr id="10" name="Text 8"/>
          <p:cNvSpPr txBox="1"/>
          <p:nvPr/>
        </p:nvSpPr>
        <p:spPr>
          <a:xfrm>
            <a:off x="3474720" y="1828800"/>
            <a:ext cx="2240280" cy="132588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S tăng 7, 34, 62 trong hai tháng sau công bố, gần 1 tháng trước khi vào KEV (24/08/2023)</a:t>
            </a:r>
            <a:endParaRPr lang="en-US" sz="1300" dirty="0"/>
          </a:p>
        </p:txBody>
      </p:sp>
      <p:sp>
        <p:nvSpPr>
          <p:cNvPr id="11" name="Shape 9"/>
          <p:cNvSpPr/>
          <p:nvPr/>
        </p:nvSpPr>
        <p:spPr>
          <a:xfrm>
            <a:off x="6035040" y="1005840"/>
            <a:ext cx="2560320" cy="2240280"/>
          </a:xfrm>
          <a:prstGeom prst="roundRect">
            <a:avLst>
              <a:gd name="adj" fmla="val 4082"/>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2" name="Text 10"/>
          <p:cNvSpPr txBox="1"/>
          <p:nvPr/>
        </p:nvSpPr>
        <p:spPr>
          <a:xfrm>
            <a:off x="6217920" y="1143000"/>
            <a:ext cx="2240280" cy="320040"/>
          </a:xfrm>
          <a:prstGeom prst="rect">
            <a:avLst/>
          </a:prstGeom>
          <a:noFill/>
          <a:ln/>
        </p:spPr>
        <p:txBody>
          <a:bodyPr wrap="square" lIns="0" tIns="0" rIns="0" bIns="0" rtlCol="0" anchor="t"/>
          <a:lstStyle/>
          <a:p>
            <a:pPr indent="0" marL="0">
              <a:buNone/>
            </a:pPr>
            <a:r>
              <a:rPr lang="en-US" sz="1350" b="1" dirty="0">
                <a:solidFill>
                  <a:srgbClr val="C02034"/>
                </a:solidFill>
                <a:latin typeface="Calibri" pitchFamily="34" charset="0"/>
                <a:ea typeface="Calibri" pitchFamily="34" charset="-122"/>
                <a:cs typeface="Calibri" pitchFamily="34" charset="-120"/>
              </a:rPr>
              <a:t>CVE-2015-5477</a:t>
            </a:r>
            <a:endParaRPr lang="en-US" sz="1350" dirty="0"/>
          </a:p>
        </p:txBody>
      </p:sp>
      <p:sp>
        <p:nvSpPr>
          <p:cNvPr id="13" name="Text 11"/>
          <p:cNvSpPr txBox="1"/>
          <p:nvPr/>
        </p:nvSpPr>
        <p:spPr>
          <a:xfrm>
            <a:off x="6217920" y="1481328"/>
            <a:ext cx="2240280" cy="292608"/>
          </a:xfrm>
          <a:prstGeom prst="rect">
            <a:avLst/>
          </a:prstGeom>
          <a:noFill/>
          <a:ln/>
        </p:spPr>
        <p:txBody>
          <a:bodyPr wrap="square" lIns="0" tIns="0" rIns="0" bIns="0" rtlCol="0" anchor="t"/>
          <a:lstStyle/>
          <a:p>
            <a:pPr indent="0" marL="0">
              <a:buNone/>
            </a:pPr>
            <a:r>
              <a:rPr lang="en-US" sz="1150" b="1" dirty="0">
                <a:solidFill>
                  <a:srgbClr val="334155"/>
                </a:solidFill>
                <a:latin typeface="Calibri" pitchFamily="34" charset="0"/>
                <a:ea typeface="Calibri" pitchFamily="34" charset="-122"/>
                <a:cs typeface="Calibri" pitchFamily="34" charset="-120"/>
              </a:rPr>
              <a:t>ISC BIND, CVSS 7,5</a:t>
            </a:r>
            <a:endParaRPr lang="en-US" sz="1150" dirty="0"/>
          </a:p>
        </p:txBody>
      </p:sp>
      <p:sp>
        <p:nvSpPr>
          <p:cNvPr id="14" name="Text 12"/>
          <p:cNvSpPr txBox="1"/>
          <p:nvPr/>
        </p:nvSpPr>
        <p:spPr>
          <a:xfrm>
            <a:off x="6217920" y="1828800"/>
            <a:ext cx="2240280" cy="132588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S khoảng 73 liên tục từ 02/2022; CISA xác nhận ngày 08/10/2026, tức 55 tháng sau</a:t>
            </a:r>
            <a:endParaRPr lang="en-US" sz="1300" dirty="0"/>
          </a:p>
        </p:txBody>
      </p:sp>
      <p:sp>
        <p:nvSpPr>
          <p:cNvPr id="15" name="Shape 13"/>
          <p:cNvSpPr/>
          <p:nvPr/>
        </p:nvSpPr>
        <p:spPr>
          <a:xfrm>
            <a:off x="548640" y="3474720"/>
            <a:ext cx="3931920" cy="2514600"/>
          </a:xfrm>
          <a:prstGeom prst="roundRect">
            <a:avLst>
              <a:gd name="adj" fmla="val 3636"/>
            </a:avLst>
          </a:prstGeom>
          <a:solidFill>
            <a:srgbClr val="FDECEE"/>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6" name="Text 14"/>
          <p:cNvSpPr txBox="1"/>
          <p:nvPr/>
        </p:nvSpPr>
        <p:spPr>
          <a:xfrm>
            <a:off x="777240" y="3703320"/>
            <a:ext cx="3520440" cy="502920"/>
          </a:xfrm>
          <a:prstGeom prst="rect">
            <a:avLst/>
          </a:prstGeom>
          <a:noFill/>
          <a:ln/>
        </p:spPr>
        <p:txBody>
          <a:bodyPr wrap="square" lIns="0" tIns="0" rIns="0" bIns="0" rtlCol="0" anchor="ctr"/>
          <a:lstStyle/>
          <a:p>
            <a:pPr indent="0" marL="0">
              <a:buNone/>
            </a:pPr>
            <a:r>
              <a:rPr lang="en-US" sz="2600" b="1" dirty="0">
                <a:solidFill>
                  <a:srgbClr val="C02034"/>
                </a:solidFill>
                <a:latin typeface="Calibri" pitchFamily="34" charset="0"/>
                <a:ea typeface="Calibri" pitchFamily="34" charset="-122"/>
                <a:cs typeface="Calibri" pitchFamily="34" charset="-120"/>
              </a:rPr>
              <a:t>24 / 156</a:t>
            </a:r>
            <a:endParaRPr lang="en-US" sz="2600" dirty="0"/>
          </a:p>
        </p:txBody>
      </p:sp>
      <p:sp>
        <p:nvSpPr>
          <p:cNvPr id="17" name="Text 15"/>
          <p:cNvSpPr txBox="1"/>
          <p:nvPr/>
        </p:nvSpPr>
        <p:spPr>
          <a:xfrm>
            <a:off x="777240" y="4233672"/>
            <a:ext cx="352044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KEV có CVSS dưới 8,0 và có EPSS đạt S từ 50 vào 30 ngày trước khi vào KEV (15,38%)</a:t>
            </a:r>
            <a:endParaRPr lang="en-US" sz="1100" dirty="0"/>
          </a:p>
        </p:txBody>
      </p:sp>
      <p:sp>
        <p:nvSpPr>
          <p:cNvPr id="18" name="Shape 16"/>
          <p:cNvSpPr/>
          <p:nvPr/>
        </p:nvSpPr>
        <p:spPr>
          <a:xfrm>
            <a:off x="4709160" y="3474720"/>
            <a:ext cx="3931920" cy="2514600"/>
          </a:xfrm>
          <a:prstGeom prst="roundRect">
            <a:avLst>
              <a:gd name="adj" fmla="val 3636"/>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9" name="Text 17"/>
          <p:cNvSpPr txBox="1"/>
          <p:nvPr/>
        </p:nvSpPr>
        <p:spPr>
          <a:xfrm>
            <a:off x="4892040" y="3639312"/>
            <a:ext cx="356616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ĐỌC ĐÚNG TÌNH HUỐNG</a:t>
            </a:r>
            <a:endParaRPr lang="en-US" sz="1000" dirty="0"/>
          </a:p>
        </p:txBody>
      </p:sp>
      <p:sp>
        <p:nvSpPr>
          <p:cNvPr id="20" name="Text 18"/>
          <p:cNvSpPr txBox="1"/>
          <p:nvPr/>
        </p:nvSpPr>
        <p:spPr>
          <a:xfrm>
            <a:off x="4892040" y="3977640"/>
            <a:ext cx="3566160" cy="1920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0F172A"/>
                </a:solidFill>
                <a:latin typeface="Calibri" pitchFamily="34" charset="0"/>
                <a:ea typeface="Calibri" pitchFamily="34" charset="-122"/>
                <a:cs typeface="Calibri" pitchFamily="34" charset="-120"/>
              </a:rPr>
              <a:t>Báo trước là trước khi CISA xác nhận, chưa chắc trước khi bị khai thác</a:t>
            </a:r>
            <a:endParaRPr lang="en-US" sz="1250" dirty="0"/>
          </a:p>
          <a:p>
            <a:pPr marL="177800" indent="-177800">
              <a:spcAft>
                <a:spcPts val="500"/>
              </a:spcAft>
              <a:buSzPct val="100000"/>
              <a:buChar char="•"/>
            </a:pPr>
            <a:r>
              <a:rPr lang="en-US" sz="1250" dirty="0">
                <a:solidFill>
                  <a:srgbClr val="0F172A"/>
                </a:solidFill>
                <a:latin typeface="Calibri" pitchFamily="34" charset="0"/>
                <a:ea typeface="Calibri" pitchFamily="34" charset="-122"/>
                <a:cs typeface="Calibri" pitchFamily="34" charset="-120"/>
              </a:rPr>
              <a:t>12 / 24 lần vượt ngưỡng trùng tháng EPSS đổi mô hình</a:t>
            </a:r>
            <a:endParaRPr lang="en-US" sz="1250" dirty="0"/>
          </a:p>
          <a:p>
            <a:pPr marL="177800" indent="-177800">
              <a:spcAft>
                <a:spcPts val="500"/>
              </a:spcAft>
              <a:buSzPct val="100000"/>
              <a:buChar char="•"/>
            </a:pPr>
            <a:r>
              <a:rPr lang="en-US" sz="1250" dirty="0">
                <a:solidFill>
                  <a:srgbClr val="0F172A"/>
                </a:solidFill>
                <a:latin typeface="Calibri" pitchFamily="34" charset="0"/>
                <a:ea typeface="Calibri" pitchFamily="34" charset="-122"/>
                <a:cs typeface="Calibri" pitchFamily="34" charset="-120"/>
              </a:rPr>
              <a:t>76,28% vẫn dưới 30 điểm trước khi vào KEV</a:t>
            </a:r>
            <a:endParaRPr lang="en-US" sz="12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Công thức chưa cảnh báo được lỗ hổng mới công bố, đúng nhóm CSA lo ngại nhất</a:t>
            </a:r>
            <a:endParaRPr lang="en-US" sz="1800" dirty="0"/>
          </a:p>
        </p:txBody>
      </p:sp>
      <p:sp>
        <p:nvSpPr>
          <p:cNvPr id="3" name="Shape 1"/>
          <p:cNvSpPr/>
          <p:nvPr/>
        </p:nvSpPr>
        <p:spPr>
          <a:xfrm>
            <a:off x="548640" y="1005840"/>
            <a:ext cx="4846320" cy="1325880"/>
          </a:xfrm>
          <a:prstGeom prst="roundRect">
            <a:avLst>
              <a:gd name="adj" fmla="val 689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4" name="Text 2"/>
          <p:cNvSpPr txBox="1"/>
          <p:nvPr/>
        </p:nvSpPr>
        <p:spPr>
          <a:xfrm>
            <a:off x="731520" y="1188720"/>
            <a:ext cx="1417320" cy="914400"/>
          </a:xfrm>
          <a:prstGeom prst="rect">
            <a:avLst/>
          </a:prstGeom>
          <a:noFill/>
          <a:ln/>
        </p:spPr>
        <p:txBody>
          <a:bodyPr wrap="square" lIns="0" tIns="0" rIns="0" bIns="0" rtlCol="0" anchor="ctr"/>
          <a:lstStyle/>
          <a:p>
            <a:pPr indent="0" marL="0">
              <a:buNone/>
            </a:pPr>
            <a:r>
              <a:rPr lang="en-US" sz="2400" b="1" dirty="0">
                <a:solidFill>
                  <a:srgbClr val="C02034"/>
                </a:solidFill>
                <a:latin typeface="Calibri" pitchFamily="34" charset="0"/>
                <a:ea typeface="Calibri" pitchFamily="34" charset="-122"/>
                <a:cs typeface="Calibri" pitchFamily="34" charset="-120"/>
              </a:rPr>
              <a:t>27,15%</a:t>
            </a:r>
            <a:endParaRPr lang="en-US" sz="2400" dirty="0"/>
          </a:p>
        </p:txBody>
      </p:sp>
      <p:sp>
        <p:nvSpPr>
          <p:cNvPr id="5" name="Text 3"/>
          <p:cNvSpPr txBox="1"/>
          <p:nvPr/>
        </p:nvSpPr>
        <p:spPr>
          <a:xfrm>
            <a:off x="2194560" y="1143000"/>
            <a:ext cx="3063240" cy="105156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lỗ hổng vào KEV từ 01/04/2023 chưa có EPSS trước khi vào KEV (227 / 836): zero-day, chỉ thành phần KEV xử lý được</a:t>
            </a:r>
            <a:endParaRPr lang="en-US" sz="1150" dirty="0"/>
          </a:p>
        </p:txBody>
      </p:sp>
      <p:sp>
        <p:nvSpPr>
          <p:cNvPr id="6" name="Shape 4"/>
          <p:cNvSpPr/>
          <p:nvPr/>
        </p:nvSpPr>
        <p:spPr>
          <a:xfrm>
            <a:off x="548640" y="2487168"/>
            <a:ext cx="4846320" cy="1325880"/>
          </a:xfrm>
          <a:prstGeom prst="roundRect">
            <a:avLst>
              <a:gd name="adj" fmla="val 689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7" name="Text 5"/>
          <p:cNvSpPr txBox="1"/>
          <p:nvPr/>
        </p:nvSpPr>
        <p:spPr>
          <a:xfrm>
            <a:off x="731520" y="2670048"/>
            <a:ext cx="1417320" cy="914400"/>
          </a:xfrm>
          <a:prstGeom prst="rect">
            <a:avLst/>
          </a:prstGeom>
          <a:noFill/>
          <a:ln/>
        </p:spPr>
        <p:txBody>
          <a:bodyPr wrap="square" lIns="0" tIns="0" rIns="0" bIns="0" rtlCol="0" anchor="ctr"/>
          <a:lstStyle/>
          <a:p>
            <a:pPr indent="0" marL="0">
              <a:buNone/>
            </a:pPr>
            <a:r>
              <a:rPr lang="en-US" sz="2400" b="1" dirty="0">
                <a:solidFill>
                  <a:srgbClr val="C02034"/>
                </a:solidFill>
                <a:latin typeface="Calibri" pitchFamily="34" charset="0"/>
                <a:ea typeface="Calibri" pitchFamily="34" charset="-122"/>
                <a:cs typeface="Calibri" pitchFamily="34" charset="-120"/>
              </a:rPr>
              <a:t>4,46%</a:t>
            </a:r>
            <a:endParaRPr lang="en-US" sz="2400" dirty="0"/>
          </a:p>
        </p:txBody>
      </p:sp>
      <p:sp>
        <p:nvSpPr>
          <p:cNvPr id="8" name="Text 6"/>
          <p:cNvSpPr txBox="1"/>
          <p:nvPr/>
        </p:nvSpPr>
        <p:spPr>
          <a:xfrm>
            <a:off x="2194560" y="2624328"/>
            <a:ext cx="3063240" cy="105156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lỗ hổng công bố tối đa 30 ngày trước khi vào KEV đạt S từ 70 một ngày trước đó (10 / 224)</a:t>
            </a:r>
            <a:endParaRPr lang="en-US" sz="1150" dirty="0"/>
          </a:p>
        </p:txBody>
      </p:sp>
      <p:sp>
        <p:nvSpPr>
          <p:cNvPr id="9" name="Shape 7"/>
          <p:cNvSpPr/>
          <p:nvPr/>
        </p:nvSpPr>
        <p:spPr>
          <a:xfrm>
            <a:off x="548640" y="3968496"/>
            <a:ext cx="4846320" cy="1325880"/>
          </a:xfrm>
          <a:prstGeom prst="roundRect">
            <a:avLst>
              <a:gd name="adj" fmla="val 6897"/>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0" name="Text 8"/>
          <p:cNvSpPr txBox="1"/>
          <p:nvPr/>
        </p:nvSpPr>
        <p:spPr>
          <a:xfrm>
            <a:off x="731520" y="4151376"/>
            <a:ext cx="1417320" cy="914400"/>
          </a:xfrm>
          <a:prstGeom prst="rect">
            <a:avLst/>
          </a:prstGeom>
          <a:noFill/>
          <a:ln/>
        </p:spPr>
        <p:txBody>
          <a:bodyPr wrap="square" lIns="0" tIns="0" rIns="0" bIns="0" rtlCol="0" anchor="ctr"/>
          <a:lstStyle/>
          <a:p>
            <a:pPr indent="0" marL="0">
              <a:buNone/>
            </a:pPr>
            <a:r>
              <a:rPr lang="en-US" sz="2400" b="1" dirty="0">
                <a:solidFill>
                  <a:srgbClr val="C02034"/>
                </a:solidFill>
                <a:latin typeface="Calibri" pitchFamily="34" charset="0"/>
                <a:ea typeface="Calibri" pitchFamily="34" charset="-122"/>
                <a:cs typeface="Calibri" pitchFamily="34" charset="-120"/>
              </a:rPr>
              <a:t>22,9</a:t>
            </a:r>
            <a:endParaRPr lang="en-US" sz="2400" dirty="0"/>
          </a:p>
        </p:txBody>
      </p:sp>
      <p:sp>
        <p:nvSpPr>
          <p:cNvPr id="11" name="Text 9"/>
          <p:cNvSpPr txBox="1"/>
          <p:nvPr/>
        </p:nvSpPr>
        <p:spPr>
          <a:xfrm>
            <a:off x="2194560" y="4105656"/>
            <a:ext cx="3063240" cy="1051560"/>
          </a:xfrm>
          <a:prstGeom prst="rect">
            <a:avLst/>
          </a:prstGeom>
          <a:noFill/>
          <a:ln/>
        </p:spPr>
        <p:txBody>
          <a:bodyPr wrap="square" lIns="0" tIns="0" rIns="0" bIns="0" rtlCol="0" anchor="ctr"/>
          <a:lstStyle/>
          <a:p>
            <a:pPr indent="0" marL="0">
              <a:buNone/>
            </a:pPr>
            <a:r>
              <a:rPr lang="en-US" sz="1150" dirty="0">
                <a:solidFill>
                  <a:srgbClr val="0F172A"/>
                </a:solidFill>
                <a:latin typeface="Calibri" pitchFamily="34" charset="0"/>
                <a:ea typeface="Calibri" pitchFamily="34" charset="-122"/>
                <a:cs typeface="Calibri" pitchFamily="34" charset="-120"/>
              </a:rPr>
              <a:t>điểm S cao nhất của CVE-2025-13956 khi CrowdSec ghi nhận bị khai thác: EPSS phản ứng chậm hơn dữ liệu tấn công trực tiếp</a:t>
            </a:r>
            <a:endParaRPr lang="en-US" sz="1150" dirty="0"/>
          </a:p>
        </p:txBody>
      </p:sp>
      <p:sp>
        <p:nvSpPr>
          <p:cNvPr id="12" name="Shape 10"/>
          <p:cNvSpPr/>
          <p:nvPr/>
        </p:nvSpPr>
        <p:spPr>
          <a:xfrm>
            <a:off x="5669280" y="1005840"/>
            <a:ext cx="2971800" cy="4288536"/>
          </a:xfrm>
          <a:prstGeom prst="roundRect">
            <a:avLst>
              <a:gd name="adj" fmla="val 3077"/>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3" name="Text 11"/>
          <p:cNvSpPr txBox="1"/>
          <p:nvPr/>
        </p:nvSpPr>
        <p:spPr>
          <a:xfrm>
            <a:off x="5852160" y="1170432"/>
            <a:ext cx="265176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CHƯA KIỂM CHỨNG ĐƯỢC</a:t>
            </a:r>
            <a:endParaRPr lang="en-US" sz="1000" dirty="0"/>
          </a:p>
        </p:txBody>
      </p:sp>
      <p:sp>
        <p:nvSpPr>
          <p:cNvPr id="14" name="Text 12"/>
          <p:cNvSpPr txBox="1"/>
          <p:nvPr/>
        </p:nvSpPr>
        <p:spPr>
          <a:xfrm>
            <a:off x="5852160" y="1508760"/>
            <a:ext cx="2651760" cy="3657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0F172A"/>
                </a:solidFill>
                <a:latin typeface="Calibri" pitchFamily="34" charset="0"/>
                <a:ea typeface="Calibri" pitchFamily="34" charset="-122"/>
                <a:cs typeface="Calibri" pitchFamily="34" charset="-120"/>
              </a:rPr>
              <a:t>AC và PE: cần danh mục tài sản của tổ chức</a:t>
            </a:r>
            <a:endParaRPr lang="en-US" sz="1200" dirty="0"/>
          </a:p>
          <a:p>
            <a:pPr marL="177800" indent="-177800">
              <a:spcAft>
                <a:spcPts val="500"/>
              </a:spcAft>
              <a:buSzPct val="100000"/>
              <a:buChar char="•"/>
            </a:pPr>
            <a:r>
              <a:rPr lang="en-US" sz="1200" dirty="0">
                <a:solidFill>
                  <a:srgbClr val="0F172A"/>
                </a:solidFill>
                <a:latin typeface="Calibri" pitchFamily="34" charset="0"/>
                <a:ea typeface="Calibri" pitchFamily="34" charset="-122"/>
                <a:cs typeface="Calibri" pitchFamily="34" charset="-120"/>
              </a:rPr>
              <a:t>EA: Vulnrichment chỉ phủ khoảng 45,8% số CVE theo ước tính của Securin</a:t>
            </a:r>
            <a:endParaRPr lang="en-US" sz="1200" dirty="0"/>
          </a:p>
          <a:p>
            <a:pPr marL="177800" indent="-177800">
              <a:spcAft>
                <a:spcPts val="500"/>
              </a:spcAft>
              <a:buSzPct val="100000"/>
              <a:buChar char="•"/>
            </a:pPr>
            <a:r>
              <a:rPr lang="en-US" sz="1200" dirty="0">
                <a:solidFill>
                  <a:srgbClr val="0F172A"/>
                </a:solidFill>
                <a:latin typeface="Calibri" pitchFamily="34" charset="0"/>
                <a:ea typeface="Calibri" pitchFamily="34" charset="-122"/>
                <a:cs typeface="Calibri" pitchFamily="34" charset="-120"/>
              </a:rPr>
              <a:t>So với EPSS dùng riêng: chưa tốt hơn</a:t>
            </a:r>
            <a:endParaRPr lang="en-US" sz="1200" dirty="0"/>
          </a:p>
          <a:p>
            <a:pPr marL="177800" indent="-177800">
              <a:spcAft>
                <a:spcPts val="500"/>
              </a:spcAft>
              <a:buSzPct val="100000"/>
              <a:buChar char="•"/>
            </a:pPr>
            <a:r>
              <a:rPr lang="en-US" sz="1200" dirty="0">
                <a:solidFill>
                  <a:srgbClr val="0F172A"/>
                </a:solidFill>
                <a:latin typeface="Calibri" pitchFamily="34" charset="0"/>
                <a:ea typeface="Calibri" pitchFamily="34" charset="-122"/>
                <a:cs typeface="Calibri" pitchFamily="34" charset="-120"/>
              </a:rPr>
              <a:t>Căn cứ KEV chậm và nghiêng về sản phẩm phổ biến tại Mỹ</a:t>
            </a:r>
            <a:endParaRPr lang="en-US" sz="1200" dirty="0"/>
          </a:p>
        </p:txBody>
      </p:sp>
      <p:sp>
        <p:nvSpPr>
          <p:cNvPr id="15" name="Text 13"/>
          <p:cNvSpPr txBox="1"/>
          <p:nvPr/>
        </p:nvSpPr>
        <p:spPr>
          <a:xfrm>
            <a:off x="548640" y="5486400"/>
            <a:ext cx="8092440" cy="502920"/>
          </a:xfrm>
          <a:prstGeom prst="rect">
            <a:avLst/>
          </a:prstGeom>
          <a:noFill/>
          <a:ln/>
        </p:spPr>
        <p:txBody>
          <a:bodyPr wrap="square" lIns="0" tIns="0" rIns="0" bIns="0" rtlCol="0" anchor="t"/>
          <a:lstStyle/>
          <a:p>
            <a:pPr indent="0" marL="0">
              <a:buNone/>
            </a:pPr>
            <a:r>
              <a:rPr lang="en-US" sz="1250" b="1" dirty="0">
                <a:solidFill>
                  <a:srgbClr val="334155"/>
                </a:solidFill>
                <a:latin typeface="Calibri" pitchFamily="34" charset="0"/>
                <a:ea typeface="Calibri" pitchFamily="34" charset="-122"/>
                <a:cs typeface="Calibri" pitchFamily="34" charset="-120"/>
              </a:rPr>
              <a:t>Với lỗ hổng mới, chính sách vẫn cần quy tắc KEV, cảnh báo nhà cung cấp và tình báo mối đe dọa.</a:t>
            </a:r>
            <a:endParaRPr lang="en-US" sz="12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Thay ngưỡng CVSS cố định bằng thang điểm S có hạn vá theo từng mức</a:t>
            </a:r>
            <a:endParaRPr lang="en-US" sz="1800" dirty="0"/>
          </a:p>
        </p:txBody>
      </p:sp>
      <p:sp>
        <p:nvSpPr>
          <p:cNvPr id="3" name="Shape 1"/>
          <p:cNvSpPr/>
          <p:nvPr/>
        </p:nvSpPr>
        <p:spPr>
          <a:xfrm>
            <a:off x="548640" y="1005840"/>
            <a:ext cx="5120640" cy="548640"/>
          </a:xfrm>
          <a:prstGeom prst="roundRect">
            <a:avLst>
              <a:gd name="adj" fmla="val 10000"/>
            </a:avLst>
          </a:prstGeom>
          <a:solidFill>
            <a:srgbClr val="C02034"/>
          </a:solidFill>
          <a:ln w="6350">
            <a:solidFill>
              <a:srgbClr val="E2E8F0"/>
            </a:solidFill>
            <a:prstDash val="solid"/>
          </a:ln>
        </p:spPr>
      </p:sp>
      <p:sp>
        <p:nvSpPr>
          <p:cNvPr id="4" name="Text 2"/>
          <p:cNvSpPr txBox="1"/>
          <p:nvPr/>
        </p:nvSpPr>
        <p:spPr>
          <a:xfrm>
            <a:off x="685800" y="1051560"/>
            <a:ext cx="1325880"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Khẩn cấp</a:t>
            </a:r>
            <a:endParaRPr lang="en-US" sz="1250" dirty="0"/>
          </a:p>
        </p:txBody>
      </p:sp>
      <p:sp>
        <p:nvSpPr>
          <p:cNvPr id="5" name="Text 3"/>
          <p:cNvSpPr txBox="1"/>
          <p:nvPr/>
        </p:nvSpPr>
        <p:spPr>
          <a:xfrm>
            <a:off x="2011680" y="1051560"/>
            <a:ext cx="2331720" cy="4572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KEV hoặc tự động hóa được, trên tài sản phơi ra Internet</a:t>
            </a:r>
            <a:endParaRPr lang="en-US" sz="1100" dirty="0"/>
          </a:p>
        </p:txBody>
      </p:sp>
      <p:sp>
        <p:nvSpPr>
          <p:cNvPr id="6" name="Text 4"/>
          <p:cNvSpPr txBox="1"/>
          <p:nvPr/>
        </p:nvSpPr>
        <p:spPr>
          <a:xfrm>
            <a:off x="4343400" y="1051560"/>
            <a:ext cx="1234440" cy="457200"/>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3 ngày</a:t>
            </a:r>
            <a:endParaRPr lang="en-US" sz="1250" dirty="0"/>
          </a:p>
        </p:txBody>
      </p:sp>
      <p:sp>
        <p:nvSpPr>
          <p:cNvPr id="7" name="Shape 5"/>
          <p:cNvSpPr/>
          <p:nvPr/>
        </p:nvSpPr>
        <p:spPr>
          <a:xfrm>
            <a:off x="548640" y="1645920"/>
            <a:ext cx="5120640" cy="548640"/>
          </a:xfrm>
          <a:prstGeom prst="roundRect">
            <a:avLst>
              <a:gd name="adj" fmla="val 10000"/>
            </a:avLst>
          </a:prstGeom>
          <a:solidFill>
            <a:srgbClr val="D9485B"/>
          </a:solidFill>
          <a:ln w="6350">
            <a:solidFill>
              <a:srgbClr val="E2E8F0"/>
            </a:solidFill>
            <a:prstDash val="solid"/>
          </a:ln>
        </p:spPr>
      </p:sp>
      <p:sp>
        <p:nvSpPr>
          <p:cNvPr id="8" name="Text 6"/>
          <p:cNvSpPr txBox="1"/>
          <p:nvPr/>
        </p:nvSpPr>
        <p:spPr>
          <a:xfrm>
            <a:off x="685800" y="1691640"/>
            <a:ext cx="1325880"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Nghiêm trọng</a:t>
            </a:r>
            <a:endParaRPr lang="en-US" sz="1250" dirty="0"/>
          </a:p>
        </p:txBody>
      </p:sp>
      <p:sp>
        <p:nvSpPr>
          <p:cNvPr id="9" name="Text 7"/>
          <p:cNvSpPr txBox="1"/>
          <p:nvPr/>
        </p:nvSpPr>
        <p:spPr>
          <a:xfrm>
            <a:off x="2011680" y="1691640"/>
            <a:ext cx="2331720" cy="4572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S từ 70 đến 100</a:t>
            </a:r>
            <a:endParaRPr lang="en-US" sz="1100" dirty="0"/>
          </a:p>
        </p:txBody>
      </p:sp>
      <p:sp>
        <p:nvSpPr>
          <p:cNvPr id="10" name="Text 8"/>
          <p:cNvSpPr txBox="1"/>
          <p:nvPr/>
        </p:nvSpPr>
        <p:spPr>
          <a:xfrm>
            <a:off x="4343400" y="1691640"/>
            <a:ext cx="1234440" cy="457200"/>
          </a:xfrm>
          <a:prstGeom prst="rect">
            <a:avLst/>
          </a:prstGeom>
          <a:noFill/>
          <a:ln/>
        </p:spPr>
        <p:txBody>
          <a:bodyPr wrap="square" lIns="0" tIns="0" rIns="0" bIns="0" rtlCol="0" anchor="ctr"/>
          <a:lstStyle/>
          <a:p>
            <a:pPr algn="r" indent="0" marL="0">
              <a:buNone/>
            </a:pPr>
            <a:r>
              <a:rPr lang="en-US" sz="1250" b="1" dirty="0">
                <a:solidFill>
                  <a:srgbClr val="FFFFFF"/>
                </a:solidFill>
                <a:latin typeface="Calibri" pitchFamily="34" charset="0"/>
                <a:ea typeface="Calibri" pitchFamily="34" charset="-122"/>
                <a:cs typeface="Calibri" pitchFamily="34" charset="-120"/>
              </a:rPr>
              <a:t>7 ngày</a:t>
            </a:r>
            <a:endParaRPr lang="en-US" sz="1250" dirty="0"/>
          </a:p>
        </p:txBody>
      </p:sp>
      <p:sp>
        <p:nvSpPr>
          <p:cNvPr id="11" name="Shape 9"/>
          <p:cNvSpPr/>
          <p:nvPr/>
        </p:nvSpPr>
        <p:spPr>
          <a:xfrm>
            <a:off x="548640" y="2286000"/>
            <a:ext cx="5120640" cy="548640"/>
          </a:xfrm>
          <a:prstGeom prst="roundRect">
            <a:avLst>
              <a:gd name="adj" fmla="val 10000"/>
            </a:avLst>
          </a:prstGeom>
          <a:solidFill>
            <a:srgbClr val="EE8C99"/>
          </a:solidFill>
          <a:ln w="6350">
            <a:solidFill>
              <a:srgbClr val="E2E8F0"/>
            </a:solidFill>
            <a:prstDash val="solid"/>
          </a:ln>
        </p:spPr>
      </p:sp>
      <p:sp>
        <p:nvSpPr>
          <p:cNvPr id="12" name="Text 10"/>
          <p:cNvSpPr txBox="1"/>
          <p:nvPr/>
        </p:nvSpPr>
        <p:spPr>
          <a:xfrm>
            <a:off x="685800" y="2331720"/>
            <a:ext cx="1325880"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Cao</a:t>
            </a:r>
            <a:endParaRPr lang="en-US" sz="1250" dirty="0"/>
          </a:p>
        </p:txBody>
      </p:sp>
      <p:sp>
        <p:nvSpPr>
          <p:cNvPr id="13" name="Text 11"/>
          <p:cNvSpPr txBox="1"/>
          <p:nvPr/>
        </p:nvSpPr>
        <p:spPr>
          <a:xfrm>
            <a:off x="2011680" y="2331720"/>
            <a:ext cx="2331720" cy="457200"/>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 từ 50 đến 69</a:t>
            </a:r>
            <a:endParaRPr lang="en-US" sz="1100" dirty="0"/>
          </a:p>
        </p:txBody>
      </p:sp>
      <p:sp>
        <p:nvSpPr>
          <p:cNvPr id="14" name="Text 12"/>
          <p:cNvSpPr txBox="1"/>
          <p:nvPr/>
        </p:nvSpPr>
        <p:spPr>
          <a:xfrm>
            <a:off x="4343400" y="2331720"/>
            <a:ext cx="1234440" cy="457200"/>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14 ngày</a:t>
            </a:r>
            <a:endParaRPr lang="en-US" sz="1250" dirty="0"/>
          </a:p>
        </p:txBody>
      </p:sp>
      <p:sp>
        <p:nvSpPr>
          <p:cNvPr id="15" name="Shape 13"/>
          <p:cNvSpPr/>
          <p:nvPr/>
        </p:nvSpPr>
        <p:spPr>
          <a:xfrm>
            <a:off x="548640" y="2926080"/>
            <a:ext cx="5120640" cy="548640"/>
          </a:xfrm>
          <a:prstGeom prst="roundRect">
            <a:avLst>
              <a:gd name="adj" fmla="val 10000"/>
            </a:avLst>
          </a:prstGeom>
          <a:solidFill>
            <a:srgbClr val="F6C3CA"/>
          </a:solidFill>
          <a:ln w="6350">
            <a:solidFill>
              <a:srgbClr val="E2E8F0"/>
            </a:solidFill>
            <a:prstDash val="solid"/>
          </a:ln>
        </p:spPr>
      </p:sp>
      <p:sp>
        <p:nvSpPr>
          <p:cNvPr id="16" name="Text 14"/>
          <p:cNvSpPr txBox="1"/>
          <p:nvPr/>
        </p:nvSpPr>
        <p:spPr>
          <a:xfrm>
            <a:off x="685800" y="2971800"/>
            <a:ext cx="1325880"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Trung bình</a:t>
            </a:r>
            <a:endParaRPr lang="en-US" sz="1250" dirty="0"/>
          </a:p>
        </p:txBody>
      </p:sp>
      <p:sp>
        <p:nvSpPr>
          <p:cNvPr id="17" name="Text 15"/>
          <p:cNvSpPr txBox="1"/>
          <p:nvPr/>
        </p:nvSpPr>
        <p:spPr>
          <a:xfrm>
            <a:off x="2011680" y="2971800"/>
            <a:ext cx="2331720" cy="457200"/>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 từ 30 đến 49</a:t>
            </a:r>
            <a:endParaRPr lang="en-US" sz="1100" dirty="0"/>
          </a:p>
        </p:txBody>
      </p:sp>
      <p:sp>
        <p:nvSpPr>
          <p:cNvPr id="18" name="Text 16"/>
          <p:cNvSpPr txBox="1"/>
          <p:nvPr/>
        </p:nvSpPr>
        <p:spPr>
          <a:xfrm>
            <a:off x="4343400" y="2971800"/>
            <a:ext cx="1234440" cy="457200"/>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30 ngày</a:t>
            </a:r>
            <a:endParaRPr lang="en-US" sz="1250" dirty="0"/>
          </a:p>
        </p:txBody>
      </p:sp>
      <p:sp>
        <p:nvSpPr>
          <p:cNvPr id="19" name="Shape 17"/>
          <p:cNvSpPr/>
          <p:nvPr/>
        </p:nvSpPr>
        <p:spPr>
          <a:xfrm>
            <a:off x="548640" y="3566160"/>
            <a:ext cx="5120640" cy="548640"/>
          </a:xfrm>
          <a:prstGeom prst="roundRect">
            <a:avLst>
              <a:gd name="adj" fmla="val 10000"/>
            </a:avLst>
          </a:prstGeom>
          <a:solidFill>
            <a:srgbClr val="FBE3E6"/>
          </a:solidFill>
          <a:ln w="6350">
            <a:solidFill>
              <a:srgbClr val="E2E8F0"/>
            </a:solidFill>
            <a:prstDash val="solid"/>
          </a:ln>
        </p:spPr>
      </p:sp>
      <p:sp>
        <p:nvSpPr>
          <p:cNvPr id="20" name="Text 18"/>
          <p:cNvSpPr txBox="1"/>
          <p:nvPr/>
        </p:nvSpPr>
        <p:spPr>
          <a:xfrm>
            <a:off x="685800" y="3611880"/>
            <a:ext cx="1325880"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Thấp</a:t>
            </a:r>
            <a:endParaRPr lang="en-US" sz="1250" dirty="0"/>
          </a:p>
        </p:txBody>
      </p:sp>
      <p:sp>
        <p:nvSpPr>
          <p:cNvPr id="21" name="Text 19"/>
          <p:cNvSpPr txBox="1"/>
          <p:nvPr/>
        </p:nvSpPr>
        <p:spPr>
          <a:xfrm>
            <a:off x="2011680" y="3611880"/>
            <a:ext cx="2331720" cy="457200"/>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 từ 10 đến 29</a:t>
            </a:r>
            <a:endParaRPr lang="en-US" sz="1100" dirty="0"/>
          </a:p>
        </p:txBody>
      </p:sp>
      <p:sp>
        <p:nvSpPr>
          <p:cNvPr id="22" name="Text 20"/>
          <p:cNvSpPr txBox="1"/>
          <p:nvPr/>
        </p:nvSpPr>
        <p:spPr>
          <a:xfrm>
            <a:off x="4343400" y="3611880"/>
            <a:ext cx="1234440" cy="457200"/>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60 ngày</a:t>
            </a:r>
            <a:endParaRPr lang="en-US" sz="1250" dirty="0"/>
          </a:p>
        </p:txBody>
      </p:sp>
      <p:sp>
        <p:nvSpPr>
          <p:cNvPr id="23" name="Shape 21"/>
          <p:cNvSpPr/>
          <p:nvPr/>
        </p:nvSpPr>
        <p:spPr>
          <a:xfrm>
            <a:off x="548640" y="4206240"/>
            <a:ext cx="5120640" cy="548640"/>
          </a:xfrm>
          <a:prstGeom prst="roundRect">
            <a:avLst>
              <a:gd name="adj" fmla="val 10000"/>
            </a:avLst>
          </a:prstGeom>
          <a:solidFill>
            <a:srgbClr val="F8FAFC"/>
          </a:solidFill>
          <a:ln w="6350">
            <a:solidFill>
              <a:srgbClr val="E2E8F0"/>
            </a:solidFill>
            <a:prstDash val="solid"/>
          </a:ln>
        </p:spPr>
      </p:sp>
      <p:sp>
        <p:nvSpPr>
          <p:cNvPr id="24" name="Text 22"/>
          <p:cNvSpPr txBox="1"/>
          <p:nvPr/>
        </p:nvSpPr>
        <p:spPr>
          <a:xfrm>
            <a:off x="685800" y="4251960"/>
            <a:ext cx="1325880"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Rất thấp</a:t>
            </a:r>
            <a:endParaRPr lang="en-US" sz="1250" dirty="0"/>
          </a:p>
        </p:txBody>
      </p:sp>
      <p:sp>
        <p:nvSpPr>
          <p:cNvPr id="25" name="Text 23"/>
          <p:cNvSpPr txBox="1"/>
          <p:nvPr/>
        </p:nvSpPr>
        <p:spPr>
          <a:xfrm>
            <a:off x="2011680" y="4251960"/>
            <a:ext cx="2331720" cy="457200"/>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 từ 0 đến 9</a:t>
            </a:r>
            <a:endParaRPr lang="en-US" sz="1100" dirty="0"/>
          </a:p>
        </p:txBody>
      </p:sp>
      <p:sp>
        <p:nvSpPr>
          <p:cNvPr id="26" name="Text 24"/>
          <p:cNvSpPr txBox="1"/>
          <p:nvPr/>
        </p:nvSpPr>
        <p:spPr>
          <a:xfrm>
            <a:off x="4343400" y="4251960"/>
            <a:ext cx="1234440" cy="457200"/>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Lần nâng cấp kế tiếp</a:t>
            </a:r>
            <a:endParaRPr lang="en-US" sz="1250" dirty="0"/>
          </a:p>
        </p:txBody>
      </p:sp>
      <p:sp>
        <p:nvSpPr>
          <p:cNvPr id="27" name="Text 25"/>
          <p:cNvSpPr txBox="1"/>
          <p:nvPr/>
        </p:nvSpPr>
        <p:spPr>
          <a:xfrm>
            <a:off x="548640" y="4937760"/>
            <a:ext cx="5120640" cy="59436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KEV trên tài sản nội bộ: 14 ngày, hoặc 3 ngày kèm điều tra nếu tự động hóa được và chiếm toàn quyền (theo BOD 26-04)</a:t>
            </a:r>
            <a:endParaRPr lang="en-US" sz="1100" dirty="0"/>
          </a:p>
        </p:txBody>
      </p:sp>
      <p:sp>
        <p:nvSpPr>
          <p:cNvPr id="28" name="Shape 26"/>
          <p:cNvSpPr/>
          <p:nvPr/>
        </p:nvSpPr>
        <p:spPr>
          <a:xfrm>
            <a:off x="5943600" y="1005840"/>
            <a:ext cx="2697480" cy="4526280"/>
          </a:xfrm>
          <a:prstGeom prst="roundRect">
            <a:avLst>
              <a:gd name="adj" fmla="val 3390"/>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9" name="Text 27"/>
          <p:cNvSpPr txBox="1"/>
          <p:nvPr/>
        </p:nvSpPr>
        <p:spPr>
          <a:xfrm>
            <a:off x="6126480" y="1170432"/>
            <a:ext cx="237744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CĂN CỨ SỐ LIỆU</a:t>
            </a:r>
            <a:endParaRPr lang="en-US" sz="1000" dirty="0"/>
          </a:p>
        </p:txBody>
      </p:sp>
      <p:sp>
        <p:nvSpPr>
          <p:cNvPr id="30" name="Text 28"/>
          <p:cNvSpPr txBox="1"/>
          <p:nvPr/>
        </p:nvSpPr>
        <p:spPr>
          <a:xfrm>
            <a:off x="6126480" y="1463040"/>
            <a:ext cx="23317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1,34%</a:t>
            </a:r>
            <a:endParaRPr lang="en-US" sz="3000" dirty="0"/>
          </a:p>
        </p:txBody>
      </p:sp>
      <p:sp>
        <p:nvSpPr>
          <p:cNvPr id="31" name="Text 29"/>
          <p:cNvSpPr txBox="1"/>
          <p:nvPr/>
        </p:nvSpPr>
        <p:spPr>
          <a:xfrm>
            <a:off x="6126480" y="1993392"/>
            <a:ext cx="2331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khối lượng vá của mức Nghiêm trọng</a:t>
            </a:r>
            <a:endParaRPr lang="en-US" sz="1100" dirty="0"/>
          </a:p>
        </p:txBody>
      </p:sp>
      <p:sp>
        <p:nvSpPr>
          <p:cNvPr id="32" name="Text 30"/>
          <p:cNvSpPr txBox="1"/>
          <p:nvPr/>
        </p:nvSpPr>
        <p:spPr>
          <a:xfrm>
            <a:off x="6126480" y="2697480"/>
            <a:ext cx="2331720" cy="502920"/>
          </a:xfrm>
          <a:prstGeom prst="rect">
            <a:avLst/>
          </a:prstGeom>
          <a:noFill/>
          <a:ln/>
        </p:spPr>
        <p:txBody>
          <a:bodyPr wrap="square" lIns="0" tIns="0" rIns="0" bIns="0" rtlCol="0" anchor="ctr"/>
          <a:lstStyle/>
          <a:p>
            <a:pPr indent="0" marL="0">
              <a:buNone/>
            </a:pPr>
            <a:r>
              <a:rPr lang="en-US" sz="3000" b="1" dirty="0">
                <a:solidFill>
                  <a:srgbClr val="C02034"/>
                </a:solidFill>
                <a:latin typeface="Calibri" pitchFamily="34" charset="0"/>
                <a:ea typeface="Calibri" pitchFamily="34" charset="-122"/>
                <a:cs typeface="Calibri" pitchFamily="34" charset="-120"/>
              </a:rPr>
              <a:t>37,36%</a:t>
            </a:r>
            <a:endParaRPr lang="en-US" sz="3000" dirty="0"/>
          </a:p>
        </p:txBody>
      </p:sp>
      <p:sp>
        <p:nvSpPr>
          <p:cNvPr id="33" name="Text 31"/>
          <p:cNvSpPr txBox="1"/>
          <p:nvPr/>
        </p:nvSpPr>
        <p:spPr>
          <a:xfrm>
            <a:off x="6126480" y="3227832"/>
            <a:ext cx="2331720" cy="64008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lỗ hổng sắp bị khai thác nằm trong mức này</a:t>
            </a:r>
            <a:endParaRPr lang="en-US" sz="1100" dirty="0"/>
          </a:p>
        </p:txBody>
      </p:sp>
      <p:sp>
        <p:nvSpPr>
          <p:cNvPr id="34" name="Text 32"/>
          <p:cNvSpPr txBox="1"/>
          <p:nvPr/>
        </p:nvSpPr>
        <p:spPr>
          <a:xfrm>
            <a:off x="6126480" y="4023360"/>
            <a:ext cx="2377440" cy="1371600"/>
          </a:xfrm>
          <a:prstGeom prst="rect">
            <a:avLst/>
          </a:prstGeom>
          <a:noFill/>
          <a:ln/>
        </p:spPr>
        <p:txBody>
          <a:bodyPr wrap="square" lIns="0" tIns="0" rIns="0" bIns="0" rtlCol="0" anchor="t"/>
          <a:lstStyle/>
          <a:p>
            <a:pPr indent="0" marL="0">
              <a:buNone/>
            </a:pPr>
            <a:r>
              <a:rPr lang="en-US" sz="1100" dirty="0">
                <a:solidFill>
                  <a:srgbClr val="334155"/>
                </a:solidFill>
                <a:latin typeface="Calibri" pitchFamily="34" charset="0"/>
                <a:ea typeface="Calibri" pitchFamily="34" charset="-122"/>
                <a:cs typeface="Calibri" pitchFamily="34" charset="-120"/>
              </a:rPr>
              <a:t>Hạn 7, 14, 30, 60 ngày là đề xuất của nhóm, chưa kiểm chứng; hạn 3, 14, 60 ngày lấy theo BOD 26-04.</a:t>
            </a:r>
            <a:endParaRPr lang="en-US" sz="1100" dirty="0"/>
          </a:p>
        </p:txBody>
      </p:sp>
      <p:sp>
        <p:nvSpPr>
          <p:cNvPr id="35" name="Text 33"/>
          <p:cNvSpPr txBox="1"/>
          <p:nvPr/>
        </p:nvSpPr>
        <p:spPr>
          <a:xfrm>
            <a:off x="548640" y="5577840"/>
            <a:ext cx="8092440" cy="411480"/>
          </a:xfrm>
          <a:prstGeom prst="rect">
            <a:avLst/>
          </a:prstGeom>
          <a:noFill/>
          <a:ln/>
        </p:spPr>
        <p:txBody>
          <a:bodyPr wrap="square" lIns="0" tIns="0" rIns="0" bIns="0" rtlCol="0" anchor="t"/>
          <a:lstStyle/>
          <a:p>
            <a:pPr indent="0" marL="0">
              <a:buNone/>
            </a:pPr>
            <a:r>
              <a:rPr lang="en-US" sz="1250" b="1" dirty="0">
                <a:solidFill>
                  <a:srgbClr val="C02034"/>
                </a:solidFill>
                <a:latin typeface="Calibri" pitchFamily="34" charset="0"/>
                <a:ea typeface="Calibri" pitchFamily="34" charset="-122"/>
                <a:cs typeface="Calibri" pitchFamily="34" charset="-120"/>
              </a:rPr>
              <a:t>Xét điều kiện khẩn cấp trước, xét điểm sau.</a:t>
            </a:r>
            <a:endParaRPr lang="en-US" sz="12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
            <a:ext cx="809244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Kết hợp bằng chứng khai thác và mức nghiêm trọng vá đúng chỗ hơn CVSS</a:t>
            </a:r>
            <a:endParaRPr lang="en-US" sz="1800" dirty="0"/>
          </a:p>
        </p:txBody>
      </p:sp>
      <p:sp>
        <p:nvSpPr>
          <p:cNvPr id="3" name="Text 1"/>
          <p:cNvSpPr txBox="1"/>
          <p:nvPr/>
        </p:nvSpPr>
        <p:spPr>
          <a:xfrm>
            <a:off x="548640" y="960120"/>
            <a:ext cx="39319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KẾT LUẬN</a:t>
            </a:r>
            <a:endParaRPr lang="en-US" sz="1000" dirty="0"/>
          </a:p>
        </p:txBody>
      </p:sp>
      <p:sp>
        <p:nvSpPr>
          <p:cNvPr id="4" name="Shape 2"/>
          <p:cNvSpPr/>
          <p:nvPr/>
        </p:nvSpPr>
        <p:spPr>
          <a:xfrm>
            <a:off x="548640" y="1280160"/>
            <a:ext cx="3931920" cy="1280160"/>
          </a:xfrm>
          <a:prstGeom prst="roundRect">
            <a:avLst>
              <a:gd name="adj" fmla="val 7143"/>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5" name="Shape 3"/>
          <p:cNvSpPr/>
          <p:nvPr/>
        </p:nvSpPr>
        <p:spPr>
          <a:xfrm>
            <a:off x="731520" y="1463040"/>
            <a:ext cx="384048" cy="384048"/>
          </a:xfrm>
          <a:prstGeom prst="ellipse">
            <a:avLst/>
          </a:prstGeom>
          <a:solidFill>
            <a:srgbClr val="C02034"/>
          </a:solidFill>
          <a:ln w="12700">
            <a:solidFill>
              <a:srgbClr val="C02034"/>
            </a:solidFill>
            <a:prstDash val="solid"/>
          </a:ln>
        </p:spPr>
      </p:sp>
      <p:sp>
        <p:nvSpPr>
          <p:cNvPr id="6" name="Text 4"/>
          <p:cNvSpPr/>
          <p:nvPr/>
        </p:nvSpPr>
        <p:spPr>
          <a:xfrm>
            <a:off x="731520" y="1463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80160" y="1417320"/>
            <a:ext cx="306324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Ngưỡng CVSS 8,0 vá thừa 98,69% và bỏ sót 21% đến 44% lỗ hổng bị khai thác, tùy cách đọc</a:t>
            </a:r>
            <a:endParaRPr lang="en-US" sz="1250" dirty="0"/>
          </a:p>
        </p:txBody>
      </p:sp>
      <p:sp>
        <p:nvSpPr>
          <p:cNvPr id="8" name="Shape 6"/>
          <p:cNvSpPr/>
          <p:nvPr/>
        </p:nvSpPr>
        <p:spPr>
          <a:xfrm>
            <a:off x="548640" y="2743200"/>
            <a:ext cx="3931920" cy="1280160"/>
          </a:xfrm>
          <a:prstGeom prst="roundRect">
            <a:avLst>
              <a:gd name="adj" fmla="val 7143"/>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9" name="Shape 7"/>
          <p:cNvSpPr/>
          <p:nvPr/>
        </p:nvSpPr>
        <p:spPr>
          <a:xfrm>
            <a:off x="731520" y="2926080"/>
            <a:ext cx="384048" cy="384048"/>
          </a:xfrm>
          <a:prstGeom prst="ellipse">
            <a:avLst/>
          </a:prstGeom>
          <a:solidFill>
            <a:srgbClr val="C02034"/>
          </a:solidFill>
          <a:ln w="12700">
            <a:solidFill>
              <a:srgbClr val="C02034"/>
            </a:solidFill>
            <a:prstDash val="solid"/>
          </a:ln>
        </p:spPr>
      </p:sp>
      <p:sp>
        <p:nvSpPr>
          <p:cNvPr id="10" name="Text 8"/>
          <p:cNvSpPr/>
          <p:nvPr/>
        </p:nvSpPr>
        <p:spPr>
          <a:xfrm>
            <a:off x="731520" y="2926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280160" y="2880360"/>
            <a:ext cx="306324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Công thức S hiệu quả hơn rõ rệt khi nguồn lực vá có hạn, ổn định qua 11 ngày đánh giá</a:t>
            </a:r>
            <a:endParaRPr lang="en-US" sz="1250" dirty="0"/>
          </a:p>
        </p:txBody>
      </p:sp>
      <p:sp>
        <p:nvSpPr>
          <p:cNvPr id="12" name="Shape 10"/>
          <p:cNvSpPr/>
          <p:nvPr/>
        </p:nvSpPr>
        <p:spPr>
          <a:xfrm>
            <a:off x="548640" y="4206240"/>
            <a:ext cx="3931920" cy="1280160"/>
          </a:xfrm>
          <a:prstGeom prst="roundRect">
            <a:avLst>
              <a:gd name="adj" fmla="val 7143"/>
            </a:avLst>
          </a:prstGeom>
          <a:solidFill>
            <a:srgbClr val="FFFFFF"/>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3" name="Shape 11"/>
          <p:cNvSpPr/>
          <p:nvPr/>
        </p:nvSpPr>
        <p:spPr>
          <a:xfrm>
            <a:off x="731520" y="4389120"/>
            <a:ext cx="384048" cy="384048"/>
          </a:xfrm>
          <a:prstGeom prst="ellipse">
            <a:avLst/>
          </a:prstGeom>
          <a:solidFill>
            <a:srgbClr val="C02034"/>
          </a:solidFill>
          <a:ln w="12700">
            <a:solidFill>
              <a:srgbClr val="C02034"/>
            </a:solidFill>
            <a:prstDash val="solid"/>
          </a:ln>
        </p:spPr>
      </p:sp>
      <p:sp>
        <p:nvSpPr>
          <p:cNvPr id="14" name="Text 12"/>
          <p:cNvSpPr/>
          <p:nvPr/>
        </p:nvSpPr>
        <p:spPr>
          <a:xfrm>
            <a:off x="731520" y="4389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280160" y="4343400"/>
            <a:ext cx="306324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Kết luận cùng hướng với BOD 26-04: bỏ CVSS làm căn cứ chính, đặt bằng chứng khai thác vào trung tâm</a:t>
            </a:r>
            <a:endParaRPr lang="en-US" sz="1250" dirty="0"/>
          </a:p>
        </p:txBody>
      </p:sp>
      <p:sp>
        <p:nvSpPr>
          <p:cNvPr id="16" name="Text 14"/>
          <p:cNvSpPr txBox="1"/>
          <p:nvPr/>
        </p:nvSpPr>
        <p:spPr>
          <a:xfrm>
            <a:off x="4709160" y="960120"/>
            <a:ext cx="3931920" cy="237744"/>
          </a:xfrm>
          <a:prstGeom prst="rect">
            <a:avLst/>
          </a:prstGeom>
          <a:noFill/>
          <a:ln/>
        </p:spPr>
        <p:txBody>
          <a:bodyPr wrap="square" lIns="0" tIns="0" rIns="0" bIns="0" rtlCol="0" anchor="ctr"/>
          <a:lstStyle/>
          <a:p>
            <a:pPr indent="0" marL="0">
              <a:buNone/>
            </a:pPr>
            <a:r>
              <a:rPr lang="en-US" sz="1000" b="1" spc="100" kern="0" dirty="0">
                <a:solidFill>
                  <a:srgbClr val="64748B"/>
                </a:solidFill>
                <a:latin typeface="Calibri" pitchFamily="34" charset="0"/>
                <a:ea typeface="Calibri" pitchFamily="34" charset="-122"/>
                <a:cs typeface="Calibri" pitchFamily="34" charset="-120"/>
              </a:rPr>
              <a:t>HƯỚNG PHÁT TRIỂN</a:t>
            </a:r>
            <a:endParaRPr lang="en-US" sz="1000" dirty="0"/>
          </a:p>
        </p:txBody>
      </p:sp>
      <p:sp>
        <p:nvSpPr>
          <p:cNvPr id="17" name="Shape 15"/>
          <p:cNvSpPr/>
          <p:nvPr/>
        </p:nvSpPr>
        <p:spPr>
          <a:xfrm>
            <a:off x="4709160" y="1280160"/>
            <a:ext cx="3931920" cy="1280160"/>
          </a:xfrm>
          <a:prstGeom prst="roundRect">
            <a:avLst>
              <a:gd name="adj" fmla="val 7143"/>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18" name="Shape 16"/>
          <p:cNvSpPr/>
          <p:nvPr/>
        </p:nvSpPr>
        <p:spPr>
          <a:xfrm>
            <a:off x="4892040" y="1664208"/>
            <a:ext cx="502920" cy="502920"/>
          </a:xfrm>
          <a:prstGeom prst="ellipse">
            <a:avLst/>
          </a:prstGeom>
          <a:solidFill>
            <a:srgbClr val="FFFFFF"/>
          </a:solidFill>
          <a:ln w="12700">
            <a:solidFill>
              <a:srgbClr val="FFFFFF"/>
            </a:solidFill>
            <a:prstDash val="solid"/>
          </a:ln>
        </p:spPr>
      </p:sp>
      <p:pic>
        <p:nvPicPr>
          <p:cNvPr id="19" name="Image 0" descr="preencoded.png">    </p:cNvPr>
          <p:cNvPicPr>
            <a:picLocks noChangeAspect="1"/>
          </p:cNvPicPr>
          <p:nvPr/>
        </p:nvPicPr>
        <p:blipFill>
          <a:blip r:embed="rId1"/>
          <a:stretch>
            <a:fillRect/>
          </a:stretch>
        </p:blipFill>
        <p:spPr>
          <a:xfrm>
            <a:off x="5002682" y="1774850"/>
            <a:ext cx="281635" cy="281635"/>
          </a:xfrm>
          <a:prstGeom prst="rect">
            <a:avLst/>
          </a:prstGeom>
        </p:spPr>
      </p:pic>
      <p:sp>
        <p:nvSpPr>
          <p:cNvPr id="20" name="Text 17"/>
          <p:cNvSpPr txBox="1"/>
          <p:nvPr/>
        </p:nvSpPr>
        <p:spPr>
          <a:xfrm>
            <a:off x="5577840" y="1417320"/>
            <a:ext cx="292608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Kiểm chứng biến EA bằng dữ liệu Vulnrichment, xử lý rò rỉ dữ liệu tương lai</a:t>
            </a:r>
            <a:endParaRPr lang="en-US" sz="1250" dirty="0"/>
          </a:p>
        </p:txBody>
      </p:sp>
      <p:sp>
        <p:nvSpPr>
          <p:cNvPr id="21" name="Shape 18"/>
          <p:cNvSpPr/>
          <p:nvPr/>
        </p:nvSpPr>
        <p:spPr>
          <a:xfrm>
            <a:off x="4709160" y="2743200"/>
            <a:ext cx="3931920" cy="1280160"/>
          </a:xfrm>
          <a:prstGeom prst="roundRect">
            <a:avLst>
              <a:gd name="adj" fmla="val 7143"/>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2" name="Shape 19"/>
          <p:cNvSpPr/>
          <p:nvPr/>
        </p:nvSpPr>
        <p:spPr>
          <a:xfrm>
            <a:off x="4892040" y="3127248"/>
            <a:ext cx="502920" cy="502920"/>
          </a:xfrm>
          <a:prstGeom prst="ellipse">
            <a:avLst/>
          </a:prstGeom>
          <a:solidFill>
            <a:srgbClr val="FFFFFF"/>
          </a:solidFill>
          <a:ln w="12700">
            <a:solidFill>
              <a:srgbClr val="FFFFFF"/>
            </a:solidFill>
            <a:prstDash val="solid"/>
          </a:ln>
        </p:spPr>
      </p:sp>
      <p:pic>
        <p:nvPicPr>
          <p:cNvPr id="23" name="Image 1" descr="preencoded.png">    </p:cNvPr>
          <p:cNvPicPr>
            <a:picLocks noChangeAspect="1"/>
          </p:cNvPicPr>
          <p:nvPr/>
        </p:nvPicPr>
        <p:blipFill>
          <a:blip r:embed="rId2"/>
          <a:stretch>
            <a:fillRect/>
          </a:stretch>
        </p:blipFill>
        <p:spPr>
          <a:xfrm>
            <a:off x="5002682" y="3237890"/>
            <a:ext cx="281635" cy="281635"/>
          </a:xfrm>
          <a:prstGeom prst="rect">
            <a:avLst/>
          </a:prstGeom>
        </p:spPr>
      </p:pic>
      <p:sp>
        <p:nvSpPr>
          <p:cNvPr id="24" name="Text 20"/>
          <p:cNvSpPr txBox="1"/>
          <p:nvPr/>
        </p:nvSpPr>
        <p:spPr>
          <a:xfrm>
            <a:off x="5577840" y="2880360"/>
            <a:ext cx="292608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Kiểm chứng PE và AC trên dữ liệu tài sản của một tổ chức thực</a:t>
            </a:r>
            <a:endParaRPr lang="en-US" sz="1250" dirty="0"/>
          </a:p>
        </p:txBody>
      </p:sp>
      <p:sp>
        <p:nvSpPr>
          <p:cNvPr id="25" name="Shape 21"/>
          <p:cNvSpPr/>
          <p:nvPr/>
        </p:nvSpPr>
        <p:spPr>
          <a:xfrm>
            <a:off x="4709160" y="4206240"/>
            <a:ext cx="3931920" cy="1280160"/>
          </a:xfrm>
          <a:prstGeom prst="roundRect">
            <a:avLst>
              <a:gd name="adj" fmla="val 7143"/>
            </a:avLst>
          </a:prstGeom>
          <a:solidFill>
            <a:srgbClr val="F1F5F9"/>
          </a:solidFill>
          <a:ln w="9525">
            <a:solidFill>
              <a:srgbClr val="E2E8F0"/>
            </a:solidFill>
            <a:prstDash val="solid"/>
          </a:ln>
          <a:effectLst>
            <a:outerShdw sx="100000" sy="100000" kx="0" ky="0" algn="bl" rotWithShape="0" blurRad="76200" dist="25400" dir="5400000">
              <a:srgbClr val="0F172A">
                <a:alpha val="8000"/>
              </a:srgbClr>
            </a:outerShdw>
          </a:effectLst>
        </p:spPr>
      </p:sp>
      <p:sp>
        <p:nvSpPr>
          <p:cNvPr id="26" name="Shape 22"/>
          <p:cNvSpPr/>
          <p:nvPr/>
        </p:nvSpPr>
        <p:spPr>
          <a:xfrm>
            <a:off x="4892040" y="4590288"/>
            <a:ext cx="502920" cy="502920"/>
          </a:xfrm>
          <a:prstGeom prst="ellipse">
            <a:avLst/>
          </a:prstGeom>
          <a:solidFill>
            <a:srgbClr val="FFFFFF"/>
          </a:solidFill>
          <a:ln w="12700">
            <a:solidFill>
              <a:srgbClr val="FFFFFF"/>
            </a:solidFill>
            <a:prstDash val="solid"/>
          </a:ln>
        </p:spPr>
      </p:sp>
      <p:pic>
        <p:nvPicPr>
          <p:cNvPr id="27" name="Image 2" descr="preencoded.png">    </p:cNvPr>
          <p:cNvPicPr>
            <a:picLocks noChangeAspect="1"/>
          </p:cNvPicPr>
          <p:nvPr/>
        </p:nvPicPr>
        <p:blipFill>
          <a:blip r:embed="rId3"/>
          <a:stretch>
            <a:fillRect/>
          </a:stretch>
        </p:blipFill>
        <p:spPr>
          <a:xfrm>
            <a:off x="5002682" y="4700930"/>
            <a:ext cx="281635" cy="281635"/>
          </a:xfrm>
          <a:prstGeom prst="rect">
            <a:avLst/>
          </a:prstGeom>
        </p:spPr>
      </p:pic>
      <p:sp>
        <p:nvSpPr>
          <p:cNvPr id="28" name="Text 23"/>
          <p:cNvSpPr txBox="1"/>
          <p:nvPr/>
        </p:nvSpPr>
        <p:spPr>
          <a:xfrm>
            <a:off x="5577840" y="4343400"/>
            <a:ext cx="2926080" cy="1005840"/>
          </a:xfrm>
          <a:prstGeom prst="rect">
            <a:avLst/>
          </a:prstGeom>
          <a:noFill/>
          <a:ln/>
        </p:spPr>
        <p:txBody>
          <a:bodyPr wrap="square" lIns="0" tIns="0" rIns="0" bIns="0" rtlCol="0" anchor="ctr"/>
          <a:lstStyle/>
          <a:p>
            <a:pPr indent="0" marL="0">
              <a:buNone/>
            </a:pPr>
            <a:r>
              <a:rPr lang="en-US" sz="1250" dirty="0">
                <a:solidFill>
                  <a:srgbClr val="0F172A"/>
                </a:solidFill>
                <a:latin typeface="Calibri" pitchFamily="34" charset="0"/>
                <a:ea typeface="Calibri" pitchFamily="34" charset="-122"/>
                <a:cs typeface="Calibri" pitchFamily="34" charset="-120"/>
              </a:rPr>
              <a:t>Thêm tín hiệu sớm cho lỗ hổng mới: PoC, cảnh báo nhà cung cấp, dữ liệu tấn công trực tiếp</a:t>
            </a:r>
            <a:endParaRPr lang="en-US" sz="1250" dirty="0"/>
          </a:p>
        </p:txBody>
      </p:sp>
      <p:sp>
        <p:nvSpPr>
          <p:cNvPr id="25" name="Slide Number Placeholder 0"/>
          <p:cNvSpPr>
            <a:spLocks noGrp="1"/>
          </p:cNvSpPr>
          <p:nvPr>
            <p:ph type="sldNum" sz="quarter" idx="4294967295"/>
          </p:nvPr>
        </p:nvSpPr>
        <p:spPr>
          <a:xfrm>
            <a:off x="8229600" y="649224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78808" y="3017520"/>
            <a:ext cx="4197096" cy="813816"/>
          </a:xfrm>
          <a:prstGeom prst="rect">
            <a:avLst/>
          </a:prstGeom>
          <a:noFill/>
          <a:ln/>
        </p:spPr>
        <p:txBody>
          <a:bodyPr wrap="square" lIns="0" tIns="0" rIns="0" bIns="0" rtlCol="0" anchor="ctr"/>
          <a:lstStyle/>
          <a:p>
            <a:pPr algn="ctr" indent="0" marL="0">
              <a:buNone/>
            </a:pPr>
            <a:r>
              <a:rPr lang="en-US" sz="4800" b="1" dirty="0">
                <a:solidFill>
                  <a:srgbClr val="C00000"/>
                </a:solidFill>
                <a:latin typeface="Calibri" pitchFamily="34" charset="0"/>
                <a:ea typeface="Calibri" pitchFamily="34" charset="-122"/>
                <a:cs typeface="Calibri" pitchFamily="34" charset="-120"/>
              </a:rPr>
              <a:t>THANK YOU !</a:t>
            </a:r>
            <a:endParaRPr lang="en-US" sz="4800" dirty="0"/>
          </a:p>
        </p:txBody>
      </p:sp>
      <p:sp>
        <p:nvSpPr>
          <p:cNvPr id="3" name="Text 1"/>
          <p:cNvSpPr txBox="1"/>
          <p:nvPr/>
        </p:nvSpPr>
        <p:spPr>
          <a:xfrm>
            <a:off x="4178808" y="3886200"/>
            <a:ext cx="4197096" cy="320040"/>
          </a:xfrm>
          <a:prstGeom prst="rect">
            <a:avLst/>
          </a:prstGeom>
          <a:noFill/>
          <a:ln/>
        </p:spPr>
        <p:txBody>
          <a:bodyPr wrap="square" lIns="0" tIns="0" rIns="0" bIns="0" rtlCol="0" anchor="ctr"/>
          <a:lstStyle/>
          <a:p>
            <a:pPr algn="ctr" indent="0" marL="0">
              <a:buNone/>
            </a:pPr>
            <a:r>
              <a:rPr lang="en-US" sz="1300" dirty="0">
                <a:solidFill>
                  <a:srgbClr val="64748B"/>
                </a:solidFill>
                <a:latin typeface="Calibri" pitchFamily="34" charset="0"/>
                <a:ea typeface="Calibri" pitchFamily="34" charset="-122"/>
                <a:cs typeface="Calibri" pitchFamily="34" charset="-120"/>
              </a:rPr>
              <a:t>Nhóm 14, Chính sách và Quản trị an ninh mạng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Kiểm chứng ngưỡng CVSS 8,0 của CSA và công thức ưu tiên vá lỗ hổng</dc:title>
  <dc:subject>PptxGenJS Presentation</dc:subject>
  <dc:creator>Nhóm 14</dc:creator>
  <cp:lastModifiedBy>Nhóm 14</cp:lastModifiedBy>
  <cp:revision>1</cp:revision>
  <dcterms:created xsi:type="dcterms:W3CDTF">2026-10-15T19:12:36Z</dcterms:created>
  <dcterms:modified xsi:type="dcterms:W3CDTF">2026-10-15T19:12:37Z</dcterms:modified>
</cp:coreProperties>
</file>